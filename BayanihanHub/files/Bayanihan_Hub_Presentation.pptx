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62" r:id="rId4"/>
    <p:sldId id="263" r:id="rId5"/>
    <p:sldId id="264" r:id="rId6"/>
    <p:sldId id="267" r:id="rId7"/>
    <p:sldId id="268" r:id="rId8"/>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2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36"/>
        <p:guide pos="287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Oval 1"/>
          <p:cNvSpPr/>
          <p:nvPr/>
        </p:nvSpPr>
        <p:spPr>
          <a:xfrm>
            <a:off x="-457200" y="-457200"/>
            <a:ext cx="2743200" cy="274320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457200"/>
            <a:ext cx="2743200" cy="2743200"/>
          </a:xfrm>
          <a:prstGeom prst="ellipse">
            <a:avLst/>
          </a:prstGeom>
          <a:solidFill>
            <a:srgbClr val="14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58400" y="5029200"/>
            <a:ext cx="2743200" cy="2743200"/>
          </a:xfrm>
          <a:prstGeom prst="ellipse">
            <a:avLst/>
          </a:prstGeom>
          <a:solidFill>
            <a:srgbClr val="1A2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52755"/>
            <a:ext cx="10332720" cy="1097280"/>
          </a:xfrm>
          <a:prstGeom prst="rect">
            <a:avLst/>
          </a:prstGeom>
          <a:noFill/>
        </p:spPr>
        <p:txBody>
          <a:bodyPr wrap="square">
            <a:spAutoFit/>
          </a:bodyPr>
          <a:lstStyle/>
          <a:p>
            <a:pPr algn="ctr">
              <a:defRPr sz="5200" b="1">
                <a:solidFill>
                  <a:srgbClr val="FFFFFF"/>
                </a:solidFill>
                <a:latin typeface="Segoe UI" panose="020B0502040204020203"/>
              </a:defRPr>
            </a:pPr>
            <a:r>
              <a:t>🤝 Bayanihan Hub</a:t>
            </a:r>
          </a:p>
        </p:txBody>
      </p:sp>
      <p:grpSp>
        <p:nvGrpSpPr>
          <p:cNvPr id="5" name="Group 4"/>
          <p:cNvGrpSpPr/>
          <p:nvPr/>
        </p:nvGrpSpPr>
        <p:grpSpPr>
          <a:xfrm>
            <a:off x="3587115" y="1550035"/>
            <a:ext cx="5683250" cy="548640"/>
            <a:chOff x="5261" y="5508"/>
            <a:chExt cx="8950" cy="864"/>
          </a:xfrm>
        </p:grpSpPr>
        <p:sp>
          <p:nvSpPr>
            <p:cNvPr id="10" name="Rounded Rectangle 9"/>
            <p:cNvSpPr/>
            <p:nvPr/>
          </p:nvSpPr>
          <p:spPr>
            <a:xfrm>
              <a:off x="5649" y="5508"/>
              <a:ext cx="8176" cy="864"/>
            </a:xfrm>
            <a:prstGeom prst="roundRect">
              <a:avLst/>
            </a:prstGeom>
            <a:solidFill>
              <a:srgbClr val="1E3050"/>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1" name="TextBox 10"/>
            <p:cNvSpPr txBox="1"/>
            <p:nvPr/>
          </p:nvSpPr>
          <p:spPr>
            <a:xfrm>
              <a:off x="5261" y="5687"/>
              <a:ext cx="8951" cy="507"/>
            </a:xfrm>
            <a:prstGeom prst="rect">
              <a:avLst/>
            </a:prstGeom>
            <a:noFill/>
          </p:spPr>
          <p:txBody>
            <a:bodyPr wrap="square">
              <a:spAutoFit/>
            </a:bodyPr>
            <a:lstStyle/>
            <a:p>
              <a:pPr algn="ctr">
                <a:defRPr sz="1500" b="1">
                  <a:solidFill>
                    <a:srgbClr val="FBBF24"/>
                  </a:solidFill>
                  <a:latin typeface="Segoe UI" panose="020B0502040204020203"/>
                </a:defRPr>
              </a:pPr>
              <a:r>
                <a:t>🏷️  Project Theme: Equal</a:t>
              </a:r>
              <a:r>
                <a:rPr lang="en-US"/>
                <a:t>izing an Unbalanced Society</a:t>
              </a:r>
              <a:endParaRPr lang="en-US"/>
            </a:p>
          </p:txBody>
        </p:sp>
      </p:grpSp>
      <p:grpSp>
        <p:nvGrpSpPr>
          <p:cNvPr id="8" name="Group 7"/>
          <p:cNvGrpSpPr/>
          <p:nvPr/>
        </p:nvGrpSpPr>
        <p:grpSpPr>
          <a:xfrm>
            <a:off x="4371340" y="2414905"/>
            <a:ext cx="4114800" cy="1433830"/>
            <a:chOff x="6884" y="4009"/>
            <a:chExt cx="6480" cy="2258"/>
          </a:xfrm>
        </p:grpSpPr>
        <p:sp>
          <p:nvSpPr>
            <p:cNvPr id="6" name="TextBox 9"/>
            <p:cNvSpPr txBox="1"/>
            <p:nvPr/>
          </p:nvSpPr>
          <p:spPr>
            <a:xfrm>
              <a:off x="6884" y="4484"/>
              <a:ext cx="6480" cy="459"/>
            </a:xfrm>
            <a:prstGeom prst="rect">
              <a:avLst/>
            </a:prstGeom>
            <a:noFill/>
          </p:spPr>
          <p:txBody>
            <a:bodyPr wrap="square">
              <a:spAutoFit/>
            </a:bodyPr>
            <a:lstStyle/>
            <a:p>
              <a:pPr algn="ctr">
                <a:defRPr sz="2000" b="1">
                  <a:solidFill>
                    <a:srgbClr val="FFFFFF"/>
                  </a:solidFill>
                  <a:latin typeface="Segoe UI" panose="020B0502040204020203"/>
                </a:defRPr>
              </a:pPr>
              <a:r>
                <a:rPr lang="en-US" sz="1300"/>
                <a:t>Jehosue Biscarra</a:t>
              </a:r>
              <a:endParaRPr lang="en-US" sz="1300"/>
            </a:p>
          </p:txBody>
        </p:sp>
        <p:sp>
          <p:nvSpPr>
            <p:cNvPr id="15" name="TextBox 14"/>
            <p:cNvSpPr txBox="1"/>
            <p:nvPr/>
          </p:nvSpPr>
          <p:spPr>
            <a:xfrm>
              <a:off x="8325" y="4959"/>
              <a:ext cx="3600" cy="459"/>
            </a:xfrm>
            <a:prstGeom prst="rect">
              <a:avLst/>
            </a:prstGeom>
            <a:noFill/>
          </p:spPr>
          <p:txBody>
            <a:bodyPr wrap="square">
              <a:spAutoFit/>
            </a:bodyPr>
            <a:lstStyle/>
            <a:p>
              <a:pPr algn="ctr">
                <a:defRPr sz="1300" b="1">
                  <a:solidFill>
                    <a:srgbClr val="FFFFFF"/>
                  </a:solidFill>
                  <a:latin typeface="Segoe UI" panose="020B0502040204020203"/>
                </a:defRPr>
              </a:pPr>
              <a:r>
                <a:rPr lang="en-US"/>
                <a:t>Christopher Buen</a:t>
              </a:r>
              <a:endParaRPr lang="en-US"/>
            </a:p>
          </p:txBody>
        </p:sp>
        <p:sp>
          <p:nvSpPr>
            <p:cNvPr id="20" name="TextBox 19"/>
            <p:cNvSpPr txBox="1"/>
            <p:nvPr/>
          </p:nvSpPr>
          <p:spPr>
            <a:xfrm>
              <a:off x="8325" y="5809"/>
              <a:ext cx="3600" cy="459"/>
            </a:xfrm>
            <a:prstGeom prst="rect">
              <a:avLst/>
            </a:prstGeom>
            <a:noFill/>
          </p:spPr>
          <p:txBody>
            <a:bodyPr wrap="square">
              <a:spAutoFit/>
            </a:bodyPr>
            <a:lstStyle/>
            <a:p>
              <a:pPr algn="ctr">
                <a:defRPr sz="1300" b="1">
                  <a:solidFill>
                    <a:srgbClr val="FFFFFF"/>
                  </a:solidFill>
                  <a:latin typeface="Segoe UI" panose="020B0502040204020203"/>
                </a:defRPr>
              </a:pPr>
              <a:r>
                <a:rPr lang="en-US"/>
                <a:t>Laurice Mae Ancheta</a:t>
              </a:r>
              <a:endParaRPr lang="en-US"/>
            </a:p>
          </p:txBody>
        </p:sp>
        <p:sp>
          <p:nvSpPr>
            <p:cNvPr id="25" name="TextBox 24"/>
            <p:cNvSpPr txBox="1"/>
            <p:nvPr/>
          </p:nvSpPr>
          <p:spPr>
            <a:xfrm>
              <a:off x="8325" y="5350"/>
              <a:ext cx="3600" cy="459"/>
            </a:xfrm>
            <a:prstGeom prst="rect">
              <a:avLst/>
            </a:prstGeom>
            <a:noFill/>
          </p:spPr>
          <p:txBody>
            <a:bodyPr wrap="square">
              <a:spAutoFit/>
            </a:bodyPr>
            <a:lstStyle/>
            <a:p>
              <a:pPr algn="ctr">
                <a:defRPr sz="1300" b="1">
                  <a:solidFill>
                    <a:srgbClr val="FFFFFF"/>
                  </a:solidFill>
                  <a:latin typeface="Segoe UI" panose="020B0502040204020203"/>
                </a:defRPr>
              </a:pPr>
              <a:r>
                <a:rPr lang="en-US"/>
                <a:t>Leah Joyce Caoile</a:t>
              </a:r>
              <a:endParaRPr lang="en-US"/>
            </a:p>
          </p:txBody>
        </p:sp>
        <p:sp>
          <p:nvSpPr>
            <p:cNvPr id="30" name="TextBox 29"/>
            <p:cNvSpPr txBox="1"/>
            <p:nvPr/>
          </p:nvSpPr>
          <p:spPr>
            <a:xfrm>
              <a:off x="8325" y="4009"/>
              <a:ext cx="3600" cy="459"/>
            </a:xfrm>
            <a:prstGeom prst="rect">
              <a:avLst/>
            </a:prstGeom>
            <a:noFill/>
          </p:spPr>
          <p:txBody>
            <a:bodyPr wrap="square">
              <a:spAutoFit/>
            </a:bodyPr>
            <a:lstStyle/>
            <a:p>
              <a:pPr algn="ctr">
                <a:defRPr sz="1300" b="1">
                  <a:solidFill>
                    <a:srgbClr val="FFFFFF"/>
                  </a:solidFill>
                  <a:latin typeface="Segoe UI" panose="020B0502040204020203"/>
                </a:defRPr>
              </a:pPr>
              <a:r>
                <a:rPr lang="en-US"/>
                <a:t>Trisha Dacumos</a:t>
              </a:r>
              <a:endParaRPr 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Oval 1"/>
          <p:cNvSpPr/>
          <p:nvPr/>
        </p:nvSpPr>
        <p:spPr>
          <a:xfrm>
            <a:off x="-457200" y="-457200"/>
            <a:ext cx="2743200" cy="274320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457200"/>
            <a:ext cx="2743200" cy="2743200"/>
          </a:xfrm>
          <a:prstGeom prst="ellipse">
            <a:avLst/>
          </a:prstGeom>
          <a:solidFill>
            <a:srgbClr val="14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58400" y="5029200"/>
            <a:ext cx="2743200" cy="2743200"/>
          </a:xfrm>
          <a:prstGeom prst="ellipse">
            <a:avLst/>
          </a:prstGeom>
          <a:solidFill>
            <a:srgbClr val="1A2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52755"/>
            <a:ext cx="10332720" cy="891540"/>
          </a:xfrm>
          <a:prstGeom prst="rect">
            <a:avLst/>
          </a:prstGeom>
          <a:noFill/>
        </p:spPr>
        <p:txBody>
          <a:bodyPr wrap="square">
            <a:spAutoFit/>
          </a:bodyPr>
          <a:lstStyle/>
          <a:p>
            <a:pPr algn="ctr">
              <a:defRPr sz="5200" b="1">
                <a:solidFill>
                  <a:srgbClr val="FFFFFF"/>
                </a:solidFill>
                <a:latin typeface="Segoe UI" panose="020B0502040204020203"/>
              </a:defRPr>
            </a:pPr>
            <a:r>
              <a:rPr lang="en-US"/>
              <a:t>Introduction</a:t>
            </a:r>
            <a:endParaRPr lang="en-US"/>
          </a:p>
        </p:txBody>
      </p:sp>
      <p:sp>
        <p:nvSpPr>
          <p:cNvPr id="10" name="Rounded Rectangle 9"/>
          <p:cNvSpPr/>
          <p:nvPr/>
        </p:nvSpPr>
        <p:spPr>
          <a:xfrm>
            <a:off x="1894205" y="1446530"/>
            <a:ext cx="8225790" cy="4854575"/>
          </a:xfrm>
          <a:prstGeom prst="roundRect">
            <a:avLst/>
          </a:prstGeom>
          <a:solidFill>
            <a:srgbClr val="1E3050"/>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2600" b="1"/>
              <a:t>A Bayanihan Hub is a community platform where people can donate items, request assistance, and exchange goods with one another. The project aims to address the issue of social inequality by promoting a culture of sharing and mutual support. Through this platform, individuals will have free and equal access to essential resources regardless of their financial status. By encouraging community participation the project helps reduce waste, support those in need, and provide a more inclusive and balanced society.</a:t>
            </a:r>
            <a:endParaRPr lang="en-US" altLang="en-US" sz="26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Oval 1"/>
          <p:cNvSpPr/>
          <p:nvPr/>
        </p:nvSpPr>
        <p:spPr>
          <a:xfrm>
            <a:off x="-457200" y="-457200"/>
            <a:ext cx="2743200" cy="274320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457200"/>
            <a:ext cx="2743200" cy="2743200"/>
          </a:xfrm>
          <a:prstGeom prst="ellipse">
            <a:avLst/>
          </a:prstGeom>
          <a:solidFill>
            <a:srgbClr val="14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58400" y="5029200"/>
            <a:ext cx="2743200" cy="2743200"/>
          </a:xfrm>
          <a:prstGeom prst="ellipse">
            <a:avLst/>
          </a:prstGeom>
          <a:solidFill>
            <a:srgbClr val="1A2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5260"/>
            <a:ext cx="10332720" cy="891540"/>
          </a:xfrm>
          <a:prstGeom prst="rect">
            <a:avLst/>
          </a:prstGeom>
          <a:noFill/>
        </p:spPr>
        <p:txBody>
          <a:bodyPr wrap="square">
            <a:spAutoFit/>
          </a:bodyPr>
          <a:lstStyle/>
          <a:p>
            <a:pPr algn="ctr">
              <a:defRPr sz="5200" b="1">
                <a:solidFill>
                  <a:srgbClr val="FFFFFF"/>
                </a:solidFill>
                <a:latin typeface="Segoe UI" panose="020B0502040204020203"/>
              </a:defRPr>
            </a:pPr>
            <a:r>
              <a:rPr lang="en-US"/>
              <a:t>Methodology</a:t>
            </a:r>
            <a:endParaRPr lang="en-US"/>
          </a:p>
        </p:txBody>
      </p:sp>
      <p:sp>
        <p:nvSpPr>
          <p:cNvPr id="10" name="Rounded Rectangle 9"/>
          <p:cNvSpPr/>
          <p:nvPr/>
        </p:nvSpPr>
        <p:spPr>
          <a:xfrm>
            <a:off x="751205" y="1078230"/>
            <a:ext cx="10923905" cy="5672455"/>
          </a:xfrm>
          <a:prstGeom prst="roundRect">
            <a:avLst/>
          </a:prstGeom>
          <a:solidFill>
            <a:srgbClr val="1E3050"/>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en-US" sz="2600" b="1"/>
          </a:p>
        </p:txBody>
      </p:sp>
      <p:sp>
        <p:nvSpPr>
          <p:cNvPr id="6" name="Text Box 5"/>
          <p:cNvSpPr txBox="1"/>
          <p:nvPr/>
        </p:nvSpPr>
        <p:spPr>
          <a:xfrm>
            <a:off x="1120140" y="1757045"/>
            <a:ext cx="11071225" cy="594995"/>
          </a:xfrm>
          <a:prstGeom prst="rect">
            <a:avLst/>
          </a:prstGeom>
          <a:noFill/>
        </p:spPr>
        <p:txBody>
          <a:bodyPr wrap="square" rtlCol="0">
            <a:noAutofit/>
          </a:bodyPr>
          <a:p>
            <a:r>
              <a:rPr lang="en-US" sz="3200" b="1">
                <a:solidFill>
                  <a:schemeClr val="bg1"/>
                </a:solidFill>
                <a:latin typeface="Segoe UI Semilight" panose="020B0402040204020203" charset="0"/>
                <a:cs typeface="Segoe UI Semilight" panose="020B0402040204020203" charset="0"/>
                <a:sym typeface="+mn-ea"/>
              </a:rPr>
              <a:t>IT Specialist: </a:t>
            </a:r>
            <a:r>
              <a:rPr lang="en-US" altLang="en-US" sz="3200" b="1">
                <a:solidFill>
                  <a:schemeClr val="bg1"/>
                </a:solidFill>
                <a:latin typeface="Segoe UI Semilight" panose="020B0402040204020203" charset="0"/>
                <a:cs typeface="Segoe UI Semilight" panose="020B0402040204020203" charset="0"/>
                <a:sym typeface="+mn-ea"/>
              </a:rPr>
              <a:t> PAF</a:t>
            </a:r>
            <a:r>
              <a:rPr lang="en-US" sz="3200" b="1">
                <a:solidFill>
                  <a:schemeClr val="bg1"/>
                </a:solidFill>
                <a:latin typeface="Segoe UI Semilight" panose="020B0402040204020203" charset="0"/>
                <a:cs typeface="Segoe UI Semilight" panose="020B0402040204020203" charset="0"/>
                <a:sym typeface="+mn-ea"/>
              </a:rPr>
              <a:t> </a:t>
            </a:r>
            <a:r>
              <a:rPr lang="en-US" altLang="en-US" sz="3200" b="1">
                <a:solidFill>
                  <a:schemeClr val="bg1"/>
                </a:solidFill>
                <a:latin typeface="Segoe UI Semilight" panose="020B0402040204020203" charset="0"/>
                <a:cs typeface="Segoe UI Semilight" panose="020B0402040204020203" charset="0"/>
                <a:sym typeface="+mn-ea"/>
              </a:rPr>
              <a:t>Bryan C. Amen</a:t>
            </a:r>
            <a:endParaRPr lang="en-US" altLang="en-US" sz="3200" b="1">
              <a:solidFill>
                <a:schemeClr val="bg1"/>
              </a:solidFill>
              <a:latin typeface="Segoe UI Semilight" panose="020B0402040204020203" charset="0"/>
              <a:cs typeface="Segoe UI Semilight" panose="020B0402040204020203" charset="0"/>
            </a:endParaRPr>
          </a:p>
          <a:p>
            <a:endParaRPr lang="en-US" altLang="en-US" sz="3200" b="1">
              <a:solidFill>
                <a:schemeClr val="bg1"/>
              </a:solidFill>
              <a:latin typeface="Segoe UI Semilight" panose="020B0402040204020203" charset="0"/>
              <a:cs typeface="Segoe UI Semilight" panose="020B0402040204020203" charset="0"/>
            </a:endParaRPr>
          </a:p>
        </p:txBody>
      </p:sp>
      <p:sp>
        <p:nvSpPr>
          <p:cNvPr id="8" name="Text Box 7"/>
          <p:cNvSpPr txBox="1"/>
          <p:nvPr/>
        </p:nvSpPr>
        <p:spPr>
          <a:xfrm>
            <a:off x="1120140" y="1162050"/>
            <a:ext cx="4258310" cy="594995"/>
          </a:xfrm>
          <a:prstGeom prst="rect">
            <a:avLst/>
          </a:prstGeom>
          <a:noFill/>
        </p:spPr>
        <p:txBody>
          <a:bodyPr wrap="square" rtlCol="0">
            <a:noAutofit/>
          </a:bodyPr>
          <a:p>
            <a:r>
              <a:rPr lang="en-US" altLang="en-US" sz="4000" b="1">
                <a:solidFill>
                  <a:schemeClr val="bg1"/>
                </a:solidFill>
                <a:latin typeface="Segoe UI Semilight" panose="020B0402040204020203" charset="0"/>
                <a:cs typeface="Segoe UI Semilight" panose="020B0402040204020203" charset="0"/>
              </a:rPr>
              <a:t>Our Partcipants:</a:t>
            </a:r>
            <a:endParaRPr lang="en-US" altLang="en-US" sz="4000" b="1">
              <a:solidFill>
                <a:schemeClr val="bg1"/>
              </a:solidFill>
              <a:latin typeface="Segoe UI Semilight" panose="020B0402040204020203" charset="0"/>
              <a:cs typeface="Segoe UI Semilight" panose="020B0402040204020203" charset="0"/>
            </a:endParaRPr>
          </a:p>
        </p:txBody>
      </p:sp>
      <p:sp>
        <p:nvSpPr>
          <p:cNvPr id="9" name="Text Box 8"/>
          <p:cNvSpPr txBox="1"/>
          <p:nvPr/>
        </p:nvSpPr>
        <p:spPr>
          <a:xfrm>
            <a:off x="1120140" y="2352040"/>
            <a:ext cx="9286875" cy="594995"/>
          </a:xfrm>
          <a:prstGeom prst="rect">
            <a:avLst/>
          </a:prstGeom>
          <a:noFill/>
        </p:spPr>
        <p:txBody>
          <a:bodyPr wrap="square" rtlCol="0">
            <a:noAutofit/>
          </a:bodyPr>
          <a:p>
            <a:r>
              <a:rPr lang="en-US" sz="3200" b="1">
                <a:solidFill>
                  <a:schemeClr val="bg1"/>
                </a:solidFill>
                <a:latin typeface="Segoe UI Semilight" panose="020B0402040204020203" charset="0"/>
                <a:cs typeface="Segoe UI Semilight" panose="020B0402040204020203" charset="0"/>
                <a:sym typeface="+mn-ea"/>
              </a:rPr>
              <a:t>Main Client: </a:t>
            </a:r>
            <a:r>
              <a:rPr lang="en-US" altLang="en-US" sz="3200" b="1">
                <a:solidFill>
                  <a:schemeClr val="bg1"/>
                </a:solidFill>
                <a:latin typeface="Segoe UI Semilight" panose="020B0402040204020203" charset="0"/>
                <a:cs typeface="Segoe UI Semilight" panose="020B0402040204020203" charset="0"/>
                <a:sym typeface="+mn-ea"/>
              </a:rPr>
              <a:t>Brgy. Captain Lauro A. Ancheta</a:t>
            </a:r>
            <a:endParaRPr lang="en-US" altLang="en-US" sz="3200" b="1">
              <a:solidFill>
                <a:schemeClr val="bg1"/>
              </a:solidFill>
              <a:latin typeface="Segoe UI Semilight" panose="020B0402040204020203" charset="0"/>
              <a:cs typeface="Segoe UI Semilight" panose="020B0402040204020203" charset="0"/>
            </a:endParaRPr>
          </a:p>
          <a:p>
            <a:endParaRPr lang="en-US" altLang="en-US" sz="3200" b="1">
              <a:solidFill>
                <a:schemeClr val="bg1"/>
              </a:solidFill>
              <a:latin typeface="Segoe UI Semilight" panose="020B0402040204020203" charset="0"/>
              <a:cs typeface="Segoe UI Semilight" panose="020B0402040204020203" charset="0"/>
            </a:endParaRPr>
          </a:p>
        </p:txBody>
      </p:sp>
      <p:sp>
        <p:nvSpPr>
          <p:cNvPr id="11" name="Text Box 10"/>
          <p:cNvSpPr txBox="1"/>
          <p:nvPr/>
        </p:nvSpPr>
        <p:spPr>
          <a:xfrm>
            <a:off x="7933055" y="5624195"/>
            <a:ext cx="4258310" cy="594995"/>
          </a:xfrm>
          <a:prstGeom prst="rect">
            <a:avLst/>
          </a:prstGeom>
          <a:noFill/>
        </p:spPr>
        <p:txBody>
          <a:bodyPr wrap="square" rtlCol="0">
            <a:noAutofit/>
          </a:bodyPr>
          <a:p>
            <a:endParaRPr lang="en-US" altLang="en-US" sz="2000" b="1">
              <a:solidFill>
                <a:schemeClr val="bg1"/>
              </a:solidFill>
              <a:latin typeface="Segoe UI Semilight" panose="020B0402040204020203" charset="0"/>
              <a:cs typeface="Segoe UI Semilight" panose="020B0402040204020203" charset="0"/>
            </a:endParaRPr>
          </a:p>
        </p:txBody>
      </p:sp>
      <p:sp>
        <p:nvSpPr>
          <p:cNvPr id="12" name="Text Box 11"/>
          <p:cNvSpPr txBox="1"/>
          <p:nvPr/>
        </p:nvSpPr>
        <p:spPr>
          <a:xfrm>
            <a:off x="1120140" y="2947035"/>
            <a:ext cx="7930515" cy="594995"/>
          </a:xfrm>
          <a:prstGeom prst="rect">
            <a:avLst/>
          </a:prstGeom>
          <a:noFill/>
        </p:spPr>
        <p:txBody>
          <a:bodyPr wrap="square" rtlCol="0">
            <a:noAutofit/>
          </a:bodyPr>
          <a:p>
            <a:r>
              <a:rPr lang="en-US" sz="3200" b="1">
                <a:solidFill>
                  <a:schemeClr val="bg1"/>
                </a:solidFill>
                <a:latin typeface="Segoe UI Semilight" panose="020B0402040204020203" charset="0"/>
                <a:cs typeface="Segoe UI Semilight" panose="020B0402040204020203" charset="0"/>
                <a:sym typeface="+mn-ea"/>
              </a:rPr>
              <a:t>End-user: </a:t>
            </a:r>
            <a:r>
              <a:rPr lang="en-US" altLang="en-US" sz="3200" b="1">
                <a:solidFill>
                  <a:schemeClr val="bg1"/>
                </a:solidFill>
                <a:latin typeface="Segoe UI Semilight" panose="020B0402040204020203" charset="0"/>
                <a:cs typeface="Segoe UI Semilight" panose="020B0402040204020203" charset="0"/>
                <a:sym typeface="+mn-ea"/>
              </a:rPr>
              <a:t>Larjollene A. Dimaculangan</a:t>
            </a:r>
            <a:endParaRPr lang="en-US" altLang="en-US" sz="3200" b="1">
              <a:solidFill>
                <a:schemeClr val="bg1"/>
              </a:solidFill>
              <a:latin typeface="Segoe UI Semilight" panose="020B0402040204020203" charset="0"/>
              <a:cs typeface="Segoe UI Semilight" panose="020B0402040204020203" charset="0"/>
            </a:endParaRPr>
          </a:p>
          <a:p>
            <a:endParaRPr lang="en-US" altLang="en-US" sz="3200" b="1">
              <a:solidFill>
                <a:schemeClr val="bg1"/>
              </a:solidFill>
              <a:latin typeface="Segoe UI Semilight" panose="020B0402040204020203" charset="0"/>
              <a:cs typeface="Segoe UI Semilight" panose="020B0402040204020203" charset="0"/>
            </a:endParaRPr>
          </a:p>
        </p:txBody>
      </p:sp>
      <p:sp>
        <p:nvSpPr>
          <p:cNvPr id="13" name="Text Box 12"/>
          <p:cNvSpPr txBox="1"/>
          <p:nvPr/>
        </p:nvSpPr>
        <p:spPr>
          <a:xfrm>
            <a:off x="1120140" y="3616960"/>
            <a:ext cx="7930515" cy="651510"/>
          </a:xfrm>
          <a:prstGeom prst="rect">
            <a:avLst/>
          </a:prstGeom>
          <a:noFill/>
        </p:spPr>
        <p:txBody>
          <a:bodyPr wrap="square" rtlCol="0">
            <a:noAutofit/>
          </a:bodyPr>
          <a:p>
            <a:r>
              <a:rPr lang="en-US" altLang="en-US" sz="3200" b="1">
                <a:solidFill>
                  <a:schemeClr val="bg1"/>
                </a:solidFill>
                <a:latin typeface="Segoe UI Semilight" panose="020B0402040204020203" charset="0"/>
                <a:cs typeface="Segoe UI Semilight" panose="020B0402040204020203" charset="0"/>
              </a:rPr>
              <a:t>Why chosen, and how they were recruited?</a:t>
            </a:r>
            <a:endParaRPr lang="en-US" altLang="en-US" sz="3200" b="1">
              <a:solidFill>
                <a:schemeClr val="bg1"/>
              </a:solidFill>
              <a:latin typeface="Segoe UI Semilight" panose="020B0402040204020203" charset="0"/>
              <a:cs typeface="Segoe UI Semilight" panose="020B0402040204020203"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Oval 1"/>
          <p:cNvSpPr/>
          <p:nvPr/>
        </p:nvSpPr>
        <p:spPr>
          <a:xfrm>
            <a:off x="-457200" y="-457200"/>
            <a:ext cx="2743200" cy="274320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457200"/>
            <a:ext cx="2743200" cy="2743200"/>
          </a:xfrm>
          <a:prstGeom prst="ellipse">
            <a:avLst/>
          </a:prstGeom>
          <a:solidFill>
            <a:srgbClr val="14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58400" y="5029200"/>
            <a:ext cx="2743200" cy="2743200"/>
          </a:xfrm>
          <a:prstGeom prst="ellipse">
            <a:avLst/>
          </a:prstGeom>
          <a:solidFill>
            <a:srgbClr val="1A2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5260"/>
            <a:ext cx="10332720" cy="891540"/>
          </a:xfrm>
          <a:prstGeom prst="rect">
            <a:avLst/>
          </a:prstGeom>
          <a:noFill/>
        </p:spPr>
        <p:txBody>
          <a:bodyPr wrap="square">
            <a:spAutoFit/>
          </a:bodyPr>
          <a:lstStyle/>
          <a:p>
            <a:pPr algn="ctr">
              <a:defRPr sz="5200" b="1">
                <a:solidFill>
                  <a:srgbClr val="FFFFFF"/>
                </a:solidFill>
                <a:latin typeface="Segoe UI" panose="020B0502040204020203"/>
              </a:defRPr>
            </a:pPr>
            <a:r>
              <a:rPr lang="en-US"/>
              <a:t>Methodology</a:t>
            </a:r>
            <a:endParaRPr lang="en-US"/>
          </a:p>
        </p:txBody>
      </p:sp>
      <p:sp>
        <p:nvSpPr>
          <p:cNvPr id="10" name="Rounded Rectangle 9"/>
          <p:cNvSpPr/>
          <p:nvPr/>
        </p:nvSpPr>
        <p:spPr>
          <a:xfrm>
            <a:off x="751205" y="1078230"/>
            <a:ext cx="10923905" cy="5672455"/>
          </a:xfrm>
          <a:prstGeom prst="roundRect">
            <a:avLst/>
          </a:prstGeom>
          <a:solidFill>
            <a:srgbClr val="1E3050"/>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en-US" sz="2600" b="1"/>
          </a:p>
        </p:txBody>
      </p:sp>
      <p:sp>
        <p:nvSpPr>
          <p:cNvPr id="11" name="Text Box 10"/>
          <p:cNvSpPr txBox="1"/>
          <p:nvPr/>
        </p:nvSpPr>
        <p:spPr>
          <a:xfrm>
            <a:off x="7933055" y="5624195"/>
            <a:ext cx="4258310" cy="594995"/>
          </a:xfrm>
          <a:prstGeom prst="rect">
            <a:avLst/>
          </a:prstGeom>
          <a:noFill/>
        </p:spPr>
        <p:txBody>
          <a:bodyPr wrap="square" rtlCol="0">
            <a:noAutofit/>
          </a:bodyPr>
          <a:p>
            <a:endParaRPr lang="en-US" altLang="en-US" sz="2000" b="1">
              <a:solidFill>
                <a:schemeClr val="bg1"/>
              </a:solidFill>
              <a:latin typeface="Segoe UI Semilight" panose="020B0402040204020203" charset="0"/>
              <a:cs typeface="Segoe UI Semilight" panose="020B0402040204020203" charset="0"/>
            </a:endParaRPr>
          </a:p>
        </p:txBody>
      </p:sp>
      <p:sp>
        <p:nvSpPr>
          <p:cNvPr id="13" name="Text Box 12"/>
          <p:cNvSpPr txBox="1"/>
          <p:nvPr/>
        </p:nvSpPr>
        <p:spPr>
          <a:xfrm>
            <a:off x="1120140" y="1212215"/>
            <a:ext cx="7930515" cy="594995"/>
          </a:xfrm>
          <a:prstGeom prst="rect">
            <a:avLst/>
          </a:prstGeom>
          <a:noFill/>
        </p:spPr>
        <p:txBody>
          <a:bodyPr wrap="square" rtlCol="0">
            <a:noAutofit/>
          </a:bodyPr>
          <a:p>
            <a:r>
              <a:rPr lang="en-US" altLang="en-US" sz="3200" b="1">
                <a:solidFill>
                  <a:schemeClr val="bg1"/>
                </a:solidFill>
                <a:latin typeface="Segoe UI Semilight" panose="020B0402040204020203" charset="0"/>
                <a:cs typeface="Segoe UI Semilight" panose="020B0402040204020203" charset="0"/>
              </a:rPr>
              <a:t>Where they were interviewed?</a:t>
            </a:r>
            <a:endParaRPr lang="en-US" altLang="en-US" sz="3200" b="1">
              <a:solidFill>
                <a:schemeClr val="bg1"/>
              </a:solidFill>
              <a:latin typeface="Segoe UI Semilight" panose="020B0402040204020203" charset="0"/>
              <a:cs typeface="Segoe UI Semilight" panose="020B0402040204020203"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Oval 1"/>
          <p:cNvSpPr/>
          <p:nvPr/>
        </p:nvSpPr>
        <p:spPr>
          <a:xfrm>
            <a:off x="-457200" y="-457200"/>
            <a:ext cx="2743200" cy="274320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457200"/>
            <a:ext cx="2743200" cy="2743200"/>
          </a:xfrm>
          <a:prstGeom prst="ellipse">
            <a:avLst/>
          </a:prstGeom>
          <a:solidFill>
            <a:srgbClr val="14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58400" y="5029200"/>
            <a:ext cx="2743200" cy="2743200"/>
          </a:xfrm>
          <a:prstGeom prst="ellipse">
            <a:avLst/>
          </a:prstGeom>
          <a:solidFill>
            <a:srgbClr val="1A2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5260"/>
            <a:ext cx="10332720" cy="891540"/>
          </a:xfrm>
          <a:prstGeom prst="rect">
            <a:avLst/>
          </a:prstGeom>
          <a:noFill/>
        </p:spPr>
        <p:txBody>
          <a:bodyPr wrap="square">
            <a:spAutoFit/>
          </a:bodyPr>
          <a:lstStyle/>
          <a:p>
            <a:pPr algn="ctr">
              <a:defRPr sz="5200" b="1">
                <a:solidFill>
                  <a:srgbClr val="FFFFFF"/>
                </a:solidFill>
                <a:latin typeface="Segoe UI" panose="020B0502040204020203"/>
              </a:defRPr>
            </a:pPr>
            <a:r>
              <a:rPr lang="en-US"/>
              <a:t>Methodology</a:t>
            </a:r>
            <a:endParaRPr lang="en-US"/>
          </a:p>
        </p:txBody>
      </p:sp>
      <p:sp>
        <p:nvSpPr>
          <p:cNvPr id="10" name="Rounded Rectangle 9"/>
          <p:cNvSpPr/>
          <p:nvPr/>
        </p:nvSpPr>
        <p:spPr>
          <a:xfrm>
            <a:off x="751205" y="1078230"/>
            <a:ext cx="10923905" cy="5672455"/>
          </a:xfrm>
          <a:prstGeom prst="roundRect">
            <a:avLst/>
          </a:prstGeom>
          <a:solidFill>
            <a:srgbClr val="1E3050"/>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en-US" sz="2600" b="1"/>
          </a:p>
        </p:txBody>
      </p:sp>
      <p:sp>
        <p:nvSpPr>
          <p:cNvPr id="11" name="Text Box 10"/>
          <p:cNvSpPr txBox="1"/>
          <p:nvPr/>
        </p:nvSpPr>
        <p:spPr>
          <a:xfrm>
            <a:off x="7933055" y="5624195"/>
            <a:ext cx="4258310" cy="594995"/>
          </a:xfrm>
          <a:prstGeom prst="rect">
            <a:avLst/>
          </a:prstGeom>
          <a:noFill/>
        </p:spPr>
        <p:txBody>
          <a:bodyPr wrap="square" rtlCol="0">
            <a:noAutofit/>
          </a:bodyPr>
          <a:p>
            <a:endParaRPr lang="en-US" altLang="en-US" sz="2000" b="1">
              <a:solidFill>
                <a:schemeClr val="bg1"/>
              </a:solidFill>
              <a:latin typeface="Segoe UI Semilight" panose="020B0402040204020203" charset="0"/>
              <a:cs typeface="Segoe UI Semilight" panose="020B0402040204020203" charset="0"/>
            </a:endParaRPr>
          </a:p>
        </p:txBody>
      </p:sp>
      <p:sp>
        <p:nvSpPr>
          <p:cNvPr id="13" name="Text Box 12"/>
          <p:cNvSpPr txBox="1"/>
          <p:nvPr/>
        </p:nvSpPr>
        <p:spPr>
          <a:xfrm>
            <a:off x="1120140" y="1212215"/>
            <a:ext cx="7930515" cy="594995"/>
          </a:xfrm>
          <a:prstGeom prst="rect">
            <a:avLst/>
          </a:prstGeom>
          <a:noFill/>
        </p:spPr>
        <p:txBody>
          <a:bodyPr wrap="square" rtlCol="0">
            <a:noAutofit/>
          </a:bodyPr>
          <a:p>
            <a:r>
              <a:rPr lang="en-US" altLang="en-US" sz="3200" b="1">
                <a:solidFill>
                  <a:schemeClr val="bg1"/>
                </a:solidFill>
                <a:latin typeface="Segoe UI Semilight" panose="020B0402040204020203" charset="0"/>
                <a:cs typeface="Segoe UI Semilight" panose="020B0402040204020203" charset="0"/>
              </a:rPr>
              <a:t>What did you ask?</a:t>
            </a:r>
            <a:endParaRPr lang="en-US" altLang="en-US" sz="3200" b="1">
              <a:solidFill>
                <a:schemeClr val="bg1"/>
              </a:solidFill>
              <a:latin typeface="Segoe UI Semilight" panose="020B0402040204020203" charset="0"/>
              <a:cs typeface="Segoe UI Semilight" panose="020B0402040204020203"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7" name="TextBox 6"/>
          <p:cNvSpPr txBox="1"/>
          <p:nvPr/>
        </p:nvSpPr>
        <p:spPr>
          <a:xfrm>
            <a:off x="914400" y="175260"/>
            <a:ext cx="10332720" cy="891540"/>
          </a:xfrm>
          <a:prstGeom prst="rect">
            <a:avLst/>
          </a:prstGeom>
          <a:noFill/>
        </p:spPr>
        <p:txBody>
          <a:bodyPr wrap="square">
            <a:spAutoFit/>
          </a:bodyPr>
          <a:lstStyle/>
          <a:p>
            <a:pPr algn="ctr">
              <a:defRPr sz="5200" b="1">
                <a:solidFill>
                  <a:srgbClr val="FFFFFF"/>
                </a:solidFill>
                <a:latin typeface="Segoe UI" panose="020B0502040204020203"/>
              </a:defRPr>
            </a:pPr>
            <a:r>
              <a:rPr lang="en-US" altLang="en-US"/>
              <a:t>Interview Results</a:t>
            </a:r>
            <a:endParaRPr lang="en-US" altLang="en-US"/>
          </a:p>
        </p:txBody>
      </p:sp>
      <p:sp>
        <p:nvSpPr>
          <p:cNvPr id="13" name="Text Box 12"/>
          <p:cNvSpPr txBox="1"/>
          <p:nvPr/>
        </p:nvSpPr>
        <p:spPr>
          <a:xfrm>
            <a:off x="1120140" y="1212215"/>
            <a:ext cx="7930515" cy="594995"/>
          </a:xfrm>
          <a:prstGeom prst="rect">
            <a:avLst/>
          </a:prstGeom>
          <a:noFill/>
        </p:spPr>
        <p:txBody>
          <a:bodyPr wrap="square" rtlCol="0">
            <a:noAutofit/>
          </a:bodyPr>
          <a:p>
            <a:endParaRPr lang="en-US" altLang="en-US" sz="3200" b="1">
              <a:solidFill>
                <a:schemeClr val="bg1"/>
              </a:solidFill>
              <a:latin typeface="Segoe UI Semilight" panose="020B0402040204020203" charset="0"/>
              <a:cs typeface="Segoe UI Semilight" panose="020B0402040204020203" charset="0"/>
            </a:endParaRPr>
          </a:p>
        </p:txBody>
      </p:sp>
      <p:grpSp>
        <p:nvGrpSpPr>
          <p:cNvPr id="12" name="Group 11"/>
          <p:cNvGrpSpPr/>
          <p:nvPr/>
        </p:nvGrpSpPr>
        <p:grpSpPr>
          <a:xfrm>
            <a:off x="694055" y="1069975"/>
            <a:ext cx="10915015" cy="5529580"/>
            <a:chOff x="523" y="1680"/>
            <a:chExt cx="17189" cy="8708"/>
          </a:xfrm>
        </p:grpSpPr>
        <p:pic>
          <p:nvPicPr>
            <p:cNvPr id="5" name="Picture 4"/>
            <p:cNvPicPr/>
            <p:nvPr/>
          </p:nvPicPr>
          <p:blipFill>
            <a:blip r:embed="rId1"/>
            <a:srcRect l="11305" t="6209" r="11842" b="9973"/>
            <a:stretch>
              <a:fillRect/>
            </a:stretch>
          </p:blipFill>
          <p:spPr>
            <a:xfrm>
              <a:off x="523" y="1685"/>
              <a:ext cx="7872" cy="4320"/>
            </a:xfrm>
            <a:prstGeom prst="rect">
              <a:avLst/>
            </a:prstGeom>
            <a:ln>
              <a:solidFill>
                <a:srgbClr val="FFFF00"/>
              </a:solidFill>
            </a:ln>
          </p:spPr>
        </p:pic>
        <p:pic>
          <p:nvPicPr>
            <p:cNvPr id="6" name="Picture 5"/>
            <p:cNvPicPr/>
            <p:nvPr/>
          </p:nvPicPr>
          <p:blipFill>
            <a:blip r:embed="rId2"/>
            <a:srcRect l="13731" t="11958" r="6666" b="14238"/>
            <a:stretch>
              <a:fillRect/>
            </a:stretch>
          </p:blipFill>
          <p:spPr>
            <a:xfrm>
              <a:off x="523" y="6005"/>
              <a:ext cx="9792" cy="4383"/>
            </a:xfrm>
            <a:prstGeom prst="rect">
              <a:avLst/>
            </a:prstGeom>
            <a:ln>
              <a:solidFill>
                <a:srgbClr val="FFFF00"/>
              </a:solidFill>
            </a:ln>
          </p:spPr>
        </p:pic>
        <p:pic>
          <p:nvPicPr>
            <p:cNvPr id="8" name="Picture 7" descr="Screenshot 2026-07-18 202642"/>
            <p:cNvPicPr>
              <a:picLocks noChangeAspect="1"/>
            </p:cNvPicPr>
            <p:nvPr/>
          </p:nvPicPr>
          <p:blipFill>
            <a:blip r:embed="rId3"/>
            <a:srcRect t="5964" b="6859"/>
            <a:stretch>
              <a:fillRect/>
            </a:stretch>
          </p:blipFill>
          <p:spPr>
            <a:xfrm>
              <a:off x="8395" y="1680"/>
              <a:ext cx="9317" cy="4324"/>
            </a:xfrm>
            <a:prstGeom prst="rect">
              <a:avLst/>
            </a:prstGeom>
            <a:ln>
              <a:solidFill>
                <a:srgbClr val="FFFF00"/>
              </a:solidFill>
            </a:ln>
          </p:spPr>
        </p:pic>
        <p:pic>
          <p:nvPicPr>
            <p:cNvPr id="9" name="Picture 8"/>
            <p:cNvPicPr/>
            <p:nvPr/>
          </p:nvPicPr>
          <p:blipFill>
            <a:blip r:embed="rId4"/>
            <a:stretch>
              <a:fillRect/>
            </a:stretch>
          </p:blipFill>
          <p:spPr>
            <a:xfrm>
              <a:off x="10315" y="6004"/>
              <a:ext cx="7397" cy="4365"/>
            </a:xfrm>
            <a:prstGeom prst="rect">
              <a:avLst/>
            </a:prstGeom>
            <a:ln>
              <a:solidFill>
                <a:srgbClr val="FFFF00"/>
              </a:solidFill>
            </a:ln>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938</Words>
  <Application>WPS Presentation</Application>
  <PresentationFormat>On-screen Show (4:3)</PresentationFormat>
  <Paragraphs>43</Paragraphs>
  <Slides>6</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vt:i4>
      </vt:variant>
    </vt:vector>
  </HeadingPairs>
  <TitlesOfParts>
    <vt:vector size="16" baseType="lpstr">
      <vt:lpstr>Arial</vt:lpstr>
      <vt:lpstr>SimSun</vt:lpstr>
      <vt:lpstr>Wingdings</vt:lpstr>
      <vt:lpstr>Arial</vt:lpstr>
      <vt:lpstr>Segoe UI</vt:lpstr>
      <vt:lpstr>Segoe UI Semilight</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Jehosue Biscarra</cp:lastModifiedBy>
  <cp:revision>12</cp:revision>
  <dcterms:created xsi:type="dcterms:W3CDTF">2013-01-27T09:14:00Z</dcterms:created>
  <dcterms:modified xsi:type="dcterms:W3CDTF">2026-07-21T13:04:33Z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0F8F1C0F785747CC9DBC5671C07A7671_12</vt:lpwstr>
  </property>
</Properties>
</file>