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media/image12.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75"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7" r:id="rId21"/>
    <p:sldId id="278" r:id="rId22"/>
    <p:sldId id="279" r:id="rId23"/>
    <p:sldId id="273" r:id="rId24"/>
    <p:sldId id="276" r:id="rId25"/>
    <p:sldId id="274" r:id="rId26"/>
  </p:sldIdLst>
  <p:sldSz cx="18288000" cy="10287000"/>
  <p:notesSz cx="6858000" cy="9144000"/>
  <p:embeddedFontLst>
    <p:embeddedFont>
      <p:font typeface="Calibri (MS) Bold" panose="020F0702030404030204"/>
      <p:bold r:id="rId30"/>
    </p:embeddedFont>
    <p:embeddedFont>
      <p:font typeface="Arial Bold" panose="020B0704020202020204"/>
      <p:bold r:id="rId31"/>
    </p:embeddedFont>
    <p:embeddedFont>
      <p:font typeface="Public Sans Bold"/>
      <p:bold r:id="rId32"/>
    </p:embeddedFont>
    <p:embeddedFont>
      <p:font typeface="Public Sans"/>
      <p:regular r:id="rId33"/>
    </p:embeddedFont>
    <p:embeddedFont>
      <p:font typeface="Calibri" panose="020F0502020204030204" charset="0"/>
      <p:regular r:id="rId34"/>
      <p:bold r:id="rId35"/>
      <p:italic r:id="rId36"/>
      <p:boldItalic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5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font" Target="fonts/font8.fntdata"/><Relationship Id="rId36" Type="http://schemas.openxmlformats.org/officeDocument/2006/relationships/font" Target="fonts/font7.fntdata"/><Relationship Id="rId35" Type="http://schemas.openxmlformats.org/officeDocument/2006/relationships/font" Target="fonts/font6.fntdata"/><Relationship Id="rId34" Type="http://schemas.openxmlformats.org/officeDocument/2006/relationships/font" Target="fonts/font5.fntdata"/><Relationship Id="rId33" Type="http://schemas.openxmlformats.org/officeDocument/2006/relationships/font" Target="fonts/font4.fntdata"/><Relationship Id="rId32" Type="http://schemas.openxmlformats.org/officeDocument/2006/relationships/font" Target="fonts/font3.fntdata"/><Relationship Id="rId31" Type="http://schemas.openxmlformats.org/officeDocument/2006/relationships/font" Target="fonts/font2.fntdata"/><Relationship Id="rId30" Type="http://schemas.openxmlformats.org/officeDocument/2006/relationships/font" Target="fonts/font1.fntdata"/><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8.jpe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svg"/><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5099392" y="7549696"/>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sp>
        <p:nvSpPr>
          <p:cNvPr id="8" name="TextBox 8"/>
          <p:cNvSpPr txBox="1"/>
          <p:nvPr/>
        </p:nvSpPr>
        <p:spPr>
          <a:xfrm>
            <a:off x="1479842" y="1393336"/>
            <a:ext cx="15328316" cy="1485900"/>
          </a:xfrm>
          <a:prstGeom prst="rect">
            <a:avLst/>
          </a:prstGeom>
        </p:spPr>
        <p:txBody>
          <a:bodyPr lIns="0" tIns="0" rIns="0" bIns="0" rtlCol="0" anchor="t">
            <a:spAutoFit/>
          </a:bodyPr>
          <a:lstStyle/>
          <a:p>
            <a:pPr algn="ctr">
              <a:lnSpc>
                <a:spcPts val="10325"/>
              </a:lnSpc>
            </a:pPr>
            <a:r>
              <a:rPr lang="en-US" sz="8605" b="1">
                <a:solidFill>
                  <a:srgbClr val="FFFFFF"/>
                </a:solidFill>
                <a:latin typeface="Calibri (MS) Bold" panose="020F0702030404030204"/>
                <a:ea typeface="Calibri (MS) Bold" panose="020F0702030404030204"/>
                <a:cs typeface="Calibri (MS) Bold" panose="020F0702030404030204"/>
                <a:sym typeface="Calibri (MS) Bold" panose="020F0702030404030204"/>
              </a:rPr>
              <a:t>🤝 Bayanihan Hub</a:t>
            </a:r>
            <a:endParaRPr lang="en-US" sz="8605"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p:txBody>
      </p:sp>
      <p:sp>
        <p:nvSpPr>
          <p:cNvPr id="9" name="TextBox 9"/>
          <p:cNvSpPr txBox="1"/>
          <p:nvPr/>
        </p:nvSpPr>
        <p:spPr>
          <a:xfrm>
            <a:off x="1981407" y="3419621"/>
            <a:ext cx="14444865" cy="647700"/>
          </a:xfrm>
          <a:prstGeom prst="rect">
            <a:avLst/>
          </a:prstGeom>
        </p:spPr>
        <p:txBody>
          <a:bodyPr lIns="0" tIns="0" rIns="0" bIns="0" rtlCol="0" anchor="t">
            <a:spAutoFit/>
          </a:bodyPr>
          <a:lstStyle/>
          <a:p>
            <a:pPr algn="ctr">
              <a:lnSpc>
                <a:spcPts val="4980"/>
              </a:lnSpc>
            </a:pPr>
            <a:r>
              <a:rPr lang="en-US" sz="4150" b="1">
                <a:solidFill>
                  <a:srgbClr val="FBBF24"/>
                </a:solidFill>
                <a:latin typeface="Arial Bold" panose="020B0704020202020204"/>
                <a:ea typeface="Arial Bold" panose="020B0704020202020204"/>
                <a:cs typeface="Arial Bold" panose="020B0704020202020204"/>
                <a:sym typeface="Arial Bold" panose="020B0704020202020204"/>
              </a:rPr>
              <a:t>🏷️  Project Theme: Equalizing an Unbalanced Society</a:t>
            </a:r>
            <a:endParaRPr lang="en-US" sz="4150" b="1">
              <a:solidFill>
                <a:srgbClr val="FBBF24"/>
              </a:solidFill>
              <a:latin typeface="Arial Bold" panose="020B0704020202020204"/>
              <a:ea typeface="Arial Bold" panose="020B0704020202020204"/>
              <a:cs typeface="Arial Bold" panose="020B0704020202020204"/>
              <a:sym typeface="Arial Bold" panose="020B0704020202020204"/>
            </a:endParaRPr>
          </a:p>
        </p:txBody>
      </p:sp>
      <p:grpSp>
        <p:nvGrpSpPr>
          <p:cNvPr id="10" name="Group 10"/>
          <p:cNvGrpSpPr/>
          <p:nvPr/>
        </p:nvGrpSpPr>
        <p:grpSpPr>
          <a:xfrm rot="0">
            <a:off x="3012950" y="4966906"/>
            <a:ext cx="12230649" cy="3617566"/>
            <a:chOff x="0" y="0"/>
            <a:chExt cx="16307532" cy="4823422"/>
          </a:xfrm>
        </p:grpSpPr>
        <p:sp>
          <p:nvSpPr>
            <p:cNvPr id="11" name="TextBox 11"/>
            <p:cNvSpPr txBox="1"/>
            <p:nvPr/>
          </p:nvSpPr>
          <p:spPr>
            <a:xfrm>
              <a:off x="0" y="999503"/>
              <a:ext cx="16307532" cy="895350"/>
            </a:xfrm>
            <a:prstGeom prst="rect">
              <a:avLst/>
            </a:prstGeom>
          </p:spPr>
          <p:txBody>
            <a:bodyPr lIns="0" tIns="0" rIns="0" bIns="0" rtlCol="0" anchor="t">
              <a:spAutoFit/>
            </a:bodyPr>
            <a:lstStyle/>
            <a:p>
              <a:pPr algn="ctr">
                <a:lnSpc>
                  <a:spcPts val="5220"/>
                </a:lnSpc>
              </a:pPr>
              <a:r>
                <a:rPr lang="en-US" sz="4350" b="1">
                  <a:solidFill>
                    <a:srgbClr val="FFFFFF"/>
                  </a:solidFill>
                  <a:latin typeface="Arial Bold" panose="020B0704020202020204"/>
                  <a:ea typeface="Arial Bold" panose="020B0704020202020204"/>
                  <a:cs typeface="Arial Bold" panose="020B0704020202020204"/>
                  <a:sym typeface="Arial Bold" panose="020B0704020202020204"/>
                </a:rPr>
                <a:t>Jehosue Biscarra</a:t>
              </a:r>
              <a:endParaRPr lang="en-US" sz="435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2" name="TextBox 12"/>
            <p:cNvSpPr txBox="1"/>
            <p:nvPr/>
          </p:nvSpPr>
          <p:spPr>
            <a:xfrm>
              <a:off x="3737060" y="2018068"/>
              <a:ext cx="8838594" cy="895350"/>
            </a:xfrm>
            <a:prstGeom prst="rect">
              <a:avLst/>
            </a:prstGeom>
          </p:spPr>
          <p:txBody>
            <a:bodyPr lIns="0" tIns="0" rIns="0" bIns="0" rtlCol="0" anchor="t">
              <a:spAutoFit/>
            </a:bodyPr>
            <a:lstStyle/>
            <a:p>
              <a:pPr algn="ctr">
                <a:lnSpc>
                  <a:spcPts val="5220"/>
                </a:lnSpc>
              </a:pPr>
              <a:r>
                <a:rPr lang="en-US" sz="4350" b="1">
                  <a:solidFill>
                    <a:srgbClr val="FFFFFF"/>
                  </a:solidFill>
                  <a:latin typeface="Arial Bold" panose="020B0704020202020204"/>
                  <a:ea typeface="Arial Bold" panose="020B0704020202020204"/>
                  <a:cs typeface="Arial Bold" panose="020B0704020202020204"/>
                  <a:sym typeface="Arial Bold" panose="020B0704020202020204"/>
                </a:rPr>
                <a:t>Christopher Buen</a:t>
              </a:r>
              <a:endParaRPr lang="en-US" sz="435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3" name="TextBox 13"/>
            <p:cNvSpPr txBox="1"/>
            <p:nvPr/>
          </p:nvSpPr>
          <p:spPr>
            <a:xfrm>
              <a:off x="3737060" y="3928072"/>
              <a:ext cx="8838594" cy="895350"/>
            </a:xfrm>
            <a:prstGeom prst="rect">
              <a:avLst/>
            </a:prstGeom>
          </p:spPr>
          <p:txBody>
            <a:bodyPr lIns="0" tIns="0" rIns="0" bIns="0" rtlCol="0" anchor="t">
              <a:spAutoFit/>
            </a:bodyPr>
            <a:lstStyle/>
            <a:p>
              <a:pPr algn="ctr">
                <a:lnSpc>
                  <a:spcPts val="5220"/>
                </a:lnSpc>
              </a:pPr>
              <a:r>
                <a:rPr lang="en-US" sz="4350" b="1">
                  <a:solidFill>
                    <a:srgbClr val="FFFFFF"/>
                  </a:solidFill>
                  <a:latin typeface="Arial Bold" panose="020B0704020202020204"/>
                  <a:ea typeface="Arial Bold" panose="020B0704020202020204"/>
                  <a:cs typeface="Arial Bold" panose="020B0704020202020204"/>
                  <a:sym typeface="Arial Bold" panose="020B0704020202020204"/>
                </a:rPr>
                <a:t>Laurice Mae Ancheta</a:t>
              </a:r>
              <a:endParaRPr lang="en-US" sz="435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4" name="TextBox 14"/>
            <p:cNvSpPr txBox="1"/>
            <p:nvPr/>
          </p:nvSpPr>
          <p:spPr>
            <a:xfrm>
              <a:off x="3737060" y="2929852"/>
              <a:ext cx="8838594" cy="895350"/>
            </a:xfrm>
            <a:prstGeom prst="rect">
              <a:avLst/>
            </a:prstGeom>
          </p:spPr>
          <p:txBody>
            <a:bodyPr lIns="0" tIns="0" rIns="0" bIns="0" rtlCol="0" anchor="t">
              <a:spAutoFit/>
            </a:bodyPr>
            <a:lstStyle/>
            <a:p>
              <a:pPr algn="ctr">
                <a:lnSpc>
                  <a:spcPts val="5220"/>
                </a:lnSpc>
              </a:pPr>
              <a:r>
                <a:rPr lang="en-US" sz="4350" b="1">
                  <a:solidFill>
                    <a:srgbClr val="FFFFFF"/>
                  </a:solidFill>
                  <a:latin typeface="Arial Bold" panose="020B0704020202020204"/>
                  <a:ea typeface="Arial Bold" panose="020B0704020202020204"/>
                  <a:cs typeface="Arial Bold" panose="020B0704020202020204"/>
                  <a:sym typeface="Arial Bold" panose="020B0704020202020204"/>
                </a:rPr>
                <a:t>Leah Joyce Caoile</a:t>
              </a:r>
              <a:endParaRPr lang="en-US" sz="435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5" name="TextBox 15"/>
            <p:cNvSpPr txBox="1"/>
            <p:nvPr/>
          </p:nvSpPr>
          <p:spPr>
            <a:xfrm>
              <a:off x="3737060" y="-19050"/>
              <a:ext cx="8838594" cy="895350"/>
            </a:xfrm>
            <a:prstGeom prst="rect">
              <a:avLst/>
            </a:prstGeom>
          </p:spPr>
          <p:txBody>
            <a:bodyPr lIns="0" tIns="0" rIns="0" bIns="0" rtlCol="0" anchor="t">
              <a:spAutoFit/>
            </a:bodyPr>
            <a:lstStyle/>
            <a:p>
              <a:pPr algn="ctr">
                <a:lnSpc>
                  <a:spcPts val="5220"/>
                </a:lnSpc>
              </a:pPr>
              <a:r>
                <a:rPr lang="en-US" sz="4350" b="1">
                  <a:solidFill>
                    <a:srgbClr val="FFFFFF"/>
                  </a:solidFill>
                  <a:latin typeface="Arial Bold" panose="020B0704020202020204"/>
                  <a:ea typeface="Arial Bold" panose="020B0704020202020204"/>
                  <a:cs typeface="Arial Bold" panose="020B0704020202020204"/>
                  <a:sym typeface="Arial Bold" panose="020B0704020202020204"/>
                </a:rPr>
                <a:t>Trisha Dacumos</a:t>
              </a:r>
              <a:endParaRPr lang="en-US" sz="4350" b="1">
                <a:solidFill>
                  <a:srgbClr val="FFFFFF"/>
                </a:solidFill>
                <a:latin typeface="Arial Bold" panose="020B0704020202020204"/>
                <a:ea typeface="Arial Bold" panose="020B0704020202020204"/>
                <a:cs typeface="Arial Bold" panose="020B0704020202020204"/>
                <a:sym typeface="Arial Bold" panose="020B0704020202020204"/>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5099392" y="7549696"/>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grpSp>
        <p:nvGrpSpPr>
          <p:cNvPr id="9" name="Group 9"/>
          <p:cNvGrpSpPr/>
          <p:nvPr/>
        </p:nvGrpSpPr>
        <p:grpSpPr>
          <a:xfrm rot="0">
            <a:off x="2829230" y="2157193"/>
            <a:ext cx="12376928" cy="7316153"/>
            <a:chOff x="0" y="0"/>
            <a:chExt cx="16502570" cy="9754870"/>
          </a:xfrm>
        </p:grpSpPr>
        <p:sp>
          <p:nvSpPr>
            <p:cNvPr id="10" name="Freeform 10"/>
            <p:cNvSpPr/>
            <p:nvPr/>
          </p:nvSpPr>
          <p:spPr>
            <a:xfrm>
              <a:off x="0" y="0"/>
              <a:ext cx="16502635" cy="9754870"/>
            </a:xfrm>
            <a:custGeom>
              <a:avLst/>
              <a:gdLst/>
              <a:ahLst/>
              <a:cxnLst/>
              <a:rect l="l" t="t" r="r" b="b"/>
              <a:pathLst>
                <a:path w="16502635" h="9754870">
                  <a:moveTo>
                    <a:pt x="0" y="1625854"/>
                  </a:moveTo>
                  <a:cubicBezTo>
                    <a:pt x="0" y="727964"/>
                    <a:pt x="727964" y="0"/>
                    <a:pt x="1625854" y="0"/>
                  </a:cubicBezTo>
                  <a:lnTo>
                    <a:pt x="14876780" y="0"/>
                  </a:lnTo>
                  <a:cubicBezTo>
                    <a:pt x="15774670" y="0"/>
                    <a:pt x="16502635" y="727964"/>
                    <a:pt x="16502635" y="1625854"/>
                  </a:cubicBezTo>
                  <a:lnTo>
                    <a:pt x="16502635" y="8129016"/>
                  </a:lnTo>
                  <a:cubicBezTo>
                    <a:pt x="16502635" y="9026906"/>
                    <a:pt x="15774670" y="9754870"/>
                    <a:pt x="14876780" y="9754870"/>
                  </a:cubicBezTo>
                  <a:lnTo>
                    <a:pt x="1625854" y="9754870"/>
                  </a:lnTo>
                  <a:cubicBezTo>
                    <a:pt x="727964" y="9754870"/>
                    <a:pt x="0" y="9026906"/>
                    <a:pt x="0" y="8129016"/>
                  </a:cubicBezTo>
                  <a:close/>
                </a:path>
              </a:pathLst>
            </a:custGeom>
            <a:solidFill>
              <a:srgbClr val="1E3050"/>
            </a:solidFill>
            <a:ln w="28597" cap="sq">
              <a:solidFill>
                <a:srgbClr val="FBBF24"/>
              </a:solidFill>
              <a:prstDash val="solid"/>
              <a:miter/>
            </a:ln>
          </p:spPr>
        </p:sp>
        <p:sp>
          <p:nvSpPr>
            <p:cNvPr id="11" name="TextBox 11"/>
            <p:cNvSpPr txBox="1"/>
            <p:nvPr/>
          </p:nvSpPr>
          <p:spPr>
            <a:xfrm>
              <a:off x="0" y="-76200"/>
              <a:ext cx="16502570" cy="9831070"/>
            </a:xfrm>
            <a:prstGeom prst="rect">
              <a:avLst/>
            </a:prstGeom>
          </p:spPr>
          <p:txBody>
            <a:bodyPr lIns="50800" tIns="50800" rIns="50800" bIns="50800" rtlCol="0" anchor="ctr"/>
            <a:lstStyle/>
            <a:p>
              <a:pPr algn="ctr">
                <a:lnSpc>
                  <a:spcPts val="4685"/>
                </a:lnSpc>
              </a:pPr>
              <a:r>
                <a:rPr lang="en-US" sz="3905" b="1">
                  <a:solidFill>
                    <a:srgbClr val="FFFFFF"/>
                  </a:solidFill>
                  <a:latin typeface="Calibri (MS) Bold" panose="020F0702030404030204"/>
                  <a:ea typeface="Calibri (MS) Bold" panose="020F0702030404030204"/>
                  <a:cs typeface="Calibri (MS) Bold" panose="020F0702030404030204"/>
                  <a:sym typeface="Calibri (MS) Bold" panose="020F0702030404030204"/>
                </a:rPr>
                <a:t>A Bayanihan Hub is a community platform where people can donate items, request assistance, and exchange goods with one another. The project aims to address the issue of social inequality by promoting a culture of sharing and mutual support. Through this platform, individuals will have free and equal access to essential resources regardless of their financial status. By encouraging community participation the project helps reduce waste, support those in need, and provide a more inclusive and balanced society.</a:t>
              </a:r>
              <a:endParaRPr lang="en-US" sz="3905"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p:txBody>
        </p:sp>
      </p:grpSp>
      <p:sp>
        <p:nvSpPr>
          <p:cNvPr id="12" name="TextBox 8"/>
          <p:cNvSpPr txBox="1"/>
          <p:nvPr/>
        </p:nvSpPr>
        <p:spPr>
          <a:xfrm>
            <a:off x="5280025" y="927100"/>
            <a:ext cx="7981950" cy="1200785"/>
          </a:xfrm>
          <a:prstGeom prst="rect">
            <a:avLst/>
          </a:prstGeom>
        </p:spPr>
        <p:txBody>
          <a:bodyPr wrap="square"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Introduction</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8" name="TextBox 8"/>
          <p:cNvSpPr txBox="1"/>
          <p:nvPr/>
        </p:nvSpPr>
        <p:spPr>
          <a:xfrm>
            <a:off x="9144000" y="8343900"/>
            <a:ext cx="7981950" cy="1200785"/>
          </a:xfrm>
          <a:prstGeom prst="rect">
            <a:avLst/>
          </a:prstGeom>
        </p:spPr>
        <p:txBody>
          <a:bodyPr wrap="square" lIns="0" tIns="0" rIns="0" bIns="0" rtlCol="0" anchor="t">
            <a:spAutoFit/>
          </a:bodyPr>
          <a:lstStyle/>
          <a:p>
            <a:pPr algn="ctr">
              <a:lnSpc>
                <a:spcPts val="9365"/>
              </a:lnSpc>
            </a:pPr>
            <a:r>
              <a:rPr lang="en-US" sz="3200" b="1">
                <a:solidFill>
                  <a:srgbClr val="FFFFFF"/>
                </a:solidFill>
                <a:latin typeface="Arial Bold" panose="020B0704020202020204"/>
                <a:ea typeface="Arial Bold" panose="020B0704020202020204"/>
                <a:cs typeface="Arial Bold" panose="020B0704020202020204"/>
                <a:sym typeface="Arial Bold" panose="020B0704020202020204"/>
              </a:rPr>
              <a:t>Jehosue</a:t>
            </a:r>
            <a:endParaRPr lang="en-US" sz="320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Freeform 2"/>
          <p:cNvSpPr/>
          <p:nvPr/>
        </p:nvSpPr>
        <p:spPr>
          <a:xfrm>
            <a:off x="202136" y="2075160"/>
            <a:ext cx="6330566" cy="6460824"/>
          </a:xfrm>
          <a:custGeom>
            <a:avLst/>
            <a:gdLst/>
            <a:ahLst/>
            <a:cxnLst/>
            <a:rect l="l" t="t" r="r" b="b"/>
            <a:pathLst>
              <a:path w="6330566" h="6460824">
                <a:moveTo>
                  <a:pt x="0" y="0"/>
                </a:moveTo>
                <a:lnTo>
                  <a:pt x="6330566" y="0"/>
                </a:lnTo>
                <a:lnTo>
                  <a:pt x="6330566" y="6460824"/>
                </a:lnTo>
                <a:lnTo>
                  <a:pt x="0" y="6460824"/>
                </a:lnTo>
                <a:lnTo>
                  <a:pt x="0" y="0"/>
                </a:lnTo>
                <a:close/>
              </a:path>
            </a:pathLst>
          </a:custGeom>
          <a:blipFill>
            <a:blip r:embed="rId1"/>
            <a:stretch>
              <a:fillRect/>
            </a:stretch>
          </a:blipFill>
        </p:spPr>
      </p:sp>
      <p:sp>
        <p:nvSpPr>
          <p:cNvPr id="3" name="TextBox 3"/>
          <p:cNvSpPr txBox="1"/>
          <p:nvPr/>
        </p:nvSpPr>
        <p:spPr>
          <a:xfrm>
            <a:off x="5936715" y="723899"/>
            <a:ext cx="11907948" cy="9563101"/>
          </a:xfrm>
          <a:prstGeom prst="rect">
            <a:avLst/>
          </a:prstGeom>
        </p:spPr>
        <p:txBody>
          <a:bodyPr lIns="0" tIns="0" rIns="0" bIns="0" rtlCol="0" anchor="t">
            <a:spAutoFit/>
          </a:bodyPr>
          <a:lstStyle/>
          <a:p>
            <a:pPr marL="805180" lvl="1" indent="-402590" algn="ctr">
              <a:lnSpc>
                <a:spcPts val="4475"/>
              </a:lnSpc>
              <a:buFont typeface="Arial" panose="020B0604020202020204"/>
              <a:buChar char="•"/>
            </a:pPr>
            <a:r>
              <a:rPr lang="en-US" sz="3730" b="1">
                <a:solidFill>
                  <a:srgbClr val="FFFFFF"/>
                </a:solidFill>
                <a:latin typeface="Public Sans Bold"/>
                <a:ea typeface="Public Sans Bold"/>
                <a:cs typeface="Public Sans Bold"/>
                <a:sym typeface="Public Sans Bold"/>
              </a:rPr>
              <a:t>Bahay Kubo </a:t>
            </a:r>
            <a:r>
              <a:rPr lang="en-US" sz="3730">
                <a:solidFill>
                  <a:srgbClr val="FFFFFF"/>
                </a:solidFill>
                <a:latin typeface="Public Sans"/>
                <a:ea typeface="Public Sans"/>
                <a:cs typeface="Public Sans"/>
                <a:sym typeface="Public Sans"/>
              </a:rPr>
              <a:t>– Represents the Filipino culture of Bayanihan, symbolizing unity, hospitality, and a community where people work together to help one another.</a:t>
            </a:r>
            <a:endParaRPr lang="en-US" sz="3730">
              <a:solidFill>
                <a:srgbClr val="FFFFFF"/>
              </a:solidFill>
              <a:latin typeface="Public Sans"/>
              <a:ea typeface="Public Sans"/>
              <a:cs typeface="Public Sans"/>
              <a:sym typeface="Public Sans"/>
            </a:endParaRPr>
          </a:p>
          <a:p>
            <a:pPr algn="ctr">
              <a:lnSpc>
                <a:spcPts val="4475"/>
              </a:lnSpc>
            </a:pPr>
          </a:p>
          <a:p>
            <a:pPr marL="805180" lvl="1" indent="-402590" algn="ctr">
              <a:lnSpc>
                <a:spcPts val="4475"/>
              </a:lnSpc>
              <a:buFont typeface="Arial" panose="020B0604020202020204"/>
              <a:buChar char="•"/>
            </a:pPr>
            <a:r>
              <a:rPr lang="en-US" sz="3730" b="1">
                <a:solidFill>
                  <a:srgbClr val="FFFFFF"/>
                </a:solidFill>
                <a:latin typeface="Public Sans Bold"/>
                <a:ea typeface="Public Sans Bold"/>
                <a:cs typeface="Public Sans Bold"/>
                <a:sym typeface="Public Sans Bold"/>
              </a:rPr>
              <a:t>Heart, Hands, and Box</a:t>
            </a:r>
            <a:r>
              <a:rPr lang="en-US" sz="3730">
                <a:solidFill>
                  <a:srgbClr val="FFFFFF"/>
                </a:solidFill>
                <a:latin typeface="Public Sans"/>
                <a:ea typeface="Public Sans"/>
                <a:cs typeface="Public Sans"/>
                <a:sym typeface="Public Sans"/>
              </a:rPr>
              <a:t> – The heart signifies compassion and kindness, the handshake represents trust and cooperation, while the box symbolizes the donation, exchange, and sharing of resources within the community.</a:t>
            </a:r>
            <a:endParaRPr lang="en-US" sz="3730">
              <a:solidFill>
                <a:srgbClr val="FFFFFF"/>
              </a:solidFill>
              <a:latin typeface="Public Sans"/>
              <a:ea typeface="Public Sans"/>
              <a:cs typeface="Public Sans"/>
              <a:sym typeface="Public Sans"/>
            </a:endParaRPr>
          </a:p>
          <a:p>
            <a:pPr algn="ctr">
              <a:lnSpc>
                <a:spcPts val="4475"/>
              </a:lnSpc>
            </a:pPr>
          </a:p>
          <a:p>
            <a:pPr marL="805180" lvl="1" indent="-402590" algn="ctr">
              <a:lnSpc>
                <a:spcPts val="4475"/>
              </a:lnSpc>
              <a:buFont typeface="Arial" panose="020B0604020202020204"/>
              <a:buChar char="•"/>
            </a:pPr>
            <a:r>
              <a:rPr lang="en-US" sz="3730" b="1">
                <a:solidFill>
                  <a:srgbClr val="FFFFFF"/>
                </a:solidFill>
                <a:latin typeface="Public Sans Bold"/>
                <a:ea typeface="Public Sans Bold"/>
                <a:cs typeface="Public Sans Bold"/>
                <a:sym typeface="Public Sans Bold"/>
              </a:rPr>
              <a:t>People and Supporting Hands</a:t>
            </a:r>
            <a:r>
              <a:rPr lang="en-US" sz="3730">
                <a:solidFill>
                  <a:srgbClr val="FFFFFF"/>
                </a:solidFill>
                <a:latin typeface="Public Sans"/>
                <a:ea typeface="Public Sans"/>
                <a:cs typeface="Public Sans"/>
                <a:sym typeface="Public Sans"/>
              </a:rPr>
              <a:t>  – The two human figures on each side represent members of the community helping one another, while the hands beneath them symbolize support, care, and collective effort in uplifting those in need.</a:t>
            </a:r>
            <a:endParaRPr lang="en-US" sz="3730">
              <a:solidFill>
                <a:srgbClr val="FFFFFF"/>
              </a:solidFill>
              <a:latin typeface="Public Sans"/>
              <a:ea typeface="Public Sans"/>
              <a:cs typeface="Public Sans"/>
              <a:sym typeface="Public Sans"/>
            </a:endParaRPr>
          </a:p>
          <a:p>
            <a:pPr algn="ctr">
              <a:lnSpc>
                <a:spcPts val="4475"/>
              </a:lnSpc>
              <a:spcBef>
                <a:spcPct val="0"/>
              </a:spcBef>
            </a:pPr>
          </a:p>
        </p:txBody>
      </p:sp>
      <p:sp>
        <p:nvSpPr>
          <p:cNvPr id="4" name="TextBox 4"/>
          <p:cNvSpPr txBox="1"/>
          <p:nvPr/>
        </p:nvSpPr>
        <p:spPr>
          <a:xfrm>
            <a:off x="1981200" y="419100"/>
            <a:ext cx="4083050" cy="1146175"/>
          </a:xfrm>
          <a:prstGeom prst="rect">
            <a:avLst/>
          </a:prstGeom>
        </p:spPr>
        <p:txBody>
          <a:bodyPr wrap="square" lIns="0" tIns="0" rIns="0" bIns="0" rtlCol="0" anchor="t">
            <a:spAutoFit/>
          </a:bodyPr>
          <a:lstStyle/>
          <a:p>
            <a:pPr algn="ctr">
              <a:lnSpc>
                <a:spcPts val="8940"/>
              </a:lnSpc>
              <a:spcBef>
                <a:spcPct val="0"/>
              </a:spcBef>
            </a:pPr>
            <a:r>
              <a:rPr lang="en-US" sz="7450">
                <a:solidFill>
                  <a:srgbClr val="FFFFFF"/>
                </a:solidFill>
                <a:latin typeface="Hertical Rough"/>
                <a:ea typeface="Hertical Rough"/>
                <a:cs typeface="Hertical Rough"/>
                <a:sym typeface="Hertical Rough"/>
              </a:rPr>
              <a:t>LOGO</a:t>
            </a:r>
            <a:endParaRPr lang="en-US" sz="7450">
              <a:solidFill>
                <a:srgbClr val="FFFFFF"/>
              </a:solidFill>
              <a:latin typeface="Hertical Rough"/>
              <a:ea typeface="Hertical Rough"/>
              <a:cs typeface="Hertical Rough"/>
              <a:sym typeface="Hertical Rough"/>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5099392" y="7549696"/>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grpSp>
        <p:nvGrpSpPr>
          <p:cNvPr id="8" name="Group 8"/>
          <p:cNvGrpSpPr/>
          <p:nvPr/>
        </p:nvGrpSpPr>
        <p:grpSpPr>
          <a:xfrm rot="0">
            <a:off x="2450020" y="1745264"/>
            <a:ext cx="13356509" cy="7863442"/>
            <a:chOff x="0" y="0"/>
            <a:chExt cx="1950793" cy="1148500"/>
          </a:xfrm>
        </p:grpSpPr>
        <p:sp>
          <p:nvSpPr>
            <p:cNvPr id="9" name="Freeform 9"/>
            <p:cNvSpPr/>
            <p:nvPr/>
          </p:nvSpPr>
          <p:spPr>
            <a:xfrm rot="-5400000">
              <a:off x="401147" y="-401147"/>
              <a:ext cx="1148500" cy="1950793"/>
            </a:xfrm>
            <a:custGeom>
              <a:avLst/>
              <a:gdLst/>
              <a:ahLst/>
              <a:cxnLst/>
              <a:rect l="l" t="t" r="r" b="b"/>
              <a:pathLst>
                <a:path w="1148500" h="1950793">
                  <a:moveTo>
                    <a:pt x="1148499" y="0"/>
                  </a:moveTo>
                  <a:lnTo>
                    <a:pt x="1148499" y="1950793"/>
                  </a:lnTo>
                  <a:lnTo>
                    <a:pt x="0" y="1950793"/>
                  </a:lnTo>
                  <a:lnTo>
                    <a:pt x="0" y="0"/>
                  </a:lnTo>
                  <a:close/>
                </a:path>
              </a:pathLst>
            </a:custGeom>
            <a:blipFill>
              <a:blip r:embed="rId1"/>
              <a:stretch>
                <a:fillRect l="-13695" r="-13695"/>
              </a:stretch>
            </a:blipFill>
          </p:spPr>
        </p:sp>
      </p:grpSp>
      <p:sp>
        <p:nvSpPr>
          <p:cNvPr id="10" name="TextBox 10"/>
          <p:cNvSpPr txBox="1"/>
          <p:nvPr/>
        </p:nvSpPr>
        <p:spPr>
          <a:xfrm>
            <a:off x="3825240" y="495300"/>
            <a:ext cx="10606405" cy="1200785"/>
          </a:xfrm>
          <a:prstGeom prst="rect">
            <a:avLst/>
          </a:prstGeom>
        </p:spPr>
        <p:txBody>
          <a:bodyPr wrap="square"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LOW FIDELITY</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5099392" y="7549696"/>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sp>
        <p:nvSpPr>
          <p:cNvPr id="10" name="TextBox 10"/>
          <p:cNvSpPr txBox="1"/>
          <p:nvPr/>
        </p:nvSpPr>
        <p:spPr>
          <a:xfrm>
            <a:off x="2667000" y="647700"/>
            <a:ext cx="13354685" cy="1200785"/>
          </a:xfrm>
          <a:prstGeom prst="rect">
            <a:avLst/>
          </a:prstGeom>
        </p:spPr>
        <p:txBody>
          <a:bodyPr wrap="square"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LOW FIDELITY</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pic>
        <p:nvPicPr>
          <p:cNvPr id="17" name="Picture 16" descr="235 (1)"/>
          <p:cNvPicPr>
            <a:picLocks noChangeAspect="1"/>
          </p:cNvPicPr>
          <p:nvPr/>
        </p:nvPicPr>
        <p:blipFill>
          <a:blip r:embed="rId1"/>
          <a:stretch>
            <a:fillRect/>
          </a:stretch>
        </p:blipFill>
        <p:spPr>
          <a:xfrm>
            <a:off x="2438400" y="1866900"/>
            <a:ext cx="13173710" cy="80283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5099392" y="7549696"/>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grpSp>
        <p:nvGrpSpPr>
          <p:cNvPr id="8" name="Group 8"/>
          <p:cNvGrpSpPr/>
          <p:nvPr/>
        </p:nvGrpSpPr>
        <p:grpSpPr>
          <a:xfrm rot="0">
            <a:off x="2465745" y="1906486"/>
            <a:ext cx="13356509" cy="7513036"/>
            <a:chOff x="0" y="0"/>
            <a:chExt cx="1950793" cy="1097321"/>
          </a:xfrm>
        </p:grpSpPr>
        <p:sp>
          <p:nvSpPr>
            <p:cNvPr id="9" name="Freeform 9"/>
            <p:cNvSpPr/>
            <p:nvPr/>
          </p:nvSpPr>
          <p:spPr>
            <a:xfrm>
              <a:off x="0" y="0"/>
              <a:ext cx="1950793" cy="1097321"/>
            </a:xfrm>
            <a:custGeom>
              <a:avLst/>
              <a:gdLst/>
              <a:ahLst/>
              <a:cxnLst/>
              <a:rect l="l" t="t" r="r" b="b"/>
              <a:pathLst>
                <a:path w="1950793" h="1097321">
                  <a:moveTo>
                    <a:pt x="0" y="0"/>
                  </a:moveTo>
                  <a:lnTo>
                    <a:pt x="1950793" y="0"/>
                  </a:lnTo>
                  <a:lnTo>
                    <a:pt x="1950793" y="1097321"/>
                  </a:lnTo>
                  <a:lnTo>
                    <a:pt x="0" y="1097321"/>
                  </a:lnTo>
                  <a:close/>
                </a:path>
              </a:pathLst>
            </a:custGeom>
            <a:blipFill>
              <a:blip r:embed="rId1"/>
              <a:stretch>
                <a:fillRect t="-10740" b="-10740"/>
              </a:stretch>
            </a:blipFill>
          </p:spPr>
        </p:sp>
      </p:grpSp>
      <p:sp>
        <p:nvSpPr>
          <p:cNvPr id="10" name="TextBox 10"/>
          <p:cNvSpPr txBox="1"/>
          <p:nvPr/>
        </p:nvSpPr>
        <p:spPr>
          <a:xfrm>
            <a:off x="2667000" y="647700"/>
            <a:ext cx="13354685" cy="1200785"/>
          </a:xfrm>
          <a:prstGeom prst="rect">
            <a:avLst/>
          </a:prstGeom>
        </p:spPr>
        <p:txBody>
          <a:bodyPr wrap="square"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LOW FIDELITY</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5099392" y="7549696"/>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sp>
        <p:nvSpPr>
          <p:cNvPr id="8" name="TextBox 8"/>
          <p:cNvSpPr txBox="1"/>
          <p:nvPr/>
        </p:nvSpPr>
        <p:spPr>
          <a:xfrm>
            <a:off x="5214620" y="342900"/>
            <a:ext cx="9553575" cy="1200785"/>
          </a:xfrm>
          <a:prstGeom prst="rect">
            <a:avLst/>
          </a:prstGeom>
        </p:spPr>
        <p:txBody>
          <a:bodyPr wrap="square"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Methodology</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grpSp>
        <p:nvGrpSpPr>
          <p:cNvPr id="9" name="Group 9"/>
          <p:cNvGrpSpPr/>
          <p:nvPr/>
        </p:nvGrpSpPr>
        <p:grpSpPr>
          <a:xfrm rot="0">
            <a:off x="1113387" y="1604315"/>
            <a:ext cx="16427263" cy="8543935"/>
            <a:chOff x="0" y="0"/>
            <a:chExt cx="21903017" cy="11391913"/>
          </a:xfrm>
        </p:grpSpPr>
        <p:sp>
          <p:nvSpPr>
            <p:cNvPr id="10" name="Freeform 10"/>
            <p:cNvSpPr/>
            <p:nvPr/>
          </p:nvSpPr>
          <p:spPr>
            <a:xfrm>
              <a:off x="0" y="0"/>
              <a:ext cx="21902928" cy="11391900"/>
            </a:xfrm>
            <a:custGeom>
              <a:avLst/>
              <a:gdLst/>
              <a:ahLst/>
              <a:cxnLst/>
              <a:rect l="l" t="t" r="r" b="b"/>
              <a:pathLst>
                <a:path w="21902928" h="11391900">
                  <a:moveTo>
                    <a:pt x="0" y="1898650"/>
                  </a:moveTo>
                  <a:cubicBezTo>
                    <a:pt x="0" y="850011"/>
                    <a:pt x="850011" y="0"/>
                    <a:pt x="1898650" y="0"/>
                  </a:cubicBezTo>
                  <a:lnTo>
                    <a:pt x="20004278" y="0"/>
                  </a:lnTo>
                  <a:cubicBezTo>
                    <a:pt x="21052917" y="0"/>
                    <a:pt x="21902928" y="850011"/>
                    <a:pt x="21902928" y="1898650"/>
                  </a:cubicBezTo>
                  <a:lnTo>
                    <a:pt x="21902928" y="9493250"/>
                  </a:lnTo>
                  <a:cubicBezTo>
                    <a:pt x="21902928" y="10541889"/>
                    <a:pt x="21052917" y="11391900"/>
                    <a:pt x="20004278" y="11391900"/>
                  </a:cubicBezTo>
                  <a:lnTo>
                    <a:pt x="1898650" y="11391900"/>
                  </a:lnTo>
                  <a:cubicBezTo>
                    <a:pt x="850011" y="11391900"/>
                    <a:pt x="0" y="10541889"/>
                    <a:pt x="0" y="9493250"/>
                  </a:cubicBezTo>
                  <a:close/>
                </a:path>
              </a:pathLst>
            </a:custGeom>
            <a:solidFill>
              <a:srgbClr val="1E3050"/>
            </a:solidFill>
            <a:ln w="28597" cap="sq">
              <a:solidFill>
                <a:srgbClr val="FBBF24"/>
              </a:solidFill>
              <a:prstDash val="solid"/>
              <a:miter/>
            </a:ln>
          </p:spPr>
        </p:sp>
      </p:grpSp>
      <p:sp>
        <p:nvSpPr>
          <p:cNvPr id="11" name="TextBox 11"/>
          <p:cNvSpPr txBox="1"/>
          <p:nvPr/>
        </p:nvSpPr>
        <p:spPr>
          <a:xfrm>
            <a:off x="1772989" y="2940520"/>
            <a:ext cx="16436940" cy="3696335"/>
          </a:xfrm>
          <a:prstGeom prst="rect">
            <a:avLst/>
          </a:prstGeom>
        </p:spPr>
        <p:txBody>
          <a:bodyPr lIns="0" tIns="0" rIns="0" bIns="0" rtlCol="0" anchor="t">
            <a:spAutoFit/>
          </a:bodyPr>
          <a:lstStyle/>
          <a:p>
            <a:pPr algn="l">
              <a:lnSpc>
                <a:spcPts val="5765"/>
              </a:lnSpc>
            </a:pPr>
            <a:r>
              <a:rPr lang="en-US" sz="4805" b="1">
                <a:solidFill>
                  <a:srgbClr val="FFFFFF"/>
                </a:solidFill>
                <a:latin typeface="Arial Bold" panose="020B0704020202020204"/>
                <a:ea typeface="Arial Bold" panose="020B0704020202020204"/>
                <a:cs typeface="Arial Bold" panose="020B0704020202020204"/>
                <a:sym typeface="Arial Bold" panose="020B0704020202020204"/>
              </a:rPr>
              <a:t>IT Specialist:  AM Mc Bryan C. Amen PAF</a:t>
            </a:r>
            <a:endParaRPr lang="en-US" sz="4805" b="1">
              <a:solidFill>
                <a:srgbClr val="FFFFFF"/>
              </a:solidFill>
              <a:latin typeface="Arial Bold" panose="020B0704020202020204"/>
              <a:ea typeface="Arial Bold" panose="020B0704020202020204"/>
              <a:cs typeface="Arial Bold" panose="020B0704020202020204"/>
              <a:sym typeface="Arial Bold" panose="020B0704020202020204"/>
            </a:endParaRPr>
          </a:p>
          <a:p>
            <a:pPr algn="l">
              <a:lnSpc>
                <a:spcPts val="5765"/>
              </a:lnSpc>
            </a:pPr>
            <a:r>
              <a:rPr lang="en-US" sz="4805" b="1">
                <a:solidFill>
                  <a:srgbClr val="FFFFFF"/>
                </a:solidFill>
                <a:latin typeface="Arial Bold" panose="020B0704020202020204"/>
                <a:ea typeface="Arial Bold" panose="020B0704020202020204"/>
                <a:cs typeface="Arial Bold" panose="020B0704020202020204"/>
                <a:sym typeface="Arial Bold" panose="020B0704020202020204"/>
              </a:rPr>
              <a:t>End  User: SGT. Larjollene A. Dimaculangan PAF, FO1 Reynald B Carolino</a:t>
            </a:r>
            <a:endParaRPr lang="en-US" sz="4805" b="1">
              <a:solidFill>
                <a:srgbClr val="FFFFFF"/>
              </a:solidFill>
              <a:latin typeface="Arial Bold" panose="020B0704020202020204"/>
              <a:ea typeface="Arial Bold" panose="020B0704020202020204"/>
              <a:cs typeface="Arial Bold" panose="020B0704020202020204"/>
              <a:sym typeface="Arial Bold" panose="020B0704020202020204"/>
            </a:endParaRPr>
          </a:p>
          <a:p>
            <a:pPr algn="l">
              <a:lnSpc>
                <a:spcPts val="5765"/>
              </a:lnSpc>
            </a:pPr>
            <a:r>
              <a:rPr lang="en-US" sz="4805" b="1">
                <a:solidFill>
                  <a:srgbClr val="FFFFFF"/>
                </a:solidFill>
                <a:latin typeface="Arial Bold" panose="020B0704020202020204"/>
                <a:ea typeface="Arial Bold" panose="020B0704020202020204"/>
                <a:cs typeface="Arial Bold" panose="020B0704020202020204"/>
                <a:sym typeface="Arial Bold" panose="020B0704020202020204"/>
              </a:rPr>
              <a:t>Main Client: Brgy. Captain Lauro A. Ancheta </a:t>
            </a:r>
            <a:endParaRPr lang="en-US" sz="4805" b="1">
              <a:solidFill>
                <a:srgbClr val="FFFFFF"/>
              </a:solidFill>
              <a:latin typeface="Arial Bold" panose="020B0704020202020204"/>
              <a:ea typeface="Arial Bold" panose="020B0704020202020204"/>
              <a:cs typeface="Arial Bold" panose="020B0704020202020204"/>
              <a:sym typeface="Arial Bold" panose="020B0704020202020204"/>
            </a:endParaRPr>
          </a:p>
          <a:p>
            <a:pPr algn="l">
              <a:lnSpc>
                <a:spcPts val="5765"/>
              </a:lnSpc>
            </a:pPr>
          </a:p>
        </p:txBody>
      </p:sp>
      <p:sp>
        <p:nvSpPr>
          <p:cNvPr id="12" name="TextBox 12"/>
          <p:cNvSpPr txBox="1"/>
          <p:nvPr/>
        </p:nvSpPr>
        <p:spPr>
          <a:xfrm>
            <a:off x="1772989" y="1740370"/>
            <a:ext cx="12438609" cy="942975"/>
          </a:xfrm>
          <a:prstGeom prst="rect">
            <a:avLst/>
          </a:prstGeom>
        </p:spPr>
        <p:txBody>
          <a:bodyPr lIns="0" tIns="0" rIns="0" bIns="0" rtlCol="0" anchor="t">
            <a:spAutoFit/>
          </a:bodyPr>
          <a:lstStyle/>
          <a:p>
            <a:pPr algn="l">
              <a:lnSpc>
                <a:spcPts val="7205"/>
              </a:lnSpc>
            </a:pPr>
            <a:r>
              <a:rPr lang="en-US" sz="6005" b="1">
                <a:solidFill>
                  <a:srgbClr val="FBBF24"/>
                </a:solidFill>
                <a:latin typeface="Arial Bold" panose="020B0704020202020204"/>
                <a:ea typeface="Arial Bold" panose="020B0704020202020204"/>
                <a:cs typeface="Arial Bold" panose="020B0704020202020204"/>
                <a:sym typeface="Arial Bold" panose="020B0704020202020204"/>
              </a:rPr>
              <a:t>Who is our participants?</a:t>
            </a:r>
            <a:endParaRPr lang="en-US" sz="6005" b="1">
              <a:solidFill>
                <a:srgbClr val="FBBF24"/>
              </a:solidFill>
              <a:latin typeface="Arial Bold" panose="020B0704020202020204"/>
              <a:ea typeface="Arial Bold" panose="020B0704020202020204"/>
              <a:cs typeface="Arial Bold" panose="020B0704020202020204"/>
              <a:sym typeface="Arial Bold" panose="020B0704020202020204"/>
            </a:endParaRPr>
          </a:p>
        </p:txBody>
      </p:sp>
      <p:sp>
        <p:nvSpPr>
          <p:cNvPr id="13" name="TextBox 13"/>
          <p:cNvSpPr txBox="1"/>
          <p:nvPr/>
        </p:nvSpPr>
        <p:spPr>
          <a:xfrm>
            <a:off x="1772989" y="5962960"/>
            <a:ext cx="7886204" cy="857250"/>
          </a:xfrm>
          <a:prstGeom prst="rect">
            <a:avLst/>
          </a:prstGeom>
        </p:spPr>
        <p:txBody>
          <a:bodyPr lIns="0" tIns="0" rIns="0" bIns="0" rtlCol="0" anchor="t">
            <a:spAutoFit/>
          </a:bodyPr>
          <a:lstStyle/>
          <a:p>
            <a:pPr algn="ctr">
              <a:lnSpc>
                <a:spcPts val="6540"/>
              </a:lnSpc>
              <a:spcBef>
                <a:spcPct val="0"/>
              </a:spcBef>
            </a:pPr>
            <a:r>
              <a:rPr lang="en-US" sz="5450" b="1">
                <a:solidFill>
                  <a:srgbClr val="FBBF24"/>
                </a:solidFill>
                <a:latin typeface="Arial Bold" panose="020B0704020202020204"/>
                <a:ea typeface="Arial Bold" panose="020B0704020202020204"/>
                <a:cs typeface="Arial Bold" panose="020B0704020202020204"/>
                <a:sym typeface="Arial Bold" panose="020B0704020202020204"/>
              </a:rPr>
              <a:t>Why they were chosen?</a:t>
            </a:r>
            <a:endParaRPr lang="en-US" sz="5450" b="1">
              <a:solidFill>
                <a:srgbClr val="FBBF24"/>
              </a:solidFill>
              <a:latin typeface="Arial Bold" panose="020B0704020202020204"/>
              <a:ea typeface="Arial Bold" panose="020B0704020202020204"/>
              <a:cs typeface="Arial Bold" panose="020B0704020202020204"/>
              <a:sym typeface="Arial Bold" panose="020B0704020202020204"/>
            </a:endParaRPr>
          </a:p>
        </p:txBody>
      </p:sp>
      <p:sp>
        <p:nvSpPr>
          <p:cNvPr id="14" name="TextBox 14"/>
          <p:cNvSpPr txBox="1"/>
          <p:nvPr/>
        </p:nvSpPr>
        <p:spPr>
          <a:xfrm>
            <a:off x="1851060" y="6820210"/>
            <a:ext cx="15307342" cy="2190750"/>
          </a:xfrm>
          <a:prstGeom prst="rect">
            <a:avLst/>
          </a:prstGeom>
        </p:spPr>
        <p:txBody>
          <a:bodyPr lIns="0" tIns="0" rIns="0" bIns="0" rtlCol="0" anchor="t">
            <a:spAutoFit/>
          </a:bodyPr>
          <a:lstStyle/>
          <a:p>
            <a:pPr algn="just">
              <a:lnSpc>
                <a:spcPts val="5765"/>
              </a:lnSpc>
            </a:pPr>
            <a:r>
              <a:rPr lang="en-US" sz="4805" b="1">
                <a:solidFill>
                  <a:srgbClr val="FFFFFF"/>
                </a:solidFill>
                <a:latin typeface="Arial Bold" panose="020B0704020202020204"/>
                <a:ea typeface="Arial Bold" panose="020B0704020202020204"/>
                <a:cs typeface="Arial Bold" panose="020B0704020202020204"/>
                <a:sym typeface="Arial Bold" panose="020B0704020202020204"/>
              </a:rPr>
              <a:t>They were chosen because the Main Client and End-User will directly benefit from this project</a:t>
            </a:r>
            <a:r>
              <a:rPr lang="en-US" sz="4805" b="1">
                <a:solidFill>
                  <a:srgbClr val="FFFFFF"/>
                </a:solidFill>
                <a:latin typeface="Arial Bold" panose="020B0704020202020204"/>
                <a:ea typeface="Arial Bold" panose="020B0704020202020204"/>
                <a:cs typeface="Arial Bold" panose="020B0704020202020204"/>
                <a:sym typeface="Arial Bold" panose="020B0704020202020204"/>
              </a:rPr>
              <a:t>. Also, they are all from the municipality of Tubao.</a:t>
            </a:r>
            <a:endParaRPr lang="en-US" sz="4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5" name="TextBox 8"/>
          <p:cNvSpPr txBox="1"/>
          <p:nvPr/>
        </p:nvSpPr>
        <p:spPr>
          <a:xfrm>
            <a:off x="9144000" y="8343900"/>
            <a:ext cx="7981950" cy="1200785"/>
          </a:xfrm>
          <a:prstGeom prst="rect">
            <a:avLst/>
          </a:prstGeom>
        </p:spPr>
        <p:txBody>
          <a:bodyPr wrap="square" lIns="0" tIns="0" rIns="0" bIns="0" rtlCol="0" anchor="t">
            <a:spAutoFit/>
          </a:bodyPr>
          <a:lstStyle/>
          <a:p>
            <a:pPr algn="ctr">
              <a:lnSpc>
                <a:spcPts val="9365"/>
              </a:lnSpc>
            </a:pPr>
            <a:r>
              <a:rPr lang="en-US" sz="3200" b="1">
                <a:solidFill>
                  <a:srgbClr val="FFFFFF"/>
                </a:solidFill>
                <a:latin typeface="Arial Bold" panose="020B0704020202020204"/>
                <a:ea typeface="Arial Bold" panose="020B0704020202020204"/>
                <a:cs typeface="Arial Bold" panose="020B0704020202020204"/>
                <a:sym typeface="Arial Bold" panose="020B0704020202020204"/>
              </a:rPr>
              <a:t>Jehosue</a:t>
            </a:r>
            <a:endParaRPr lang="en-US" sz="320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5099392" y="7549696"/>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sp>
        <p:nvSpPr>
          <p:cNvPr id="8" name="TextBox 8"/>
          <p:cNvSpPr txBox="1"/>
          <p:nvPr/>
        </p:nvSpPr>
        <p:spPr>
          <a:xfrm>
            <a:off x="6044565" y="270510"/>
            <a:ext cx="7205980" cy="1200785"/>
          </a:xfrm>
          <a:prstGeom prst="rect">
            <a:avLst/>
          </a:prstGeom>
        </p:spPr>
        <p:txBody>
          <a:bodyPr wrap="square"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Methodology</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grpSp>
        <p:nvGrpSpPr>
          <p:cNvPr id="9" name="Group 9"/>
          <p:cNvGrpSpPr/>
          <p:nvPr/>
        </p:nvGrpSpPr>
        <p:grpSpPr>
          <a:xfrm rot="0">
            <a:off x="1113387" y="1604315"/>
            <a:ext cx="16427263" cy="8543935"/>
            <a:chOff x="0" y="0"/>
            <a:chExt cx="21903017" cy="11391913"/>
          </a:xfrm>
        </p:grpSpPr>
        <p:sp>
          <p:nvSpPr>
            <p:cNvPr id="10" name="Freeform 10"/>
            <p:cNvSpPr/>
            <p:nvPr/>
          </p:nvSpPr>
          <p:spPr>
            <a:xfrm>
              <a:off x="0" y="0"/>
              <a:ext cx="21902928" cy="11391900"/>
            </a:xfrm>
            <a:custGeom>
              <a:avLst/>
              <a:gdLst/>
              <a:ahLst/>
              <a:cxnLst/>
              <a:rect l="l" t="t" r="r" b="b"/>
              <a:pathLst>
                <a:path w="21902928" h="11391900">
                  <a:moveTo>
                    <a:pt x="0" y="1898650"/>
                  </a:moveTo>
                  <a:cubicBezTo>
                    <a:pt x="0" y="850011"/>
                    <a:pt x="850011" y="0"/>
                    <a:pt x="1898650" y="0"/>
                  </a:cubicBezTo>
                  <a:lnTo>
                    <a:pt x="20004278" y="0"/>
                  </a:lnTo>
                  <a:cubicBezTo>
                    <a:pt x="21052917" y="0"/>
                    <a:pt x="21902928" y="850011"/>
                    <a:pt x="21902928" y="1898650"/>
                  </a:cubicBezTo>
                  <a:lnTo>
                    <a:pt x="21902928" y="9493250"/>
                  </a:lnTo>
                  <a:cubicBezTo>
                    <a:pt x="21902928" y="10541889"/>
                    <a:pt x="21052917" y="11391900"/>
                    <a:pt x="20004278" y="11391900"/>
                  </a:cubicBezTo>
                  <a:lnTo>
                    <a:pt x="1898650" y="11391900"/>
                  </a:lnTo>
                  <a:cubicBezTo>
                    <a:pt x="850011" y="11391900"/>
                    <a:pt x="0" y="10541889"/>
                    <a:pt x="0" y="9493250"/>
                  </a:cubicBezTo>
                  <a:close/>
                </a:path>
              </a:pathLst>
            </a:custGeom>
            <a:solidFill>
              <a:srgbClr val="1E3050"/>
            </a:solidFill>
            <a:ln w="28597" cap="sq">
              <a:solidFill>
                <a:srgbClr val="FBBF24"/>
              </a:solidFill>
              <a:prstDash val="solid"/>
              <a:miter/>
            </a:ln>
          </p:spPr>
        </p:sp>
      </p:grpSp>
      <p:sp>
        <p:nvSpPr>
          <p:cNvPr id="11" name="TextBox 11"/>
          <p:cNvSpPr txBox="1"/>
          <p:nvPr/>
        </p:nvSpPr>
        <p:spPr>
          <a:xfrm>
            <a:off x="1772989" y="2940520"/>
            <a:ext cx="14865987" cy="2910840"/>
          </a:xfrm>
          <a:prstGeom prst="rect">
            <a:avLst/>
          </a:prstGeom>
        </p:spPr>
        <p:txBody>
          <a:bodyPr lIns="0" tIns="0" rIns="0" bIns="0" rtlCol="0" anchor="t">
            <a:spAutoFit/>
          </a:bodyPr>
          <a:lstStyle/>
          <a:p>
            <a:pPr marL="1021080" lvl="1" indent="-510540" algn="l">
              <a:lnSpc>
                <a:spcPts val="5675"/>
              </a:lnSpc>
              <a:buFont typeface="Arial" panose="020B0604020202020204"/>
              <a:buChar char="•"/>
            </a:pPr>
            <a:r>
              <a:rPr lang="en-US" sz="4730" b="1">
                <a:solidFill>
                  <a:srgbClr val="FFFFFF"/>
                </a:solidFill>
                <a:latin typeface="Arial Bold" panose="020B0704020202020204"/>
                <a:ea typeface="Arial Bold" panose="020B0704020202020204"/>
                <a:cs typeface="Arial Bold" panose="020B0704020202020204"/>
                <a:sym typeface="Arial Bold" panose="020B0704020202020204"/>
              </a:rPr>
              <a:t>We recruit the I.T Specialist by recommendation from our end-user.</a:t>
            </a:r>
            <a:endParaRPr lang="en-US" sz="4730" b="1">
              <a:solidFill>
                <a:srgbClr val="FFFFFF"/>
              </a:solidFill>
              <a:latin typeface="Arial Bold" panose="020B0704020202020204"/>
              <a:ea typeface="Arial Bold" panose="020B0704020202020204"/>
              <a:cs typeface="Arial Bold" panose="020B0704020202020204"/>
              <a:sym typeface="Arial Bold" panose="020B0704020202020204"/>
            </a:endParaRPr>
          </a:p>
          <a:p>
            <a:pPr marL="1021080" lvl="1" indent="-510540" algn="l">
              <a:lnSpc>
                <a:spcPts val="5675"/>
              </a:lnSpc>
              <a:buFont typeface="Arial" panose="020B0604020202020204"/>
              <a:buChar char="•"/>
            </a:pPr>
            <a:r>
              <a:rPr lang="en-US" sz="4730" b="1">
                <a:solidFill>
                  <a:srgbClr val="FFFFFF"/>
                </a:solidFill>
                <a:latin typeface="Arial Bold" panose="020B0704020202020204"/>
                <a:ea typeface="Arial Bold" panose="020B0704020202020204"/>
                <a:cs typeface="Arial Bold" panose="020B0704020202020204"/>
                <a:sym typeface="Arial Bold" panose="020B0704020202020204"/>
              </a:rPr>
              <a:t>The Main Client and End-user are related to one of our member.</a:t>
            </a:r>
            <a:endParaRPr lang="en-US" sz="473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2" name="TextBox 12"/>
          <p:cNvSpPr txBox="1"/>
          <p:nvPr/>
        </p:nvSpPr>
        <p:spPr>
          <a:xfrm>
            <a:off x="1772989" y="1740370"/>
            <a:ext cx="12438609" cy="942975"/>
          </a:xfrm>
          <a:prstGeom prst="rect">
            <a:avLst/>
          </a:prstGeom>
        </p:spPr>
        <p:txBody>
          <a:bodyPr lIns="0" tIns="0" rIns="0" bIns="0" rtlCol="0" anchor="t">
            <a:spAutoFit/>
          </a:bodyPr>
          <a:lstStyle/>
          <a:p>
            <a:pPr algn="l">
              <a:lnSpc>
                <a:spcPts val="7205"/>
              </a:lnSpc>
            </a:pPr>
            <a:r>
              <a:rPr lang="en-US" sz="6005" b="1">
                <a:solidFill>
                  <a:srgbClr val="FBBF24"/>
                </a:solidFill>
                <a:latin typeface="Arial Bold" panose="020B0704020202020204"/>
                <a:ea typeface="Arial Bold" panose="020B0704020202020204"/>
                <a:cs typeface="Arial Bold" panose="020B0704020202020204"/>
                <a:sym typeface="Arial Bold" panose="020B0704020202020204"/>
              </a:rPr>
              <a:t>How they were recruited?</a:t>
            </a:r>
            <a:endParaRPr lang="en-US" sz="6005" b="1">
              <a:solidFill>
                <a:srgbClr val="FBBF24"/>
              </a:solidFill>
              <a:latin typeface="Arial Bold" panose="020B0704020202020204"/>
              <a:ea typeface="Arial Bold" panose="020B0704020202020204"/>
              <a:cs typeface="Arial Bold" panose="020B0704020202020204"/>
              <a:sym typeface="Arial Bold" panose="020B0704020202020204"/>
            </a:endParaRPr>
          </a:p>
        </p:txBody>
      </p:sp>
      <p:sp>
        <p:nvSpPr>
          <p:cNvPr id="13" name="TextBox 13"/>
          <p:cNvSpPr txBox="1"/>
          <p:nvPr/>
        </p:nvSpPr>
        <p:spPr>
          <a:xfrm>
            <a:off x="609600" y="5851525"/>
            <a:ext cx="11477625" cy="838200"/>
          </a:xfrm>
          <a:prstGeom prst="rect">
            <a:avLst/>
          </a:prstGeom>
        </p:spPr>
        <p:txBody>
          <a:bodyPr wrap="square" lIns="0" tIns="0" rIns="0" bIns="0" rtlCol="0" anchor="t">
            <a:spAutoFit/>
          </a:bodyPr>
          <a:lstStyle/>
          <a:p>
            <a:pPr algn="ctr">
              <a:lnSpc>
                <a:spcPts val="6540"/>
              </a:lnSpc>
              <a:spcBef>
                <a:spcPct val="0"/>
              </a:spcBef>
            </a:pPr>
            <a:r>
              <a:rPr lang="en-US" sz="5450" b="1">
                <a:solidFill>
                  <a:srgbClr val="FBBF24"/>
                </a:solidFill>
                <a:latin typeface="Arial Bold" panose="020B0704020202020204"/>
                <a:ea typeface="Arial Bold" panose="020B0704020202020204"/>
                <a:cs typeface="Arial Bold" panose="020B0704020202020204"/>
                <a:sym typeface="Arial Bold" panose="020B0704020202020204"/>
              </a:rPr>
              <a:t>Where they were interviewed?</a:t>
            </a:r>
            <a:endParaRPr lang="en-US" sz="5450" b="1">
              <a:solidFill>
                <a:srgbClr val="FBBF24"/>
              </a:solidFill>
              <a:latin typeface="Arial Bold" panose="020B0704020202020204"/>
              <a:ea typeface="Arial Bold" panose="020B0704020202020204"/>
              <a:cs typeface="Arial Bold" panose="020B0704020202020204"/>
              <a:sym typeface="Arial Bold" panose="020B0704020202020204"/>
            </a:endParaRPr>
          </a:p>
        </p:txBody>
      </p:sp>
      <p:sp>
        <p:nvSpPr>
          <p:cNvPr id="14" name="TextBox 14"/>
          <p:cNvSpPr txBox="1"/>
          <p:nvPr/>
        </p:nvSpPr>
        <p:spPr>
          <a:xfrm>
            <a:off x="2233308" y="7067550"/>
            <a:ext cx="14925094" cy="2190750"/>
          </a:xfrm>
          <a:prstGeom prst="rect">
            <a:avLst/>
          </a:prstGeom>
        </p:spPr>
        <p:txBody>
          <a:bodyPr lIns="0" tIns="0" rIns="0" bIns="0" rtlCol="0" anchor="t">
            <a:spAutoFit/>
          </a:bodyPr>
          <a:lstStyle/>
          <a:p>
            <a:pPr algn="just">
              <a:lnSpc>
                <a:spcPts val="5765"/>
              </a:lnSpc>
            </a:pPr>
            <a:r>
              <a:rPr lang="en-US" sz="4805" b="1">
                <a:solidFill>
                  <a:srgbClr val="FFFFFF"/>
                </a:solidFill>
                <a:latin typeface="Arial Bold" panose="020B0704020202020204"/>
                <a:ea typeface="Arial Bold" panose="020B0704020202020204"/>
                <a:cs typeface="Arial Bold" panose="020B0704020202020204"/>
                <a:sym typeface="Arial Bold" panose="020B0704020202020204"/>
              </a:rPr>
              <a:t>The IT Specialist was interviewed online through Zoom. Meanwhile, the main client and end-users were interviewed face-to-face. </a:t>
            </a:r>
            <a:endParaRPr lang="en-US" sz="4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2"/>
          <p:cNvSpPr txBox="1"/>
          <p:nvPr/>
        </p:nvSpPr>
        <p:spPr>
          <a:xfrm>
            <a:off x="4724470" y="190710"/>
            <a:ext cx="8811419" cy="1219200"/>
          </a:xfrm>
          <a:prstGeom prst="rect">
            <a:avLst/>
          </a:prstGeom>
        </p:spPr>
        <p:txBody>
          <a:bodyPr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DOCUMENTATION</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grpSp>
        <p:nvGrpSpPr>
          <p:cNvPr id="3" name="Group 3"/>
          <p:cNvGrpSpPr/>
          <p:nvPr/>
        </p:nvGrpSpPr>
        <p:grpSpPr>
          <a:xfrm rot="0">
            <a:off x="685800" y="1409700"/>
            <a:ext cx="5461635" cy="3855720"/>
            <a:chOff x="-60612" y="325535"/>
            <a:chExt cx="10005314" cy="5490718"/>
          </a:xfrm>
        </p:grpSpPr>
        <p:sp>
          <p:nvSpPr>
            <p:cNvPr id="4" name="Freeform 4"/>
            <p:cNvSpPr/>
            <p:nvPr/>
          </p:nvSpPr>
          <p:spPr>
            <a:xfrm>
              <a:off x="-60612" y="325535"/>
              <a:ext cx="10005314" cy="5490718"/>
            </a:xfrm>
            <a:custGeom>
              <a:avLst/>
              <a:gdLst/>
              <a:ahLst/>
              <a:cxnLst/>
              <a:rect l="l" t="t" r="r" b="b"/>
              <a:pathLst>
                <a:path w="10005314" h="5490718">
                  <a:moveTo>
                    <a:pt x="0" y="0"/>
                  </a:moveTo>
                  <a:lnTo>
                    <a:pt x="10005314" y="0"/>
                  </a:lnTo>
                  <a:lnTo>
                    <a:pt x="10005314" y="5490718"/>
                  </a:lnTo>
                  <a:lnTo>
                    <a:pt x="0" y="5490718"/>
                  </a:lnTo>
                  <a:lnTo>
                    <a:pt x="0" y="0"/>
                  </a:lnTo>
                  <a:close/>
                </a:path>
              </a:pathLst>
            </a:custGeom>
            <a:blipFill>
              <a:blip r:embed="rId1"/>
              <a:stretch>
                <a:fillRect l="-14709" t="-8277" r="-15407" b="-25028"/>
              </a:stretch>
            </a:blipFill>
          </p:spPr>
          <p:txBody>
            <a:bodyPr/>
            <a:p>
              <a:endParaRPr lang="en-US"/>
            </a:p>
          </p:txBody>
        </p:sp>
      </p:grpSp>
      <p:grpSp>
        <p:nvGrpSpPr>
          <p:cNvPr id="5" name="Group 5"/>
          <p:cNvGrpSpPr/>
          <p:nvPr/>
        </p:nvGrpSpPr>
        <p:grpSpPr>
          <a:xfrm rot="0">
            <a:off x="760095" y="6438900"/>
            <a:ext cx="5386070" cy="3434715"/>
            <a:chOff x="-20518" y="2098064"/>
            <a:chExt cx="9232900" cy="4642273"/>
          </a:xfrm>
        </p:grpSpPr>
        <p:sp>
          <p:nvSpPr>
            <p:cNvPr id="6" name="Freeform 6"/>
            <p:cNvSpPr/>
            <p:nvPr/>
          </p:nvSpPr>
          <p:spPr>
            <a:xfrm>
              <a:off x="-20518" y="2098064"/>
              <a:ext cx="9232900" cy="4642273"/>
            </a:xfrm>
            <a:custGeom>
              <a:avLst/>
              <a:gdLst/>
              <a:ahLst/>
              <a:cxnLst/>
              <a:rect l="l" t="t" r="r" b="b"/>
              <a:pathLst>
                <a:path w="12445619" h="5570728">
                  <a:moveTo>
                    <a:pt x="0" y="0"/>
                  </a:moveTo>
                  <a:lnTo>
                    <a:pt x="12445619" y="0"/>
                  </a:lnTo>
                  <a:lnTo>
                    <a:pt x="12445619" y="5570728"/>
                  </a:lnTo>
                  <a:lnTo>
                    <a:pt x="0" y="5570728"/>
                  </a:lnTo>
                  <a:lnTo>
                    <a:pt x="0" y="0"/>
                  </a:lnTo>
                  <a:close/>
                </a:path>
              </a:pathLst>
            </a:custGeom>
            <a:blipFill>
              <a:blip r:embed="rId2"/>
              <a:stretch>
                <a:fillRect l="-17249" t="-18868" r="-8373" b="-38922"/>
              </a:stretch>
            </a:blipFill>
          </p:spPr>
        </p:sp>
      </p:grpSp>
      <p:grpSp>
        <p:nvGrpSpPr>
          <p:cNvPr id="7" name="Group 7"/>
          <p:cNvGrpSpPr/>
          <p:nvPr/>
        </p:nvGrpSpPr>
        <p:grpSpPr>
          <a:xfrm rot="0">
            <a:off x="12284075" y="1485900"/>
            <a:ext cx="5767070" cy="3199765"/>
            <a:chOff x="-3828191" y="-206001"/>
            <a:chExt cx="11841861" cy="5495798"/>
          </a:xfrm>
        </p:grpSpPr>
        <p:sp>
          <p:nvSpPr>
            <p:cNvPr id="8" name="Freeform 8" descr="Screenshot 2026-07-18 202642"/>
            <p:cNvSpPr/>
            <p:nvPr/>
          </p:nvSpPr>
          <p:spPr>
            <a:xfrm>
              <a:off x="-3828191" y="-206001"/>
              <a:ext cx="11841861" cy="5495798"/>
            </a:xfrm>
            <a:custGeom>
              <a:avLst/>
              <a:gdLst/>
              <a:ahLst/>
              <a:cxnLst/>
              <a:rect l="l" t="t" r="r" b="b"/>
              <a:pathLst>
                <a:path w="11841861" h="5495798">
                  <a:moveTo>
                    <a:pt x="0" y="0"/>
                  </a:moveTo>
                  <a:lnTo>
                    <a:pt x="11841861" y="0"/>
                  </a:lnTo>
                  <a:lnTo>
                    <a:pt x="11841861" y="5495798"/>
                  </a:lnTo>
                  <a:lnTo>
                    <a:pt x="0" y="5495798"/>
                  </a:lnTo>
                  <a:lnTo>
                    <a:pt x="0" y="0"/>
                  </a:lnTo>
                  <a:close/>
                </a:path>
              </a:pathLst>
            </a:custGeom>
            <a:blipFill>
              <a:blip r:embed="rId3"/>
              <a:stretch>
                <a:fillRect t="-6841" r="-3661" b="-7867"/>
              </a:stretch>
            </a:blipFill>
          </p:spPr>
        </p:sp>
      </p:grpSp>
      <p:grpSp>
        <p:nvGrpSpPr>
          <p:cNvPr id="9" name="Group 9"/>
          <p:cNvGrpSpPr/>
          <p:nvPr/>
        </p:nvGrpSpPr>
        <p:grpSpPr>
          <a:xfrm rot="0">
            <a:off x="12284710" y="5829300"/>
            <a:ext cx="5766435" cy="3846830"/>
            <a:chOff x="-5553808" y="-1937662"/>
            <a:chExt cx="9401556" cy="5419636"/>
          </a:xfrm>
        </p:grpSpPr>
        <p:sp>
          <p:nvSpPr>
            <p:cNvPr id="10" name="Freeform 10"/>
            <p:cNvSpPr/>
            <p:nvPr/>
          </p:nvSpPr>
          <p:spPr>
            <a:xfrm>
              <a:off x="-5553808" y="-1937662"/>
              <a:ext cx="9401556" cy="5419636"/>
            </a:xfrm>
            <a:custGeom>
              <a:avLst/>
              <a:gdLst/>
              <a:ahLst/>
              <a:cxnLst/>
              <a:rect l="l" t="t" r="r" b="b"/>
              <a:pathLst>
                <a:path w="9401556" h="5419636">
                  <a:moveTo>
                    <a:pt x="0" y="0"/>
                  </a:moveTo>
                  <a:lnTo>
                    <a:pt x="9401556" y="0"/>
                  </a:lnTo>
                  <a:lnTo>
                    <a:pt x="9401556" y="5419636"/>
                  </a:lnTo>
                  <a:lnTo>
                    <a:pt x="0" y="5419636"/>
                  </a:lnTo>
                  <a:lnTo>
                    <a:pt x="0" y="0"/>
                  </a:lnTo>
                  <a:close/>
                </a:path>
              </a:pathLst>
            </a:custGeom>
            <a:blipFill>
              <a:blip r:embed="rId4"/>
              <a:stretch>
                <a:fillRect t="-47661" b="-83915"/>
              </a:stretch>
            </a:blipFill>
          </p:spPr>
          <p:txBody>
            <a:bodyPr/>
            <a:p>
              <a:endParaRPr lang="en-US"/>
            </a:p>
          </p:txBody>
        </p:sp>
      </p:grpSp>
      <p:pic>
        <p:nvPicPr>
          <p:cNvPr id="11" name="Picture 10"/>
          <p:cNvPicPr/>
          <p:nvPr/>
        </p:nvPicPr>
        <p:blipFill>
          <a:blip r:embed="rId5"/>
          <a:stretch>
            <a:fillRect/>
          </a:stretch>
        </p:blipFill>
        <p:spPr>
          <a:xfrm>
            <a:off x="6254750" y="3924300"/>
            <a:ext cx="5921375" cy="3698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5099392" y="7549696"/>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sp>
        <p:nvSpPr>
          <p:cNvPr id="8" name="Freeform 8"/>
          <p:cNvSpPr/>
          <p:nvPr/>
        </p:nvSpPr>
        <p:spPr>
          <a:xfrm>
            <a:off x="741814" y="1667090"/>
            <a:ext cx="17228075" cy="8376800"/>
          </a:xfrm>
          <a:custGeom>
            <a:avLst/>
            <a:gdLst/>
            <a:ahLst/>
            <a:cxnLst/>
            <a:rect l="l" t="t" r="r" b="b"/>
            <a:pathLst>
              <a:path w="17228075" h="8376800">
                <a:moveTo>
                  <a:pt x="0" y="0"/>
                </a:moveTo>
                <a:lnTo>
                  <a:pt x="17228075" y="0"/>
                </a:lnTo>
                <a:lnTo>
                  <a:pt x="17228075" y="8376800"/>
                </a:lnTo>
                <a:lnTo>
                  <a:pt x="0" y="8376800"/>
                </a:lnTo>
                <a:lnTo>
                  <a:pt x="0" y="0"/>
                </a:lnTo>
                <a:close/>
              </a:path>
            </a:pathLst>
          </a:custGeom>
          <a:blipFill>
            <a:blip r:embed="rId1"/>
            <a:stretch>
              <a:fillRect t="-55731" b="-52010"/>
            </a:stretch>
          </a:blipFill>
        </p:spPr>
      </p:sp>
      <p:sp>
        <p:nvSpPr>
          <p:cNvPr id="9" name="TextBox 9"/>
          <p:cNvSpPr txBox="1"/>
          <p:nvPr/>
        </p:nvSpPr>
        <p:spPr>
          <a:xfrm>
            <a:off x="2819400" y="256540"/>
            <a:ext cx="11822430" cy="1200785"/>
          </a:xfrm>
          <a:prstGeom prst="rect">
            <a:avLst/>
          </a:prstGeom>
        </p:spPr>
        <p:txBody>
          <a:bodyPr wrap="square"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IT SPECIALIST</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0" name="TextBox 10"/>
          <p:cNvSpPr txBox="1"/>
          <p:nvPr/>
        </p:nvSpPr>
        <p:spPr>
          <a:xfrm>
            <a:off x="1772964" y="1846412"/>
            <a:ext cx="11722189" cy="742950"/>
          </a:xfrm>
          <a:prstGeom prst="rect">
            <a:avLst/>
          </a:prstGeom>
        </p:spPr>
        <p:txBody>
          <a:bodyPr lIns="0" tIns="0" rIns="0" bIns="0" rtlCol="0" anchor="t">
            <a:spAutoFit/>
          </a:bodyPr>
          <a:lstStyle/>
          <a:p>
            <a:pPr algn="l">
              <a:lnSpc>
                <a:spcPts val="5765"/>
              </a:lnSpc>
            </a:pPr>
            <a:r>
              <a:rPr lang="en-US" sz="4805" b="1">
                <a:solidFill>
                  <a:srgbClr val="FFFFFF"/>
                </a:solidFill>
                <a:latin typeface="Arial Bold" panose="020B0704020202020204"/>
                <a:ea typeface="Arial Bold" panose="020B0704020202020204"/>
                <a:cs typeface="Arial Bold" panose="020B0704020202020204"/>
                <a:sym typeface="Arial Bold" panose="020B0704020202020204"/>
              </a:rPr>
              <a:t>What did you ask?</a:t>
            </a:r>
            <a:endParaRPr lang="en-US" sz="4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1" name="AutoShape 11"/>
          <p:cNvSpPr/>
          <p:nvPr/>
        </p:nvSpPr>
        <p:spPr>
          <a:xfrm flipH="1">
            <a:off x="6446280" y="1865462"/>
            <a:ext cx="0" cy="8178428"/>
          </a:xfrm>
          <a:prstGeom prst="line">
            <a:avLst/>
          </a:prstGeom>
          <a:ln w="142875" cap="rnd">
            <a:solidFill>
              <a:srgbClr val="000000"/>
            </a:solidFill>
            <a:prstDash val="solid"/>
            <a:headEnd type="none" w="sm" len="sm"/>
            <a:tailEnd type="none" w="sm" len="sm"/>
          </a:ln>
        </p:spPr>
      </p:sp>
      <p:sp>
        <p:nvSpPr>
          <p:cNvPr id="12" name="AutoShape 12"/>
          <p:cNvSpPr/>
          <p:nvPr/>
        </p:nvSpPr>
        <p:spPr>
          <a:xfrm>
            <a:off x="1028700" y="4867485"/>
            <a:ext cx="15458195" cy="0"/>
          </a:xfrm>
          <a:prstGeom prst="line">
            <a:avLst/>
          </a:prstGeom>
          <a:ln w="142875" cap="rnd">
            <a:solidFill>
              <a:srgbClr val="000000"/>
            </a:solidFill>
            <a:prstDash val="solid"/>
            <a:headEnd type="none" w="sm" len="sm"/>
            <a:tailEnd type="none" w="sm" len="sm"/>
          </a:ln>
        </p:spPr>
      </p:sp>
      <p:sp>
        <p:nvSpPr>
          <p:cNvPr id="13" name="TextBox 13"/>
          <p:cNvSpPr txBox="1"/>
          <p:nvPr/>
        </p:nvSpPr>
        <p:spPr>
          <a:xfrm>
            <a:off x="1577670" y="2648160"/>
            <a:ext cx="4326491" cy="1353820"/>
          </a:xfrm>
          <a:prstGeom prst="rect">
            <a:avLst/>
          </a:prstGeom>
        </p:spPr>
        <p:txBody>
          <a:bodyPr lIns="0" tIns="0" rIns="0" bIns="0" rtlCol="0" anchor="t">
            <a:spAutoFit/>
          </a:bodyPr>
          <a:lstStyle/>
          <a:p>
            <a:pPr algn="just">
              <a:lnSpc>
                <a:spcPts val="2640"/>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What technologies would you recommend for developing this web platform?</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4" name="TextBox 14"/>
          <p:cNvSpPr txBox="1"/>
          <p:nvPr/>
        </p:nvSpPr>
        <p:spPr>
          <a:xfrm>
            <a:off x="6789148" y="2648160"/>
            <a:ext cx="9697747" cy="2463800"/>
          </a:xfrm>
          <a:prstGeom prst="rect">
            <a:avLst/>
          </a:prstGeom>
        </p:spPr>
        <p:txBody>
          <a:bodyPr lIns="0" tIns="0" rIns="0" bIns="0" rtlCol="0" anchor="t">
            <a:spAutoFit/>
          </a:bodyPr>
          <a:lstStyle/>
          <a:p>
            <a:pPr algn="just">
              <a:lnSpc>
                <a:spcPts val="2745"/>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Gumamit ng mga teknolohiyang pamilyar ang  development team. Maaari ang MySQL bilang database ngunit mas maganda maghanap ng mas secure na alternatibo like. JavaScript ang maaaring gamitin sa system at security features, at maaaring lagyan ng AJAX para sa mas maayos at mabilis na data processing.</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745"/>
              </a:lnSpc>
              <a:spcBef>
                <a:spcPct val="0"/>
              </a:spcBef>
            </a:pP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5" name="TextBox 15"/>
          <p:cNvSpPr txBox="1"/>
          <p:nvPr/>
        </p:nvSpPr>
        <p:spPr>
          <a:xfrm>
            <a:off x="1306610" y="4857960"/>
            <a:ext cx="4868610" cy="3026410"/>
          </a:xfrm>
          <a:prstGeom prst="rect">
            <a:avLst/>
          </a:prstGeom>
        </p:spPr>
        <p:txBody>
          <a:bodyPr lIns="0" tIns="0" rIns="0" bIns="0" rtlCol="0" anchor="t">
            <a:spAutoFit/>
          </a:bodyPr>
          <a:lstStyle/>
          <a:p>
            <a:pPr algn="just">
              <a:lnSpc>
                <a:spcPts val="3580"/>
              </a:lnSpc>
            </a:pPr>
            <a:endParaRPr sz="2800"/>
          </a:p>
          <a:p>
            <a:pPr algn="just">
              <a:lnSpc>
                <a:spcPts val="2740"/>
              </a:lnSpc>
              <a:spcBef>
                <a:spcPct val="0"/>
              </a:spcBef>
            </a:pPr>
            <a:r>
              <a:rPr lang="en-US" sz="3200" b="1">
                <a:solidFill>
                  <a:srgbClr val="000000"/>
                </a:solidFill>
                <a:latin typeface="Arial Bold" panose="020B0704020202020204"/>
                <a:ea typeface="Arial Bold" panose="020B0704020202020204"/>
                <a:cs typeface="Arial Bold" panose="020B0704020202020204"/>
                <a:sym typeface="Arial Bold" panose="020B0704020202020204"/>
              </a:rPr>
              <a:t>What authentication and security mechanisms should be implemented to protect user accounts and personal information?</a:t>
            </a: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3580"/>
              </a:lnSpc>
              <a:spcBef>
                <a:spcPct val="0"/>
              </a:spcBef>
            </a:pP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6" name="TextBox 16"/>
          <p:cNvSpPr txBox="1"/>
          <p:nvPr/>
        </p:nvSpPr>
        <p:spPr>
          <a:xfrm>
            <a:off x="6789148" y="5641177"/>
            <a:ext cx="9697747" cy="398145"/>
          </a:xfrm>
          <a:prstGeom prst="rect">
            <a:avLst/>
          </a:prstGeom>
        </p:spPr>
        <p:txBody>
          <a:bodyPr lIns="0" tIns="0" rIns="0" bIns="0" rtlCol="0" anchor="t">
            <a:spAutoFit/>
          </a:bodyPr>
          <a:lstStyle/>
          <a:p>
            <a:pPr algn="just">
              <a:lnSpc>
                <a:spcPts val="3105"/>
              </a:lnSpc>
              <a:spcBef>
                <a:spcPct val="0"/>
              </a:spcBef>
            </a:pPr>
            <a:r>
              <a:rPr lang="en-US" sz="3600" b="1">
                <a:solidFill>
                  <a:srgbClr val="000000"/>
                </a:solidFill>
                <a:latin typeface="Arial Bold" panose="020B0704020202020204"/>
                <a:ea typeface="Arial Bold" panose="020B0704020202020204"/>
                <a:cs typeface="Arial Bold" panose="020B0704020202020204"/>
                <a:sym typeface="Arial Bold" panose="020B0704020202020204"/>
              </a:rPr>
              <a:t>ArangoDB</a:t>
            </a:r>
            <a:endParaRPr lang="en-US" sz="36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7" name="TextBox 17"/>
          <p:cNvSpPr txBox="1"/>
          <p:nvPr/>
        </p:nvSpPr>
        <p:spPr>
          <a:xfrm>
            <a:off x="2342493" y="1802340"/>
            <a:ext cx="13571563" cy="533400"/>
          </a:xfrm>
          <a:prstGeom prst="rect">
            <a:avLst/>
          </a:prstGeom>
        </p:spPr>
        <p:txBody>
          <a:bodyPr lIns="0" tIns="0" rIns="0" bIns="0" rtlCol="0" anchor="t">
            <a:spAutoFit/>
          </a:bodyPr>
          <a:lstStyle/>
          <a:p>
            <a:pPr algn="just">
              <a:lnSpc>
                <a:spcPts val="4075"/>
              </a:lnSpc>
              <a:spcBef>
                <a:spcPct val="0"/>
              </a:spcBef>
            </a:pPr>
            <a:r>
              <a:rPr lang="en-US" sz="3395" b="1">
                <a:solidFill>
                  <a:srgbClr val="FF3131"/>
                </a:solidFill>
                <a:latin typeface="Arial Bold" panose="020B0704020202020204"/>
                <a:ea typeface="Arial Bold" panose="020B0704020202020204"/>
                <a:cs typeface="Arial Bold" panose="020B0704020202020204"/>
                <a:sym typeface="Arial Bold" panose="020B0704020202020204"/>
              </a:rPr>
              <a:t>QUESTIONS                                           ANSWERS</a:t>
            </a:r>
            <a:endParaRPr lang="en-US" sz="3395" b="1">
              <a:solidFill>
                <a:srgbClr val="FF3131"/>
              </a:solidFill>
              <a:latin typeface="Arial Bold" panose="020B0704020202020204"/>
              <a:ea typeface="Arial Bold" panose="020B0704020202020204"/>
              <a:cs typeface="Arial Bold" panose="020B0704020202020204"/>
              <a:sym typeface="Arial Bold" panose="020B0704020202020204"/>
            </a:endParaRPr>
          </a:p>
        </p:txBody>
      </p:sp>
      <p:sp>
        <p:nvSpPr>
          <p:cNvPr id="18" name="AutoShape 18"/>
          <p:cNvSpPr/>
          <p:nvPr/>
        </p:nvSpPr>
        <p:spPr>
          <a:xfrm flipV="1">
            <a:off x="1028700" y="7614679"/>
            <a:ext cx="15614494" cy="53155"/>
          </a:xfrm>
          <a:prstGeom prst="line">
            <a:avLst/>
          </a:prstGeom>
          <a:ln w="142875" cap="rnd">
            <a:solidFill>
              <a:srgbClr val="000000"/>
            </a:solidFill>
            <a:prstDash val="solid"/>
            <a:headEnd type="none" w="sm" len="sm"/>
            <a:tailEnd type="none" w="sm" len="sm"/>
          </a:ln>
        </p:spPr>
      </p:sp>
      <p:sp>
        <p:nvSpPr>
          <p:cNvPr id="19" name="TextBox 19"/>
          <p:cNvSpPr txBox="1"/>
          <p:nvPr/>
        </p:nvSpPr>
        <p:spPr>
          <a:xfrm>
            <a:off x="1372676" y="7874065"/>
            <a:ext cx="4820288" cy="2585085"/>
          </a:xfrm>
          <a:prstGeom prst="rect">
            <a:avLst/>
          </a:prstGeom>
        </p:spPr>
        <p:txBody>
          <a:bodyPr lIns="0" tIns="0" rIns="0" bIns="0" rtlCol="0" anchor="t">
            <a:spAutoFit/>
          </a:bodyPr>
          <a:lstStyle/>
          <a:p>
            <a:pPr algn="just">
              <a:lnSpc>
                <a:spcPts val="2880"/>
              </a:lnSpc>
              <a:spcBef>
                <a:spcPct val="0"/>
              </a:spcBef>
            </a:pPr>
            <a:r>
              <a:rPr lang="en-US" sz="3200" b="1">
                <a:solidFill>
                  <a:srgbClr val="000000"/>
                </a:solidFill>
                <a:latin typeface="Arial Bold" panose="020B0704020202020204"/>
                <a:ea typeface="Arial Bold" panose="020B0704020202020204"/>
                <a:cs typeface="Arial Bold" panose="020B0704020202020204"/>
                <a:sym typeface="Arial Bold" panose="020B0704020202020204"/>
              </a:rPr>
              <a:t>What measures should be implemented to detect fraudulent activities, fake accounts, and inappropriate content?</a:t>
            </a: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880"/>
              </a:lnSpc>
              <a:spcBef>
                <a:spcPct val="0"/>
              </a:spcBef>
            </a:pP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0" name="TextBox 20"/>
          <p:cNvSpPr txBox="1"/>
          <p:nvPr/>
        </p:nvSpPr>
        <p:spPr>
          <a:xfrm>
            <a:off x="6945708" y="7874065"/>
            <a:ext cx="9469782" cy="1846580"/>
          </a:xfrm>
          <a:prstGeom prst="rect">
            <a:avLst/>
          </a:prstGeom>
        </p:spPr>
        <p:txBody>
          <a:bodyPr lIns="0" tIns="0" rIns="0" bIns="0" rtlCol="0" anchor="t">
            <a:spAutoFit/>
          </a:bodyPr>
          <a:lstStyle/>
          <a:p>
            <a:pPr algn="just">
              <a:lnSpc>
                <a:spcPts val="2880"/>
              </a:lnSpc>
              <a:spcBef>
                <a:spcPct val="0"/>
              </a:spcBef>
            </a:pPr>
            <a:r>
              <a:rPr lang="en-US" sz="3200" b="1">
                <a:solidFill>
                  <a:srgbClr val="000000"/>
                </a:solidFill>
                <a:latin typeface="Arial Bold" panose="020B0704020202020204"/>
                <a:ea typeface="Arial Bold" panose="020B0704020202020204"/>
                <a:cs typeface="Arial Bold" panose="020B0704020202020204"/>
                <a:sym typeface="Arial Bold" panose="020B0704020202020204"/>
              </a:rPr>
              <a:t>Humingi ng valid credentials o IDs sa paggawa pa lamang ng user account upang ma-verify ang pagkakakilanlan ng mga gumagamit at makatulong sa pag-detect ng mga pekeng account.</a:t>
            </a: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1" name="TextBox 8"/>
          <p:cNvSpPr txBox="1"/>
          <p:nvPr/>
        </p:nvSpPr>
        <p:spPr>
          <a:xfrm>
            <a:off x="10287000" y="419100"/>
            <a:ext cx="7981950" cy="1200785"/>
          </a:xfrm>
          <a:prstGeom prst="rect">
            <a:avLst/>
          </a:prstGeom>
        </p:spPr>
        <p:txBody>
          <a:bodyPr wrap="square" lIns="0" tIns="0" rIns="0" bIns="0" rtlCol="0" anchor="t">
            <a:spAutoFit/>
          </a:bodyPr>
          <a:lstStyle/>
          <a:p>
            <a:pPr algn="ctr">
              <a:lnSpc>
                <a:spcPts val="9365"/>
              </a:lnSpc>
            </a:pPr>
            <a:r>
              <a:rPr lang="en-US" sz="3200" b="1">
                <a:solidFill>
                  <a:srgbClr val="FFFFFF"/>
                </a:solidFill>
                <a:latin typeface="Arial Bold" panose="020B0704020202020204"/>
                <a:ea typeface="Arial Bold" panose="020B0704020202020204"/>
                <a:cs typeface="Arial Bold" panose="020B0704020202020204"/>
                <a:sym typeface="Arial Bold" panose="020B0704020202020204"/>
              </a:rPr>
              <a:t>Laurice</a:t>
            </a:r>
            <a:endParaRPr lang="en-US" sz="320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5099392" y="7549696"/>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sp>
        <p:nvSpPr>
          <p:cNvPr id="8" name="Freeform 8"/>
          <p:cNvSpPr/>
          <p:nvPr/>
        </p:nvSpPr>
        <p:spPr>
          <a:xfrm>
            <a:off x="741814" y="1667090"/>
            <a:ext cx="17228075" cy="8376800"/>
          </a:xfrm>
          <a:custGeom>
            <a:avLst/>
            <a:gdLst/>
            <a:ahLst/>
            <a:cxnLst/>
            <a:rect l="l" t="t" r="r" b="b"/>
            <a:pathLst>
              <a:path w="17228075" h="8376800">
                <a:moveTo>
                  <a:pt x="0" y="0"/>
                </a:moveTo>
                <a:lnTo>
                  <a:pt x="17228075" y="0"/>
                </a:lnTo>
                <a:lnTo>
                  <a:pt x="17228075" y="8376800"/>
                </a:lnTo>
                <a:lnTo>
                  <a:pt x="0" y="8376800"/>
                </a:lnTo>
                <a:lnTo>
                  <a:pt x="0" y="0"/>
                </a:lnTo>
                <a:close/>
              </a:path>
            </a:pathLst>
          </a:custGeom>
          <a:blipFill>
            <a:blip r:embed="rId1"/>
            <a:stretch>
              <a:fillRect t="-55731" b="-52010"/>
            </a:stretch>
          </a:blipFill>
        </p:spPr>
      </p:sp>
      <p:sp>
        <p:nvSpPr>
          <p:cNvPr id="9" name="TextBox 9"/>
          <p:cNvSpPr txBox="1"/>
          <p:nvPr/>
        </p:nvSpPr>
        <p:spPr>
          <a:xfrm>
            <a:off x="2686685" y="190500"/>
            <a:ext cx="13338810" cy="1200785"/>
          </a:xfrm>
          <a:prstGeom prst="rect">
            <a:avLst/>
          </a:prstGeom>
        </p:spPr>
        <p:txBody>
          <a:bodyPr wrap="square"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IT SPECIALIST</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0" name="TextBox 10"/>
          <p:cNvSpPr txBox="1"/>
          <p:nvPr/>
        </p:nvSpPr>
        <p:spPr>
          <a:xfrm>
            <a:off x="1772964" y="1846412"/>
            <a:ext cx="11722189" cy="742950"/>
          </a:xfrm>
          <a:prstGeom prst="rect">
            <a:avLst/>
          </a:prstGeom>
        </p:spPr>
        <p:txBody>
          <a:bodyPr lIns="0" tIns="0" rIns="0" bIns="0" rtlCol="0" anchor="t">
            <a:spAutoFit/>
          </a:bodyPr>
          <a:lstStyle/>
          <a:p>
            <a:pPr algn="l">
              <a:lnSpc>
                <a:spcPts val="5765"/>
              </a:lnSpc>
            </a:pPr>
            <a:r>
              <a:rPr lang="en-US" sz="4805" b="1">
                <a:solidFill>
                  <a:srgbClr val="FFFFFF"/>
                </a:solidFill>
                <a:latin typeface="Arial Bold" panose="020B0704020202020204"/>
                <a:ea typeface="Arial Bold" panose="020B0704020202020204"/>
                <a:cs typeface="Arial Bold" panose="020B0704020202020204"/>
                <a:sym typeface="Arial Bold" panose="020B0704020202020204"/>
              </a:rPr>
              <a:t>What did you ask?</a:t>
            </a:r>
            <a:endParaRPr lang="en-US" sz="4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1" name="AutoShape 11"/>
          <p:cNvSpPr/>
          <p:nvPr/>
        </p:nvSpPr>
        <p:spPr>
          <a:xfrm flipH="1">
            <a:off x="6446280" y="1865462"/>
            <a:ext cx="0" cy="8178428"/>
          </a:xfrm>
          <a:prstGeom prst="line">
            <a:avLst/>
          </a:prstGeom>
          <a:ln w="142875" cap="rnd">
            <a:solidFill>
              <a:srgbClr val="000000"/>
            </a:solidFill>
            <a:prstDash val="solid"/>
            <a:headEnd type="none" w="sm" len="sm"/>
            <a:tailEnd type="none" w="sm" len="sm"/>
          </a:ln>
        </p:spPr>
      </p:sp>
      <p:sp>
        <p:nvSpPr>
          <p:cNvPr id="12" name="AutoShape 12"/>
          <p:cNvSpPr/>
          <p:nvPr/>
        </p:nvSpPr>
        <p:spPr>
          <a:xfrm flipV="1">
            <a:off x="1028700" y="4738897"/>
            <a:ext cx="15614494" cy="0"/>
          </a:xfrm>
          <a:prstGeom prst="line">
            <a:avLst/>
          </a:prstGeom>
          <a:ln w="142875" cap="rnd">
            <a:solidFill>
              <a:srgbClr val="000000"/>
            </a:solidFill>
            <a:prstDash val="solid"/>
            <a:headEnd type="none" w="sm" len="sm"/>
            <a:tailEnd type="none" w="sm" len="sm"/>
          </a:ln>
        </p:spPr>
      </p:sp>
      <p:sp>
        <p:nvSpPr>
          <p:cNvPr id="13" name="TextBox 13"/>
          <p:cNvSpPr txBox="1"/>
          <p:nvPr/>
        </p:nvSpPr>
        <p:spPr>
          <a:xfrm>
            <a:off x="1577670" y="2648160"/>
            <a:ext cx="4326491" cy="2369820"/>
          </a:xfrm>
          <a:prstGeom prst="rect">
            <a:avLst/>
          </a:prstGeom>
        </p:spPr>
        <p:txBody>
          <a:bodyPr lIns="0" tIns="0" rIns="0" bIns="0" rtlCol="0" anchor="t">
            <a:spAutoFit/>
          </a:bodyPr>
          <a:lstStyle/>
          <a:p>
            <a:pPr algn="just">
              <a:lnSpc>
                <a:spcPts val="2640"/>
              </a:lnSpc>
            </a:pPr>
            <a:endParaRPr sz="2800"/>
          </a:p>
          <a:p>
            <a:pPr algn="just">
              <a:lnSpc>
                <a:spcPts val="2640"/>
              </a:lnSpc>
              <a:spcBef>
                <a:spcPct val="0"/>
              </a:spcBef>
            </a:pPr>
            <a:r>
              <a:rPr lang="en-US" sz="3200" b="1">
                <a:solidFill>
                  <a:srgbClr val="000000"/>
                </a:solidFill>
                <a:latin typeface="Arial Bold" panose="020B0704020202020204"/>
                <a:ea typeface="Arial Bold" panose="020B0704020202020204"/>
                <a:cs typeface="Arial Bold" panose="020B0704020202020204"/>
                <a:sym typeface="Arial Bold" panose="020B0704020202020204"/>
              </a:rPr>
              <a:t>What database structure would best manage donations, requests, and exchanges?</a:t>
            </a: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640"/>
              </a:lnSpc>
              <a:spcBef>
                <a:spcPct val="0"/>
              </a:spcBef>
            </a:pP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4" name="TextBox 14"/>
          <p:cNvSpPr txBox="1"/>
          <p:nvPr/>
        </p:nvSpPr>
        <p:spPr>
          <a:xfrm>
            <a:off x="6717742" y="2795797"/>
            <a:ext cx="9697747" cy="1759585"/>
          </a:xfrm>
          <a:prstGeom prst="rect">
            <a:avLst/>
          </a:prstGeom>
        </p:spPr>
        <p:txBody>
          <a:bodyPr lIns="0" tIns="0" rIns="0" bIns="0" rtlCol="0" anchor="t">
            <a:spAutoFit/>
          </a:bodyPr>
          <a:lstStyle/>
          <a:p>
            <a:pPr algn="just">
              <a:lnSpc>
                <a:spcPts val="2745"/>
              </a:lnSpc>
              <a:spcBef>
                <a:spcPct val="0"/>
              </a:spcBef>
            </a:pPr>
            <a:r>
              <a:rPr lang="en-US" sz="3200" b="1">
                <a:solidFill>
                  <a:srgbClr val="000000"/>
                </a:solidFill>
                <a:latin typeface="Arial Bold" panose="020B0704020202020204"/>
                <a:ea typeface="Arial Bold" panose="020B0704020202020204"/>
                <a:cs typeface="Arial Bold" panose="020B0704020202020204"/>
                <a:sym typeface="Arial Bold" panose="020B0704020202020204"/>
              </a:rPr>
              <a:t>I Recommend ArangoDB para sa mas mahusay na database management, ngunit maaari pa ring gumamit ng MySQL kung limitado ang resources ng development team niyo.</a:t>
            </a: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745"/>
              </a:lnSpc>
              <a:spcBef>
                <a:spcPct val="0"/>
              </a:spcBef>
            </a:pP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5" name="TextBox 15"/>
          <p:cNvSpPr txBox="1"/>
          <p:nvPr/>
        </p:nvSpPr>
        <p:spPr>
          <a:xfrm>
            <a:off x="1324354" y="5388595"/>
            <a:ext cx="4868610" cy="2123440"/>
          </a:xfrm>
          <a:prstGeom prst="rect">
            <a:avLst/>
          </a:prstGeom>
        </p:spPr>
        <p:txBody>
          <a:bodyPr lIns="0" tIns="0" rIns="0" bIns="0" rtlCol="0" anchor="t">
            <a:spAutoFit/>
          </a:bodyPr>
          <a:lstStyle/>
          <a:p>
            <a:pPr algn="just">
              <a:lnSpc>
                <a:spcPts val="2760"/>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How should the system store and manage item listings, images, user requests, and exchange records efficiently?</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760"/>
              </a:lnSpc>
              <a:spcBef>
                <a:spcPct val="0"/>
              </a:spcBef>
            </a:pP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6" name="TextBox 16"/>
          <p:cNvSpPr txBox="1"/>
          <p:nvPr/>
        </p:nvSpPr>
        <p:spPr>
          <a:xfrm>
            <a:off x="6717742" y="5347958"/>
            <a:ext cx="9697747" cy="2388870"/>
          </a:xfrm>
          <a:prstGeom prst="rect">
            <a:avLst/>
          </a:prstGeom>
        </p:spPr>
        <p:txBody>
          <a:bodyPr lIns="0" tIns="0" rIns="0" bIns="0" rtlCol="0" anchor="t">
            <a:spAutoFit/>
          </a:bodyPr>
          <a:lstStyle/>
          <a:p>
            <a:pPr algn="just">
              <a:lnSpc>
                <a:spcPts val="3105"/>
              </a:lnSpc>
            </a:pPr>
            <a:r>
              <a:rPr lang="en-US" sz="3200" b="1">
                <a:solidFill>
                  <a:srgbClr val="000000"/>
                </a:solidFill>
                <a:latin typeface="Arial Bold" panose="020B0704020202020204"/>
                <a:ea typeface="Arial Bold" panose="020B0704020202020204"/>
                <a:cs typeface="Arial Bold" panose="020B0704020202020204"/>
                <a:sym typeface="Arial Bold" panose="020B0704020202020204"/>
              </a:rPr>
              <a:t>I-categorize ang mga item listings tulad ng damit at appliances upang maging maayos at user-friendly ang sistema. Mainam din na gumamit ng filtering features gamit ang JavaScript upang mas mapadali ang paghahanap ng mga item.</a:t>
            </a: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3105"/>
              </a:lnSpc>
              <a:spcBef>
                <a:spcPct val="0"/>
              </a:spcBef>
            </a:pP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7" name="TextBox 17"/>
          <p:cNvSpPr txBox="1"/>
          <p:nvPr/>
        </p:nvSpPr>
        <p:spPr>
          <a:xfrm>
            <a:off x="2342493" y="1802340"/>
            <a:ext cx="13571563" cy="533400"/>
          </a:xfrm>
          <a:prstGeom prst="rect">
            <a:avLst/>
          </a:prstGeom>
        </p:spPr>
        <p:txBody>
          <a:bodyPr lIns="0" tIns="0" rIns="0" bIns="0" rtlCol="0" anchor="t">
            <a:spAutoFit/>
          </a:bodyPr>
          <a:lstStyle/>
          <a:p>
            <a:pPr algn="just">
              <a:lnSpc>
                <a:spcPts val="4075"/>
              </a:lnSpc>
              <a:spcBef>
                <a:spcPct val="0"/>
              </a:spcBef>
            </a:pPr>
            <a:r>
              <a:rPr lang="en-US" sz="3395" b="1">
                <a:solidFill>
                  <a:srgbClr val="FF3131"/>
                </a:solidFill>
                <a:latin typeface="Arial Bold" panose="020B0704020202020204"/>
                <a:ea typeface="Arial Bold" panose="020B0704020202020204"/>
                <a:cs typeface="Arial Bold" panose="020B0704020202020204"/>
                <a:sym typeface="Arial Bold" panose="020B0704020202020204"/>
              </a:rPr>
              <a:t>QUESTIONS                                           ANSWERS</a:t>
            </a:r>
            <a:endParaRPr lang="en-US" sz="3395" b="1">
              <a:solidFill>
                <a:srgbClr val="FF3131"/>
              </a:solidFill>
              <a:latin typeface="Arial Bold" panose="020B0704020202020204"/>
              <a:ea typeface="Arial Bold" panose="020B0704020202020204"/>
              <a:cs typeface="Arial Bold" panose="020B0704020202020204"/>
              <a:sym typeface="Arial Bold" panose="020B0704020202020204"/>
            </a:endParaRPr>
          </a:p>
        </p:txBody>
      </p:sp>
      <p:sp>
        <p:nvSpPr>
          <p:cNvPr id="18" name="AutoShape 18"/>
          <p:cNvSpPr/>
          <p:nvPr/>
        </p:nvSpPr>
        <p:spPr>
          <a:xfrm flipV="1">
            <a:off x="1028700" y="7614679"/>
            <a:ext cx="15614494" cy="53155"/>
          </a:xfrm>
          <a:prstGeom prst="line">
            <a:avLst/>
          </a:prstGeom>
          <a:ln w="142875" cap="rnd">
            <a:solidFill>
              <a:srgbClr val="000000"/>
            </a:solidFill>
            <a:prstDash val="solid"/>
            <a:headEnd type="none" w="sm" len="sm"/>
            <a:tailEnd type="none" w="sm" len="sm"/>
          </a:ln>
        </p:spPr>
      </p:sp>
      <p:sp>
        <p:nvSpPr>
          <p:cNvPr id="19" name="TextBox 19"/>
          <p:cNvSpPr txBox="1"/>
          <p:nvPr/>
        </p:nvSpPr>
        <p:spPr>
          <a:xfrm>
            <a:off x="1348515" y="8055848"/>
            <a:ext cx="4820288" cy="1846580"/>
          </a:xfrm>
          <a:prstGeom prst="rect">
            <a:avLst/>
          </a:prstGeom>
        </p:spPr>
        <p:txBody>
          <a:bodyPr lIns="0" tIns="0" rIns="0" bIns="0" rtlCol="0" anchor="t">
            <a:spAutoFit/>
          </a:bodyPr>
          <a:lstStyle/>
          <a:p>
            <a:pPr algn="just">
              <a:lnSpc>
                <a:spcPts val="2880"/>
              </a:lnSpc>
              <a:spcBef>
                <a:spcPct val="0"/>
              </a:spcBef>
            </a:pPr>
            <a:r>
              <a:rPr lang="en-US" sz="3200" b="1">
                <a:solidFill>
                  <a:srgbClr val="000000"/>
                </a:solidFill>
                <a:latin typeface="Arial Bold" panose="020B0704020202020204"/>
                <a:ea typeface="Arial Bold" panose="020B0704020202020204"/>
                <a:cs typeface="Arial Bold" panose="020B0704020202020204"/>
                <a:sym typeface="Arial Bold" panose="020B0704020202020204"/>
              </a:rPr>
              <a:t>What usability principles should be followed to ensure a user-friendly interface?</a:t>
            </a: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880"/>
              </a:lnSpc>
              <a:spcBef>
                <a:spcPct val="0"/>
              </a:spcBef>
            </a:pP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0" name="TextBox 20"/>
          <p:cNvSpPr txBox="1"/>
          <p:nvPr/>
        </p:nvSpPr>
        <p:spPr>
          <a:xfrm>
            <a:off x="6717742" y="7874065"/>
            <a:ext cx="9469782" cy="2585085"/>
          </a:xfrm>
          <a:prstGeom prst="rect">
            <a:avLst/>
          </a:prstGeom>
        </p:spPr>
        <p:txBody>
          <a:bodyPr lIns="0" tIns="0" rIns="0" bIns="0" rtlCol="0" anchor="t">
            <a:spAutoFit/>
          </a:bodyPr>
          <a:lstStyle/>
          <a:p>
            <a:pPr algn="just">
              <a:lnSpc>
                <a:spcPts val="2880"/>
              </a:lnSpc>
              <a:spcBef>
                <a:spcPct val="0"/>
              </a:spcBef>
            </a:pPr>
            <a:r>
              <a:rPr lang="en-US" sz="3200" b="1">
                <a:solidFill>
                  <a:srgbClr val="000000"/>
                </a:solidFill>
                <a:latin typeface="Arial Bold" panose="020B0704020202020204"/>
                <a:ea typeface="Arial Bold" panose="020B0704020202020204"/>
                <a:cs typeface="Arial Bold" panose="020B0704020202020204"/>
                <a:sym typeface="Arial Bold" panose="020B0704020202020204"/>
              </a:rPr>
              <a:t>Dapat unahin ang pangangailangan ng target users sa disenyo ng system. Mahalaga ang pagkuha ng kanilang mga rekomendasyon at feedback upang matiyak na madaling gamitin at makatutulong ang platform sa kanilang pangangailangan.</a:t>
            </a: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880"/>
              </a:lnSpc>
              <a:spcBef>
                <a:spcPct val="0"/>
              </a:spcBef>
            </a:pP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1" name="TextBox 8"/>
          <p:cNvSpPr txBox="1"/>
          <p:nvPr/>
        </p:nvSpPr>
        <p:spPr>
          <a:xfrm>
            <a:off x="10287000" y="419100"/>
            <a:ext cx="7981950" cy="1200785"/>
          </a:xfrm>
          <a:prstGeom prst="rect">
            <a:avLst/>
          </a:prstGeom>
        </p:spPr>
        <p:txBody>
          <a:bodyPr wrap="square" lIns="0" tIns="0" rIns="0" bIns="0" rtlCol="0" anchor="t">
            <a:spAutoFit/>
          </a:bodyPr>
          <a:lstStyle/>
          <a:p>
            <a:pPr algn="ctr">
              <a:lnSpc>
                <a:spcPts val="9365"/>
              </a:lnSpc>
            </a:pPr>
            <a:r>
              <a:rPr lang="en-US" sz="3200" b="1">
                <a:solidFill>
                  <a:srgbClr val="FFFFFF"/>
                </a:solidFill>
                <a:latin typeface="Arial Bold" panose="020B0704020202020204"/>
                <a:ea typeface="Arial Bold" panose="020B0704020202020204"/>
                <a:cs typeface="Arial Bold" panose="020B0704020202020204"/>
                <a:sym typeface="Arial Bold" panose="020B0704020202020204"/>
              </a:rPr>
              <a:t>Laurice</a:t>
            </a:r>
            <a:endParaRPr lang="en-US" sz="320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5040320" y="6507896"/>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sp>
        <p:nvSpPr>
          <p:cNvPr id="8" name="Freeform 8"/>
          <p:cNvSpPr/>
          <p:nvPr/>
        </p:nvSpPr>
        <p:spPr>
          <a:xfrm>
            <a:off x="741814" y="1667090"/>
            <a:ext cx="17228075" cy="8376800"/>
          </a:xfrm>
          <a:custGeom>
            <a:avLst/>
            <a:gdLst/>
            <a:ahLst/>
            <a:cxnLst/>
            <a:rect l="l" t="t" r="r" b="b"/>
            <a:pathLst>
              <a:path w="17228075" h="8376800">
                <a:moveTo>
                  <a:pt x="0" y="0"/>
                </a:moveTo>
                <a:lnTo>
                  <a:pt x="17228075" y="0"/>
                </a:lnTo>
                <a:lnTo>
                  <a:pt x="17228075" y="8376800"/>
                </a:lnTo>
                <a:lnTo>
                  <a:pt x="0" y="8376800"/>
                </a:lnTo>
                <a:lnTo>
                  <a:pt x="0" y="0"/>
                </a:lnTo>
                <a:close/>
              </a:path>
            </a:pathLst>
          </a:custGeom>
          <a:blipFill>
            <a:blip r:embed="rId1"/>
            <a:stretch>
              <a:fillRect t="-55731" b="-52010"/>
            </a:stretch>
          </a:blipFill>
        </p:spPr>
      </p:sp>
      <p:sp>
        <p:nvSpPr>
          <p:cNvPr id="9" name="TextBox 9"/>
          <p:cNvSpPr txBox="1"/>
          <p:nvPr/>
        </p:nvSpPr>
        <p:spPr>
          <a:xfrm>
            <a:off x="1510665" y="227330"/>
            <a:ext cx="15235555" cy="1200785"/>
          </a:xfrm>
          <a:prstGeom prst="rect">
            <a:avLst/>
          </a:prstGeom>
        </p:spPr>
        <p:txBody>
          <a:bodyPr wrap="square"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IT SPECIALIST</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0" name="TextBox 10"/>
          <p:cNvSpPr txBox="1"/>
          <p:nvPr/>
        </p:nvSpPr>
        <p:spPr>
          <a:xfrm>
            <a:off x="6717742" y="2319776"/>
            <a:ext cx="9925452" cy="2586990"/>
          </a:xfrm>
          <a:prstGeom prst="rect">
            <a:avLst/>
          </a:prstGeom>
        </p:spPr>
        <p:txBody>
          <a:bodyPr lIns="0" tIns="0" rIns="0" bIns="0" rtlCol="0" anchor="t">
            <a:spAutoFit/>
          </a:bodyPr>
          <a:lstStyle/>
          <a:p>
            <a:pPr algn="just">
              <a:lnSpc>
                <a:spcPts val="2745"/>
              </a:lnSpc>
            </a:pPr>
            <a:endParaRPr sz="2000"/>
          </a:p>
          <a:p>
            <a:pPr algn="just">
              <a:lnSpc>
                <a:spcPts val="2985"/>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Needs ng target users at ang maayos na pamamahala ng data. Inirerekomenda ko ang pagkakaroon ng admin dashboard na may export-to-Excel feature para sa inventory management, ratings, at mga reports ng users.</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745"/>
              </a:lnSpc>
              <a:spcBef>
                <a:spcPct val="0"/>
              </a:spcBef>
            </a:pPr>
            <a:endParaRPr sz="2000"/>
          </a:p>
          <a:p>
            <a:pPr algn="just">
              <a:lnSpc>
                <a:spcPts val="2745"/>
              </a:lnSpc>
              <a:spcBef>
                <a:spcPct val="0"/>
              </a:spcBef>
            </a:pPr>
            <a:endParaRPr sz="2000"/>
          </a:p>
        </p:txBody>
      </p:sp>
      <p:sp>
        <p:nvSpPr>
          <p:cNvPr id="11" name="TextBox 11"/>
          <p:cNvSpPr txBox="1"/>
          <p:nvPr/>
        </p:nvSpPr>
        <p:spPr>
          <a:xfrm>
            <a:off x="1772964" y="1846412"/>
            <a:ext cx="11722189" cy="742950"/>
          </a:xfrm>
          <a:prstGeom prst="rect">
            <a:avLst/>
          </a:prstGeom>
        </p:spPr>
        <p:txBody>
          <a:bodyPr lIns="0" tIns="0" rIns="0" bIns="0" rtlCol="0" anchor="t">
            <a:spAutoFit/>
          </a:bodyPr>
          <a:lstStyle/>
          <a:p>
            <a:pPr algn="l">
              <a:lnSpc>
                <a:spcPts val="5765"/>
              </a:lnSpc>
            </a:pPr>
            <a:r>
              <a:rPr lang="en-US" sz="4805" b="1">
                <a:solidFill>
                  <a:srgbClr val="FFFFFF"/>
                </a:solidFill>
                <a:latin typeface="Arial Bold" panose="020B0704020202020204"/>
                <a:ea typeface="Arial Bold" panose="020B0704020202020204"/>
                <a:cs typeface="Arial Bold" panose="020B0704020202020204"/>
                <a:sym typeface="Arial Bold" panose="020B0704020202020204"/>
              </a:rPr>
              <a:t>What did you ask?</a:t>
            </a:r>
            <a:endParaRPr lang="en-US" sz="4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2" name="AutoShape 12"/>
          <p:cNvSpPr/>
          <p:nvPr/>
        </p:nvSpPr>
        <p:spPr>
          <a:xfrm flipH="1">
            <a:off x="6446280" y="1865462"/>
            <a:ext cx="0" cy="8178428"/>
          </a:xfrm>
          <a:prstGeom prst="line">
            <a:avLst/>
          </a:prstGeom>
          <a:ln w="142875" cap="rnd">
            <a:solidFill>
              <a:srgbClr val="000000"/>
            </a:solidFill>
            <a:prstDash val="solid"/>
            <a:headEnd type="none" w="sm" len="sm"/>
            <a:tailEnd type="none" w="sm" len="sm"/>
          </a:ln>
        </p:spPr>
      </p:sp>
      <p:sp>
        <p:nvSpPr>
          <p:cNvPr id="13" name="AutoShape 13"/>
          <p:cNvSpPr/>
          <p:nvPr/>
        </p:nvSpPr>
        <p:spPr>
          <a:xfrm flipV="1">
            <a:off x="1028700" y="4269522"/>
            <a:ext cx="15614494" cy="0"/>
          </a:xfrm>
          <a:prstGeom prst="line">
            <a:avLst/>
          </a:prstGeom>
          <a:ln w="142875" cap="rnd">
            <a:solidFill>
              <a:srgbClr val="000000"/>
            </a:solidFill>
            <a:prstDash val="solid"/>
            <a:headEnd type="none" w="sm" len="sm"/>
            <a:tailEnd type="none" w="sm" len="sm"/>
          </a:ln>
        </p:spPr>
      </p:sp>
      <p:sp>
        <p:nvSpPr>
          <p:cNvPr id="14" name="TextBox 14"/>
          <p:cNvSpPr txBox="1"/>
          <p:nvPr/>
        </p:nvSpPr>
        <p:spPr>
          <a:xfrm>
            <a:off x="1619574" y="2709533"/>
            <a:ext cx="4326491" cy="1600200"/>
          </a:xfrm>
          <a:prstGeom prst="rect">
            <a:avLst/>
          </a:prstGeom>
        </p:spPr>
        <p:txBody>
          <a:bodyPr lIns="0" tIns="0" rIns="0" bIns="0" rtlCol="0" anchor="t">
            <a:spAutoFit/>
          </a:bodyPr>
          <a:lstStyle/>
          <a:p>
            <a:pPr algn="just">
              <a:lnSpc>
                <a:spcPts val="3120"/>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What challenges do you foresee in developing this platform?</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3120"/>
              </a:lnSpc>
              <a:spcBef>
                <a:spcPct val="0"/>
              </a:spcBef>
            </a:pP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5" name="TextBox 15"/>
          <p:cNvSpPr txBox="1"/>
          <p:nvPr/>
        </p:nvSpPr>
        <p:spPr>
          <a:xfrm>
            <a:off x="1420507" y="4464784"/>
            <a:ext cx="4868610" cy="1769745"/>
          </a:xfrm>
          <a:prstGeom prst="rect">
            <a:avLst/>
          </a:prstGeom>
        </p:spPr>
        <p:txBody>
          <a:bodyPr lIns="0" tIns="0" rIns="0" bIns="0" rtlCol="0" anchor="t">
            <a:spAutoFit/>
          </a:bodyPr>
          <a:lstStyle/>
          <a:p>
            <a:pPr algn="just">
              <a:lnSpc>
                <a:spcPts val="2760"/>
              </a:lnSpc>
            </a:pPr>
            <a:endParaRPr sz="2000"/>
          </a:p>
          <a:p>
            <a:pPr algn="just">
              <a:lnSpc>
                <a:spcPts val="2760"/>
              </a:lnSpc>
              <a:spcBef>
                <a:spcPct val="0"/>
              </a:spcBef>
            </a:pPr>
            <a:r>
              <a:rPr lang="en-US" sz="2400" b="1">
                <a:solidFill>
                  <a:srgbClr val="000000"/>
                </a:solidFill>
                <a:latin typeface="Arial Bold" panose="020B0704020202020204"/>
                <a:ea typeface="Arial Bold" panose="020B0704020202020204"/>
                <a:cs typeface="Arial Bold" panose="020B0704020202020204"/>
                <a:sym typeface="Arial Bold" panose="020B0704020202020204"/>
              </a:rPr>
              <a:t>How can the platform remain scalable as the number of users increases?</a:t>
            </a:r>
            <a:endParaRPr lang="en-US" sz="24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760"/>
              </a:lnSpc>
              <a:spcBef>
                <a:spcPct val="0"/>
              </a:spcBef>
            </a:pPr>
            <a:endParaRPr lang="en-US" sz="24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6" name="TextBox 16"/>
          <p:cNvSpPr txBox="1"/>
          <p:nvPr/>
        </p:nvSpPr>
        <p:spPr>
          <a:xfrm>
            <a:off x="6603760" y="4596251"/>
            <a:ext cx="9697747" cy="1990725"/>
          </a:xfrm>
          <a:prstGeom prst="rect">
            <a:avLst/>
          </a:prstGeom>
        </p:spPr>
        <p:txBody>
          <a:bodyPr lIns="0" tIns="0" rIns="0" bIns="0" rtlCol="0" anchor="t">
            <a:spAutoFit/>
          </a:bodyPr>
          <a:lstStyle/>
          <a:p>
            <a:pPr algn="just">
              <a:lnSpc>
                <a:spcPts val="3105"/>
              </a:lnSpc>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Dapat patuloy na i-update at i-debug ang system upang maiwasan ang mga errors. Maganda ang paglim account creation at login attempts upang maiwasan ang sobrang traffic sa database kapag dumadami ang users.</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3105"/>
              </a:lnSpc>
              <a:spcBef>
                <a:spcPct val="0"/>
              </a:spcBef>
            </a:pP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7" name="TextBox 17"/>
          <p:cNvSpPr txBox="1"/>
          <p:nvPr/>
        </p:nvSpPr>
        <p:spPr>
          <a:xfrm>
            <a:off x="2342493" y="1802340"/>
            <a:ext cx="13571563" cy="533400"/>
          </a:xfrm>
          <a:prstGeom prst="rect">
            <a:avLst/>
          </a:prstGeom>
        </p:spPr>
        <p:txBody>
          <a:bodyPr lIns="0" tIns="0" rIns="0" bIns="0" rtlCol="0" anchor="t">
            <a:spAutoFit/>
          </a:bodyPr>
          <a:lstStyle/>
          <a:p>
            <a:pPr algn="just">
              <a:lnSpc>
                <a:spcPts val="4075"/>
              </a:lnSpc>
              <a:spcBef>
                <a:spcPct val="0"/>
              </a:spcBef>
            </a:pPr>
            <a:r>
              <a:rPr lang="en-US" sz="3395" b="1">
                <a:solidFill>
                  <a:srgbClr val="FF3131"/>
                </a:solidFill>
                <a:latin typeface="Arial Bold" panose="020B0704020202020204"/>
                <a:ea typeface="Arial Bold" panose="020B0704020202020204"/>
                <a:cs typeface="Arial Bold" panose="020B0704020202020204"/>
                <a:sym typeface="Arial Bold" panose="020B0704020202020204"/>
              </a:rPr>
              <a:t>QUESTIONS                                           ANSWERS</a:t>
            </a:r>
            <a:endParaRPr lang="en-US" sz="3395" b="1">
              <a:solidFill>
                <a:srgbClr val="FF3131"/>
              </a:solidFill>
              <a:latin typeface="Arial Bold" panose="020B0704020202020204"/>
              <a:ea typeface="Arial Bold" panose="020B0704020202020204"/>
              <a:cs typeface="Arial Bold" panose="020B0704020202020204"/>
              <a:sym typeface="Arial Bold" panose="020B0704020202020204"/>
            </a:endParaRPr>
          </a:p>
        </p:txBody>
      </p:sp>
      <p:sp>
        <p:nvSpPr>
          <p:cNvPr id="18" name="AutoShape 18"/>
          <p:cNvSpPr/>
          <p:nvPr/>
        </p:nvSpPr>
        <p:spPr>
          <a:xfrm>
            <a:off x="1028700" y="6567926"/>
            <a:ext cx="15555423" cy="4954"/>
          </a:xfrm>
          <a:prstGeom prst="line">
            <a:avLst/>
          </a:prstGeom>
          <a:ln w="142875" cap="rnd">
            <a:solidFill>
              <a:srgbClr val="000000"/>
            </a:solidFill>
            <a:prstDash val="solid"/>
            <a:headEnd type="none" w="sm" len="sm"/>
            <a:tailEnd type="none" w="sm" len="sm"/>
          </a:ln>
        </p:spPr>
      </p:sp>
      <p:sp>
        <p:nvSpPr>
          <p:cNvPr id="19" name="TextBox 19"/>
          <p:cNvSpPr txBox="1"/>
          <p:nvPr/>
        </p:nvSpPr>
        <p:spPr>
          <a:xfrm>
            <a:off x="1372676" y="6930067"/>
            <a:ext cx="4820288" cy="1477010"/>
          </a:xfrm>
          <a:prstGeom prst="rect">
            <a:avLst/>
          </a:prstGeom>
        </p:spPr>
        <p:txBody>
          <a:bodyPr lIns="0" tIns="0" rIns="0" bIns="0" rtlCol="0" anchor="t">
            <a:spAutoFit/>
          </a:bodyPr>
          <a:lstStyle/>
          <a:p>
            <a:pPr algn="just">
              <a:lnSpc>
                <a:spcPts val="2880"/>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What testing methods should be conducted before deployment?</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880"/>
              </a:lnSpc>
              <a:spcBef>
                <a:spcPct val="0"/>
              </a:spcBef>
            </a:pP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0" name="TextBox 20"/>
          <p:cNvSpPr txBox="1"/>
          <p:nvPr/>
        </p:nvSpPr>
        <p:spPr>
          <a:xfrm>
            <a:off x="6603760" y="6667812"/>
            <a:ext cx="9469782" cy="1846580"/>
          </a:xfrm>
          <a:prstGeom prst="rect">
            <a:avLst/>
          </a:prstGeom>
        </p:spPr>
        <p:txBody>
          <a:bodyPr lIns="0" tIns="0" rIns="0" bIns="0" rtlCol="0" anchor="t">
            <a:spAutoFit/>
          </a:bodyPr>
          <a:lstStyle/>
          <a:p>
            <a:pPr algn="just">
              <a:lnSpc>
                <a:spcPts val="2880"/>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Isagawa ang user testing sa pamamagitan ng pagpapagamit ng system sa mga target users upang matukoy ang mga kakulangan ng platform at ma-improve bago ito i-deploy.</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880"/>
              </a:lnSpc>
              <a:spcBef>
                <a:spcPct val="0"/>
              </a:spcBef>
            </a:pP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1" name="AutoShape 21"/>
          <p:cNvSpPr/>
          <p:nvPr/>
        </p:nvSpPr>
        <p:spPr>
          <a:xfrm flipV="1">
            <a:off x="886089" y="8235270"/>
            <a:ext cx="15728602" cy="6188"/>
          </a:xfrm>
          <a:prstGeom prst="line">
            <a:avLst/>
          </a:prstGeom>
          <a:ln w="142875" cap="rnd">
            <a:solidFill>
              <a:srgbClr val="000000"/>
            </a:solidFill>
            <a:prstDash val="solid"/>
            <a:headEnd type="none" w="sm" len="sm"/>
            <a:tailEnd type="none" w="sm" len="sm"/>
          </a:ln>
        </p:spPr>
      </p:sp>
      <p:sp>
        <p:nvSpPr>
          <p:cNvPr id="22" name="TextBox 22"/>
          <p:cNvSpPr txBox="1"/>
          <p:nvPr/>
        </p:nvSpPr>
        <p:spPr>
          <a:xfrm>
            <a:off x="1306184" y="8425770"/>
            <a:ext cx="4820288" cy="1477010"/>
          </a:xfrm>
          <a:prstGeom prst="rect">
            <a:avLst/>
          </a:prstGeom>
        </p:spPr>
        <p:txBody>
          <a:bodyPr lIns="0" tIns="0" rIns="0" bIns="0" rtlCol="0" anchor="t">
            <a:spAutoFit/>
          </a:bodyPr>
          <a:lstStyle/>
          <a:p>
            <a:pPr algn="just">
              <a:lnSpc>
                <a:spcPts val="2880"/>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Can you share your recommendations to improve the overall system?</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880"/>
              </a:lnSpc>
              <a:spcBef>
                <a:spcPct val="0"/>
              </a:spcBef>
            </a:pP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3" name="TextBox 23"/>
          <p:cNvSpPr txBox="1"/>
          <p:nvPr/>
        </p:nvSpPr>
        <p:spPr>
          <a:xfrm>
            <a:off x="6603760" y="8557381"/>
            <a:ext cx="9469782" cy="1107440"/>
          </a:xfrm>
          <a:prstGeom prst="rect">
            <a:avLst/>
          </a:prstGeom>
        </p:spPr>
        <p:txBody>
          <a:bodyPr lIns="0" tIns="0" rIns="0" bIns="0" rtlCol="0" anchor="t">
            <a:spAutoFit/>
          </a:bodyPr>
          <a:lstStyle/>
          <a:p>
            <a:pPr algn="just">
              <a:lnSpc>
                <a:spcPts val="2880"/>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Kailangan updated at secure ang system at tiyaking user-friendly ito </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880"/>
              </a:lnSpc>
              <a:spcBef>
                <a:spcPct val="0"/>
              </a:spcBef>
            </a:pP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4" name="TextBox 8"/>
          <p:cNvSpPr txBox="1"/>
          <p:nvPr/>
        </p:nvSpPr>
        <p:spPr>
          <a:xfrm>
            <a:off x="10287000" y="419100"/>
            <a:ext cx="7981950" cy="1200785"/>
          </a:xfrm>
          <a:prstGeom prst="rect">
            <a:avLst/>
          </a:prstGeom>
        </p:spPr>
        <p:txBody>
          <a:bodyPr wrap="square" lIns="0" tIns="0" rIns="0" bIns="0" rtlCol="0" anchor="t">
            <a:spAutoFit/>
          </a:bodyPr>
          <a:lstStyle/>
          <a:p>
            <a:pPr algn="ctr">
              <a:lnSpc>
                <a:spcPts val="9365"/>
              </a:lnSpc>
            </a:pPr>
            <a:r>
              <a:rPr lang="en-US" sz="3200" b="1">
                <a:solidFill>
                  <a:srgbClr val="FFFFFF"/>
                </a:solidFill>
                <a:latin typeface="Arial Bold" panose="020B0704020202020204"/>
                <a:ea typeface="Arial Bold" panose="020B0704020202020204"/>
                <a:cs typeface="Arial Bold" panose="020B0704020202020204"/>
                <a:sym typeface="Arial Bold" panose="020B0704020202020204"/>
              </a:rPr>
              <a:t>Laurice</a:t>
            </a:r>
            <a:endParaRPr lang="en-US" sz="320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5099392" y="7549696"/>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sp>
        <p:nvSpPr>
          <p:cNvPr id="8" name="Freeform 8"/>
          <p:cNvSpPr/>
          <p:nvPr/>
        </p:nvSpPr>
        <p:spPr>
          <a:xfrm>
            <a:off x="741814" y="1667090"/>
            <a:ext cx="17228075" cy="8376800"/>
          </a:xfrm>
          <a:custGeom>
            <a:avLst/>
            <a:gdLst/>
            <a:ahLst/>
            <a:cxnLst/>
            <a:rect l="l" t="t" r="r" b="b"/>
            <a:pathLst>
              <a:path w="17228075" h="8376800">
                <a:moveTo>
                  <a:pt x="0" y="0"/>
                </a:moveTo>
                <a:lnTo>
                  <a:pt x="17228075" y="0"/>
                </a:lnTo>
                <a:lnTo>
                  <a:pt x="17228075" y="8376800"/>
                </a:lnTo>
                <a:lnTo>
                  <a:pt x="0" y="8376800"/>
                </a:lnTo>
                <a:lnTo>
                  <a:pt x="0" y="0"/>
                </a:lnTo>
                <a:close/>
              </a:path>
            </a:pathLst>
          </a:custGeom>
          <a:blipFill>
            <a:blip r:embed="rId1"/>
            <a:stretch>
              <a:fillRect t="-55731" b="-52010"/>
            </a:stretch>
          </a:blipFill>
        </p:spPr>
      </p:sp>
      <p:sp>
        <p:nvSpPr>
          <p:cNvPr id="9" name="TextBox 9"/>
          <p:cNvSpPr txBox="1"/>
          <p:nvPr/>
        </p:nvSpPr>
        <p:spPr>
          <a:xfrm>
            <a:off x="3352800" y="270510"/>
            <a:ext cx="10827385" cy="1200785"/>
          </a:xfrm>
          <a:prstGeom prst="rect">
            <a:avLst/>
          </a:prstGeom>
        </p:spPr>
        <p:txBody>
          <a:bodyPr wrap="square"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MAIN CLIENT</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0" name="TextBox 10"/>
          <p:cNvSpPr txBox="1"/>
          <p:nvPr/>
        </p:nvSpPr>
        <p:spPr>
          <a:xfrm>
            <a:off x="1772964" y="1846412"/>
            <a:ext cx="11722189" cy="742950"/>
          </a:xfrm>
          <a:prstGeom prst="rect">
            <a:avLst/>
          </a:prstGeom>
        </p:spPr>
        <p:txBody>
          <a:bodyPr lIns="0" tIns="0" rIns="0" bIns="0" rtlCol="0" anchor="t">
            <a:spAutoFit/>
          </a:bodyPr>
          <a:lstStyle/>
          <a:p>
            <a:pPr algn="l">
              <a:lnSpc>
                <a:spcPts val="5765"/>
              </a:lnSpc>
            </a:pPr>
            <a:r>
              <a:rPr lang="en-US" sz="4805" b="1">
                <a:solidFill>
                  <a:srgbClr val="FFFFFF"/>
                </a:solidFill>
                <a:latin typeface="Arial Bold" panose="020B0704020202020204"/>
                <a:ea typeface="Arial Bold" panose="020B0704020202020204"/>
                <a:cs typeface="Arial Bold" panose="020B0704020202020204"/>
                <a:sym typeface="Arial Bold" panose="020B0704020202020204"/>
              </a:rPr>
              <a:t>What did you ask?</a:t>
            </a:r>
            <a:endParaRPr lang="en-US" sz="4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1" name="AutoShape 11"/>
          <p:cNvSpPr/>
          <p:nvPr/>
        </p:nvSpPr>
        <p:spPr>
          <a:xfrm flipH="1">
            <a:off x="6446280" y="1865462"/>
            <a:ext cx="0" cy="8178428"/>
          </a:xfrm>
          <a:prstGeom prst="line">
            <a:avLst/>
          </a:prstGeom>
          <a:ln w="142875" cap="rnd">
            <a:solidFill>
              <a:srgbClr val="000000"/>
            </a:solidFill>
            <a:prstDash val="solid"/>
            <a:headEnd type="none" w="sm" len="sm"/>
            <a:tailEnd type="none" w="sm" len="sm"/>
          </a:ln>
        </p:spPr>
      </p:sp>
      <p:sp>
        <p:nvSpPr>
          <p:cNvPr id="12" name="AutoShape 12"/>
          <p:cNvSpPr/>
          <p:nvPr/>
        </p:nvSpPr>
        <p:spPr>
          <a:xfrm flipV="1">
            <a:off x="1028700" y="4867485"/>
            <a:ext cx="15614494" cy="0"/>
          </a:xfrm>
          <a:prstGeom prst="line">
            <a:avLst/>
          </a:prstGeom>
          <a:ln w="142875" cap="rnd">
            <a:solidFill>
              <a:srgbClr val="000000"/>
            </a:solidFill>
            <a:prstDash val="solid"/>
            <a:headEnd type="none" w="sm" len="sm"/>
            <a:tailEnd type="none" w="sm" len="sm"/>
          </a:ln>
        </p:spPr>
      </p:sp>
      <p:sp>
        <p:nvSpPr>
          <p:cNvPr id="13" name="TextBox 13"/>
          <p:cNvSpPr txBox="1"/>
          <p:nvPr/>
        </p:nvSpPr>
        <p:spPr>
          <a:xfrm>
            <a:off x="1607683" y="2452897"/>
            <a:ext cx="4326491" cy="2031365"/>
          </a:xfrm>
          <a:prstGeom prst="rect">
            <a:avLst/>
          </a:prstGeom>
        </p:spPr>
        <p:txBody>
          <a:bodyPr lIns="0" tIns="0" rIns="0" bIns="0" rtlCol="0" anchor="t">
            <a:spAutoFit/>
          </a:bodyPr>
          <a:lstStyle/>
          <a:p>
            <a:pPr algn="just">
              <a:lnSpc>
                <a:spcPts val="2640"/>
              </a:lnSpc>
            </a:pPr>
            <a:endParaRPr sz="2400"/>
          </a:p>
          <a:p>
            <a:pPr algn="just">
              <a:lnSpc>
                <a:spcPts val="2640"/>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What challenges do you currently face in distributing or managing donated essential items?</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640"/>
              </a:lnSpc>
              <a:spcBef>
                <a:spcPct val="0"/>
              </a:spcBef>
            </a:pP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4" name="TextBox 14"/>
          <p:cNvSpPr txBox="1"/>
          <p:nvPr/>
        </p:nvSpPr>
        <p:spPr>
          <a:xfrm>
            <a:off x="6717742" y="2570312"/>
            <a:ext cx="9697747" cy="1759585"/>
          </a:xfrm>
          <a:prstGeom prst="rect">
            <a:avLst/>
          </a:prstGeom>
        </p:spPr>
        <p:txBody>
          <a:bodyPr lIns="0" tIns="0" rIns="0" bIns="0" rtlCol="0" anchor="t">
            <a:spAutoFit/>
          </a:bodyPr>
          <a:lstStyle/>
          <a:p>
            <a:pPr algn="just">
              <a:lnSpc>
                <a:spcPts val="2745"/>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Mahirap minsan ang maayos na pagbibigay ng donations dahil hindi agad namin nalalaman kung sino yung mga mas nangangailangan. May mga time din na kulang yung information ng tatanggap o may mga nakakakuha nang higit sa isang beses. </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5" name="TextBox 15"/>
          <p:cNvSpPr txBox="1"/>
          <p:nvPr/>
        </p:nvSpPr>
        <p:spPr>
          <a:xfrm>
            <a:off x="1324354" y="5388595"/>
            <a:ext cx="4868610" cy="1769745"/>
          </a:xfrm>
          <a:prstGeom prst="rect">
            <a:avLst/>
          </a:prstGeom>
        </p:spPr>
        <p:txBody>
          <a:bodyPr lIns="0" tIns="0" rIns="0" bIns="0" rtlCol="0" anchor="t">
            <a:spAutoFit/>
          </a:bodyPr>
          <a:lstStyle/>
          <a:p>
            <a:pPr algn="just">
              <a:lnSpc>
                <a:spcPts val="2760"/>
              </a:lnSpc>
            </a:pPr>
            <a:endParaRPr sz="2400"/>
          </a:p>
          <a:p>
            <a:pPr algn="just">
              <a:lnSpc>
                <a:spcPts val="2760"/>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What types of essential items are most commonly donated or requested?</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760"/>
              </a:lnSpc>
              <a:spcBef>
                <a:spcPct val="0"/>
              </a:spcBef>
            </a:pP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6" name="TextBox 16"/>
          <p:cNvSpPr txBox="1"/>
          <p:nvPr/>
        </p:nvSpPr>
        <p:spPr>
          <a:xfrm>
            <a:off x="6717742" y="5347958"/>
            <a:ext cx="9697747" cy="1990725"/>
          </a:xfrm>
          <a:prstGeom prst="rect">
            <a:avLst/>
          </a:prstGeom>
        </p:spPr>
        <p:txBody>
          <a:bodyPr lIns="0" tIns="0" rIns="0" bIns="0" rtlCol="0" anchor="t">
            <a:spAutoFit/>
          </a:bodyPr>
          <a:lstStyle/>
          <a:p>
            <a:pPr algn="just">
              <a:lnSpc>
                <a:spcPts val="3105"/>
              </a:lnSpc>
            </a:pPr>
            <a:r>
              <a:rPr lang="en-US" sz="3200" b="1">
                <a:solidFill>
                  <a:srgbClr val="000000"/>
                </a:solidFill>
                <a:latin typeface="Arial Bold" panose="020B0704020202020204"/>
                <a:ea typeface="Arial Bold" panose="020B0704020202020204"/>
                <a:cs typeface="Arial Bold" panose="020B0704020202020204"/>
                <a:sym typeface="Arial Bold" panose="020B0704020202020204"/>
              </a:rPr>
              <a:t>Kadalasang donasyon o hinihingi ay yung basic needs kagaya ng bigas, de-lata, damit, school supplies, hygiene kits, gamot. Kapag may kalamidad, kailangan din minsan ang kumot at electric fan. </a:t>
            </a: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7" name="TextBox 17"/>
          <p:cNvSpPr txBox="1"/>
          <p:nvPr/>
        </p:nvSpPr>
        <p:spPr>
          <a:xfrm>
            <a:off x="2342493" y="1802340"/>
            <a:ext cx="13571563" cy="533400"/>
          </a:xfrm>
          <a:prstGeom prst="rect">
            <a:avLst/>
          </a:prstGeom>
        </p:spPr>
        <p:txBody>
          <a:bodyPr lIns="0" tIns="0" rIns="0" bIns="0" rtlCol="0" anchor="t">
            <a:spAutoFit/>
          </a:bodyPr>
          <a:lstStyle/>
          <a:p>
            <a:pPr algn="just">
              <a:lnSpc>
                <a:spcPts val="4075"/>
              </a:lnSpc>
              <a:spcBef>
                <a:spcPct val="0"/>
              </a:spcBef>
            </a:pPr>
            <a:r>
              <a:rPr lang="en-US" sz="3395" b="1">
                <a:solidFill>
                  <a:srgbClr val="FF3131"/>
                </a:solidFill>
                <a:latin typeface="Arial Bold" panose="020B0704020202020204"/>
                <a:ea typeface="Arial Bold" panose="020B0704020202020204"/>
                <a:cs typeface="Arial Bold" panose="020B0704020202020204"/>
                <a:sym typeface="Arial Bold" panose="020B0704020202020204"/>
              </a:rPr>
              <a:t>QUESTIONS                                           ANSWERS</a:t>
            </a:r>
            <a:endParaRPr lang="en-US" sz="3395" b="1">
              <a:solidFill>
                <a:srgbClr val="FF3131"/>
              </a:solidFill>
              <a:latin typeface="Arial Bold" panose="020B0704020202020204"/>
              <a:ea typeface="Arial Bold" panose="020B0704020202020204"/>
              <a:cs typeface="Arial Bold" panose="020B0704020202020204"/>
              <a:sym typeface="Arial Bold" panose="020B0704020202020204"/>
            </a:endParaRPr>
          </a:p>
        </p:txBody>
      </p:sp>
      <p:sp>
        <p:nvSpPr>
          <p:cNvPr id="18" name="AutoShape 18"/>
          <p:cNvSpPr/>
          <p:nvPr/>
        </p:nvSpPr>
        <p:spPr>
          <a:xfrm flipV="1">
            <a:off x="1028700" y="7614679"/>
            <a:ext cx="15614494" cy="53155"/>
          </a:xfrm>
          <a:prstGeom prst="line">
            <a:avLst/>
          </a:prstGeom>
          <a:ln w="142875" cap="rnd">
            <a:solidFill>
              <a:srgbClr val="000000"/>
            </a:solidFill>
            <a:prstDash val="solid"/>
            <a:headEnd type="none" w="sm" len="sm"/>
            <a:tailEnd type="none" w="sm" len="sm"/>
          </a:ln>
        </p:spPr>
      </p:sp>
      <p:sp>
        <p:nvSpPr>
          <p:cNvPr id="19" name="TextBox 19"/>
          <p:cNvSpPr txBox="1"/>
          <p:nvPr/>
        </p:nvSpPr>
        <p:spPr>
          <a:xfrm>
            <a:off x="1348515" y="8055848"/>
            <a:ext cx="4820288" cy="1846580"/>
          </a:xfrm>
          <a:prstGeom prst="rect">
            <a:avLst/>
          </a:prstGeom>
        </p:spPr>
        <p:txBody>
          <a:bodyPr lIns="0" tIns="0" rIns="0" bIns="0" rtlCol="0" anchor="t">
            <a:spAutoFit/>
          </a:bodyPr>
          <a:lstStyle/>
          <a:p>
            <a:pPr algn="just">
              <a:lnSpc>
                <a:spcPts val="2880"/>
              </a:lnSpc>
            </a:pPr>
            <a:endParaRPr sz="2400"/>
          </a:p>
          <a:p>
            <a:pPr algn="just">
              <a:lnSpc>
                <a:spcPts val="2880"/>
              </a:lnSpc>
              <a:spcBef>
                <a:spcPct val="0"/>
              </a:spcBef>
            </a:pPr>
            <a:r>
              <a:rPr lang="en-US" sz="3200" b="1">
                <a:solidFill>
                  <a:srgbClr val="000000"/>
                </a:solidFill>
                <a:latin typeface="Arial Bold" panose="020B0704020202020204"/>
                <a:ea typeface="Arial Bold" panose="020B0704020202020204"/>
                <a:cs typeface="Arial Bold" panose="020B0704020202020204"/>
                <a:sym typeface="Arial Bold" panose="020B0704020202020204"/>
              </a:rPr>
              <a:t>How do you currently verify legitimate donors and recipients?</a:t>
            </a: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880"/>
              </a:lnSpc>
              <a:spcBef>
                <a:spcPct val="0"/>
              </a:spcBef>
            </a:pP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0" name="TextBox 20"/>
          <p:cNvSpPr txBox="1"/>
          <p:nvPr/>
        </p:nvSpPr>
        <p:spPr>
          <a:xfrm>
            <a:off x="6717742" y="7874065"/>
            <a:ext cx="9469782" cy="2215515"/>
          </a:xfrm>
          <a:prstGeom prst="rect">
            <a:avLst/>
          </a:prstGeom>
        </p:spPr>
        <p:txBody>
          <a:bodyPr lIns="0" tIns="0" rIns="0" bIns="0" rtlCol="0" anchor="t">
            <a:spAutoFit/>
          </a:bodyPr>
          <a:lstStyle/>
          <a:p>
            <a:pPr algn="just">
              <a:lnSpc>
                <a:spcPts val="2880"/>
              </a:lnSpc>
              <a:spcBef>
                <a:spcPct val="0"/>
              </a:spcBef>
            </a:pPr>
            <a:r>
              <a:rPr lang="en-US" sz="3200" b="1">
                <a:solidFill>
                  <a:srgbClr val="000000"/>
                </a:solidFill>
                <a:latin typeface="Arial Bold" panose="020B0704020202020204"/>
                <a:ea typeface="Arial Bold" panose="020B0704020202020204"/>
                <a:cs typeface="Arial Bold" panose="020B0704020202020204"/>
                <a:sym typeface="Arial Bold" panose="020B0704020202020204"/>
              </a:rPr>
              <a:t>Humihingi kami ng valid ID para masigurong residente sila ng barangay. Nakikipag-usap din kami sa mga barangay officials para malaman kung sino ang tunay na nangangailangan. Sa mga donor naman, kinukuha namin ang kanilang pangalan at contact number.</a:t>
            </a: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1" name="TextBox 8"/>
          <p:cNvSpPr txBox="1"/>
          <p:nvPr/>
        </p:nvSpPr>
        <p:spPr>
          <a:xfrm>
            <a:off x="10896600" y="419100"/>
            <a:ext cx="7981950" cy="1200785"/>
          </a:xfrm>
          <a:prstGeom prst="rect">
            <a:avLst/>
          </a:prstGeom>
        </p:spPr>
        <p:txBody>
          <a:bodyPr wrap="square" lIns="0" tIns="0" rIns="0" bIns="0" rtlCol="0" anchor="t">
            <a:spAutoFit/>
          </a:bodyPr>
          <a:lstStyle/>
          <a:p>
            <a:pPr algn="ctr">
              <a:lnSpc>
                <a:spcPts val="9365"/>
              </a:lnSpc>
            </a:pPr>
            <a:r>
              <a:rPr lang="en-US" sz="3200" b="1">
                <a:solidFill>
                  <a:srgbClr val="FFFFFF"/>
                </a:solidFill>
                <a:latin typeface="Arial Bold" panose="020B0704020202020204"/>
                <a:ea typeface="Arial Bold" panose="020B0704020202020204"/>
                <a:cs typeface="Arial Bold" panose="020B0704020202020204"/>
                <a:sym typeface="Arial Bold" panose="020B0704020202020204"/>
              </a:rPr>
              <a:t>Leah</a:t>
            </a:r>
            <a:endParaRPr lang="en-US" sz="320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4880969" y="6253153"/>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sp>
        <p:nvSpPr>
          <p:cNvPr id="8" name="Freeform 8"/>
          <p:cNvSpPr/>
          <p:nvPr/>
        </p:nvSpPr>
        <p:spPr>
          <a:xfrm>
            <a:off x="741814" y="1667090"/>
            <a:ext cx="17228075" cy="8376800"/>
          </a:xfrm>
          <a:custGeom>
            <a:avLst/>
            <a:gdLst/>
            <a:ahLst/>
            <a:cxnLst/>
            <a:rect l="l" t="t" r="r" b="b"/>
            <a:pathLst>
              <a:path w="17228075" h="8376800">
                <a:moveTo>
                  <a:pt x="0" y="0"/>
                </a:moveTo>
                <a:lnTo>
                  <a:pt x="17228075" y="0"/>
                </a:lnTo>
                <a:lnTo>
                  <a:pt x="17228075" y="8376800"/>
                </a:lnTo>
                <a:lnTo>
                  <a:pt x="0" y="8376800"/>
                </a:lnTo>
                <a:lnTo>
                  <a:pt x="0" y="0"/>
                </a:lnTo>
                <a:close/>
              </a:path>
            </a:pathLst>
          </a:custGeom>
          <a:blipFill>
            <a:blip r:embed="rId1"/>
            <a:stretch>
              <a:fillRect t="-55731" b="-52010"/>
            </a:stretch>
          </a:blipFill>
        </p:spPr>
      </p:sp>
      <p:sp>
        <p:nvSpPr>
          <p:cNvPr id="9" name="TextBox 9"/>
          <p:cNvSpPr txBox="1"/>
          <p:nvPr/>
        </p:nvSpPr>
        <p:spPr>
          <a:xfrm>
            <a:off x="3107055" y="366395"/>
            <a:ext cx="11021695" cy="1200785"/>
          </a:xfrm>
          <a:prstGeom prst="rect">
            <a:avLst/>
          </a:prstGeom>
        </p:spPr>
        <p:txBody>
          <a:bodyPr wrap="square"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MAIN CLIENT</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0" name="TextBox 10"/>
          <p:cNvSpPr txBox="1"/>
          <p:nvPr/>
        </p:nvSpPr>
        <p:spPr>
          <a:xfrm>
            <a:off x="1772964" y="1846412"/>
            <a:ext cx="11722189" cy="742950"/>
          </a:xfrm>
          <a:prstGeom prst="rect">
            <a:avLst/>
          </a:prstGeom>
        </p:spPr>
        <p:txBody>
          <a:bodyPr lIns="0" tIns="0" rIns="0" bIns="0" rtlCol="0" anchor="t">
            <a:spAutoFit/>
          </a:bodyPr>
          <a:lstStyle/>
          <a:p>
            <a:pPr algn="l">
              <a:lnSpc>
                <a:spcPts val="5765"/>
              </a:lnSpc>
            </a:pPr>
            <a:r>
              <a:rPr lang="en-US" sz="4805" b="1">
                <a:solidFill>
                  <a:srgbClr val="FFFFFF"/>
                </a:solidFill>
                <a:latin typeface="Arial Bold" panose="020B0704020202020204"/>
                <a:ea typeface="Arial Bold" panose="020B0704020202020204"/>
                <a:cs typeface="Arial Bold" panose="020B0704020202020204"/>
                <a:sym typeface="Arial Bold" panose="020B0704020202020204"/>
              </a:rPr>
              <a:t>What did you ask?</a:t>
            </a:r>
            <a:endParaRPr lang="en-US" sz="4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1" name="AutoShape 11"/>
          <p:cNvSpPr/>
          <p:nvPr/>
        </p:nvSpPr>
        <p:spPr>
          <a:xfrm flipH="1">
            <a:off x="6446280" y="1865462"/>
            <a:ext cx="0" cy="8178428"/>
          </a:xfrm>
          <a:prstGeom prst="line">
            <a:avLst/>
          </a:prstGeom>
          <a:ln w="142875" cap="rnd">
            <a:solidFill>
              <a:srgbClr val="000000"/>
            </a:solidFill>
            <a:prstDash val="solid"/>
            <a:headEnd type="none" w="sm" len="sm"/>
            <a:tailEnd type="none" w="sm" len="sm"/>
          </a:ln>
        </p:spPr>
      </p:sp>
      <p:sp>
        <p:nvSpPr>
          <p:cNvPr id="12" name="AutoShape 12"/>
          <p:cNvSpPr/>
          <p:nvPr/>
        </p:nvSpPr>
        <p:spPr>
          <a:xfrm flipV="1">
            <a:off x="1028700" y="4403874"/>
            <a:ext cx="15614494" cy="0"/>
          </a:xfrm>
          <a:prstGeom prst="line">
            <a:avLst/>
          </a:prstGeom>
          <a:ln w="142875" cap="rnd">
            <a:solidFill>
              <a:srgbClr val="000000"/>
            </a:solidFill>
            <a:prstDash val="solid"/>
            <a:headEnd type="none" w="sm" len="sm"/>
            <a:tailEnd type="none" w="sm" len="sm"/>
          </a:ln>
        </p:spPr>
      </p:sp>
      <p:sp>
        <p:nvSpPr>
          <p:cNvPr id="13" name="TextBox 13"/>
          <p:cNvSpPr txBox="1"/>
          <p:nvPr/>
        </p:nvSpPr>
        <p:spPr>
          <a:xfrm>
            <a:off x="1571252" y="2412511"/>
            <a:ext cx="4326491" cy="2031365"/>
          </a:xfrm>
          <a:prstGeom prst="rect">
            <a:avLst/>
          </a:prstGeom>
        </p:spPr>
        <p:txBody>
          <a:bodyPr lIns="0" tIns="0" rIns="0" bIns="0" rtlCol="0" anchor="t">
            <a:spAutoFit/>
          </a:bodyPr>
          <a:lstStyle/>
          <a:p>
            <a:pPr algn="just">
              <a:lnSpc>
                <a:spcPts val="2640"/>
              </a:lnSpc>
            </a:pPr>
            <a:endParaRPr sz="2400"/>
          </a:p>
          <a:p>
            <a:pPr algn="just">
              <a:lnSpc>
                <a:spcPts val="2640"/>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What features would you like to see in a donation and exchange web platform?</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640"/>
              </a:lnSpc>
              <a:spcBef>
                <a:spcPct val="0"/>
              </a:spcBef>
            </a:pP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4" name="TextBox 14"/>
          <p:cNvSpPr txBox="1"/>
          <p:nvPr/>
        </p:nvSpPr>
        <p:spPr>
          <a:xfrm>
            <a:off x="6717742" y="2570312"/>
            <a:ext cx="9697747" cy="1407795"/>
          </a:xfrm>
          <a:prstGeom prst="rect">
            <a:avLst/>
          </a:prstGeom>
        </p:spPr>
        <p:txBody>
          <a:bodyPr lIns="0" tIns="0" rIns="0" bIns="0" rtlCol="0" anchor="t">
            <a:spAutoFit/>
          </a:bodyPr>
          <a:lstStyle/>
          <a:p>
            <a:pPr algn="just">
              <a:lnSpc>
                <a:spcPts val="2745"/>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Maganda kung may user verification, tracking ng donasyon, notifications, at listahan ng mga kailangan ng barangay. Makakatulong din kung puwedeng mag-upload ng pictures ng mga idodonate.</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5" name="TextBox 15"/>
          <p:cNvSpPr txBox="1"/>
          <p:nvPr/>
        </p:nvSpPr>
        <p:spPr>
          <a:xfrm>
            <a:off x="6727267" y="4664865"/>
            <a:ext cx="9697747" cy="1194435"/>
          </a:xfrm>
          <a:prstGeom prst="rect">
            <a:avLst/>
          </a:prstGeom>
        </p:spPr>
        <p:txBody>
          <a:bodyPr lIns="0" tIns="0" rIns="0" bIns="0" rtlCol="0" anchor="t">
            <a:spAutoFit/>
          </a:bodyPr>
          <a:lstStyle/>
          <a:p>
            <a:pPr algn="just">
              <a:lnSpc>
                <a:spcPts val="3105"/>
              </a:lnSpc>
            </a:pPr>
            <a:r>
              <a:rPr lang="en-US" sz="3200" b="1">
                <a:solidFill>
                  <a:srgbClr val="000000"/>
                </a:solidFill>
                <a:latin typeface="Arial Bold" panose="020B0704020202020204"/>
                <a:ea typeface="Arial Bold" panose="020B0704020202020204"/>
                <a:cs typeface="Arial Bold" panose="020B0704020202020204"/>
                <a:sym typeface="Arial Bold" panose="020B0704020202020204"/>
              </a:rPr>
              <a:t>Napakahalaga ng transparency para makita kung saan napupunta ang mga donasyon at mapanatili ang tiwala ng mga donor at recipient.</a:t>
            </a: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6" name="TextBox 16"/>
          <p:cNvSpPr txBox="1"/>
          <p:nvPr/>
        </p:nvSpPr>
        <p:spPr>
          <a:xfrm>
            <a:off x="2342493" y="1802340"/>
            <a:ext cx="13571563" cy="533400"/>
          </a:xfrm>
          <a:prstGeom prst="rect">
            <a:avLst/>
          </a:prstGeom>
        </p:spPr>
        <p:txBody>
          <a:bodyPr lIns="0" tIns="0" rIns="0" bIns="0" rtlCol="0" anchor="t">
            <a:spAutoFit/>
          </a:bodyPr>
          <a:lstStyle/>
          <a:p>
            <a:pPr algn="just">
              <a:lnSpc>
                <a:spcPts val="4075"/>
              </a:lnSpc>
              <a:spcBef>
                <a:spcPct val="0"/>
              </a:spcBef>
            </a:pPr>
            <a:r>
              <a:rPr lang="en-US" sz="3395" b="1">
                <a:solidFill>
                  <a:srgbClr val="FF3131"/>
                </a:solidFill>
                <a:latin typeface="Arial Bold" panose="020B0704020202020204"/>
                <a:ea typeface="Arial Bold" panose="020B0704020202020204"/>
                <a:cs typeface="Arial Bold" panose="020B0704020202020204"/>
                <a:sym typeface="Arial Bold" panose="020B0704020202020204"/>
              </a:rPr>
              <a:t>QUESTIONS                                           ANSWERS</a:t>
            </a:r>
            <a:endParaRPr lang="en-US" sz="3395" b="1">
              <a:solidFill>
                <a:srgbClr val="FF3131"/>
              </a:solidFill>
              <a:latin typeface="Arial Bold" panose="020B0704020202020204"/>
              <a:ea typeface="Arial Bold" panose="020B0704020202020204"/>
              <a:cs typeface="Arial Bold" panose="020B0704020202020204"/>
              <a:sym typeface="Arial Bold" panose="020B0704020202020204"/>
            </a:endParaRPr>
          </a:p>
        </p:txBody>
      </p:sp>
      <p:sp>
        <p:nvSpPr>
          <p:cNvPr id="17" name="AutoShape 17"/>
          <p:cNvSpPr/>
          <p:nvPr/>
        </p:nvSpPr>
        <p:spPr>
          <a:xfrm flipV="1">
            <a:off x="810277" y="6318137"/>
            <a:ext cx="15614494" cy="53155"/>
          </a:xfrm>
          <a:prstGeom prst="line">
            <a:avLst/>
          </a:prstGeom>
          <a:ln w="142875" cap="rnd">
            <a:solidFill>
              <a:srgbClr val="000000"/>
            </a:solidFill>
            <a:prstDash val="solid"/>
            <a:headEnd type="none" w="sm" len="sm"/>
            <a:tailEnd type="none" w="sm" len="sm"/>
          </a:ln>
        </p:spPr>
      </p:sp>
      <p:sp>
        <p:nvSpPr>
          <p:cNvPr id="18" name="TextBox 18"/>
          <p:cNvSpPr txBox="1"/>
          <p:nvPr/>
        </p:nvSpPr>
        <p:spPr>
          <a:xfrm>
            <a:off x="6698692" y="6766579"/>
            <a:ext cx="9469782" cy="1107440"/>
          </a:xfrm>
          <a:prstGeom prst="rect">
            <a:avLst/>
          </a:prstGeom>
        </p:spPr>
        <p:txBody>
          <a:bodyPr lIns="0" tIns="0" rIns="0" bIns="0" rtlCol="0" anchor="t">
            <a:spAutoFit/>
          </a:bodyPr>
          <a:lstStyle/>
          <a:p>
            <a:pPr algn="just">
              <a:lnSpc>
                <a:spcPts val="2880"/>
              </a:lnSpc>
              <a:spcBef>
                <a:spcPct val="0"/>
              </a:spcBef>
            </a:pPr>
            <a:r>
              <a:rPr lang="en-US" sz="3200" b="1">
                <a:solidFill>
                  <a:srgbClr val="000000"/>
                </a:solidFill>
                <a:latin typeface="Arial Bold" panose="020B0704020202020204"/>
                <a:ea typeface="Arial Bold" panose="020B0704020202020204"/>
                <a:cs typeface="Arial Bold" panose="020B0704020202020204"/>
                <a:sym typeface="Arial Bold" panose="020B0704020202020204"/>
              </a:rPr>
              <a:t>Sana matulungan ng platform na maging fair ang pamamahagi ng donasyon at mas maayos ang pagtatala ng mga ito.</a:t>
            </a: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9" name="AutoShape 19"/>
          <p:cNvSpPr/>
          <p:nvPr/>
        </p:nvSpPr>
        <p:spPr>
          <a:xfrm flipV="1">
            <a:off x="1028457" y="8137117"/>
            <a:ext cx="15614494" cy="53155"/>
          </a:xfrm>
          <a:prstGeom prst="line">
            <a:avLst/>
          </a:prstGeom>
          <a:ln w="142875" cap="rnd">
            <a:solidFill>
              <a:srgbClr val="000000"/>
            </a:solidFill>
            <a:prstDash val="solid"/>
            <a:headEnd type="none" w="sm" len="sm"/>
            <a:tailEnd type="none" w="sm" len="sm"/>
          </a:ln>
        </p:spPr>
      </p:sp>
      <p:sp>
        <p:nvSpPr>
          <p:cNvPr id="20" name="TextBox 20"/>
          <p:cNvSpPr txBox="1"/>
          <p:nvPr/>
        </p:nvSpPr>
        <p:spPr>
          <a:xfrm>
            <a:off x="6698692" y="8642709"/>
            <a:ext cx="9469782" cy="1107440"/>
          </a:xfrm>
          <a:prstGeom prst="rect">
            <a:avLst/>
          </a:prstGeom>
        </p:spPr>
        <p:txBody>
          <a:bodyPr lIns="0" tIns="0" rIns="0" bIns="0" rtlCol="0" anchor="t">
            <a:spAutoFit/>
          </a:bodyPr>
          <a:lstStyle/>
          <a:p>
            <a:pPr algn="just">
              <a:lnSpc>
                <a:spcPts val="2880"/>
              </a:lnSpc>
              <a:spcBef>
                <a:spcPct val="0"/>
              </a:spcBef>
            </a:pPr>
            <a:r>
              <a:rPr lang="en-US" sz="3200" b="1">
                <a:solidFill>
                  <a:srgbClr val="000000"/>
                </a:solidFill>
                <a:latin typeface="Arial Bold" panose="020B0704020202020204"/>
                <a:ea typeface="Arial Bold" panose="020B0704020202020204"/>
                <a:cs typeface="Arial Bold" panose="020B0704020202020204"/>
                <a:sym typeface="Arial Bold" panose="020B0704020202020204"/>
              </a:rPr>
              <a:t>Dapat may "Report" button sa bawat post para madaling mai-report ang mga peke o mapanlinlang na gawain</a:t>
            </a: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1" name="TextBox 21"/>
          <p:cNvSpPr txBox="1"/>
          <p:nvPr/>
        </p:nvSpPr>
        <p:spPr>
          <a:xfrm>
            <a:off x="1300192" y="8482401"/>
            <a:ext cx="4868610" cy="1415415"/>
          </a:xfrm>
          <a:prstGeom prst="rect">
            <a:avLst/>
          </a:prstGeom>
        </p:spPr>
        <p:txBody>
          <a:bodyPr lIns="0" tIns="0" rIns="0" bIns="0" rtlCol="0" anchor="t">
            <a:spAutoFit/>
          </a:bodyPr>
          <a:lstStyle/>
          <a:p>
            <a:pPr algn="just">
              <a:lnSpc>
                <a:spcPts val="2760"/>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How should users report inappropriate listings or fraudulent activities?</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760"/>
              </a:lnSpc>
              <a:spcBef>
                <a:spcPct val="0"/>
              </a:spcBef>
            </a:pP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2" name="TextBox 22"/>
          <p:cNvSpPr txBox="1"/>
          <p:nvPr/>
        </p:nvSpPr>
        <p:spPr>
          <a:xfrm>
            <a:off x="1372676" y="4789637"/>
            <a:ext cx="4868610" cy="1415415"/>
          </a:xfrm>
          <a:prstGeom prst="rect">
            <a:avLst/>
          </a:prstGeom>
        </p:spPr>
        <p:txBody>
          <a:bodyPr lIns="0" tIns="0" rIns="0" bIns="0" rtlCol="0" anchor="t">
            <a:spAutoFit/>
          </a:bodyPr>
          <a:lstStyle/>
          <a:p>
            <a:pPr algn="just">
              <a:lnSpc>
                <a:spcPts val="2760"/>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How important is transparency in tracking donations?</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2760"/>
              </a:lnSpc>
              <a:spcBef>
                <a:spcPct val="0"/>
              </a:spcBef>
            </a:pP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3" name="TextBox 23"/>
          <p:cNvSpPr txBox="1"/>
          <p:nvPr/>
        </p:nvSpPr>
        <p:spPr>
          <a:xfrm>
            <a:off x="1372676" y="6661804"/>
            <a:ext cx="4868610" cy="707390"/>
          </a:xfrm>
          <a:prstGeom prst="rect">
            <a:avLst/>
          </a:prstGeom>
        </p:spPr>
        <p:txBody>
          <a:bodyPr lIns="0" tIns="0" rIns="0" bIns="0" rtlCol="0" anchor="t">
            <a:spAutoFit/>
          </a:bodyPr>
          <a:lstStyle/>
          <a:p>
            <a:pPr algn="just">
              <a:lnSpc>
                <a:spcPts val="2760"/>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What problems do you want this platform to solve?</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4" name="TextBox 8"/>
          <p:cNvSpPr txBox="1"/>
          <p:nvPr/>
        </p:nvSpPr>
        <p:spPr>
          <a:xfrm>
            <a:off x="10896600" y="419100"/>
            <a:ext cx="7981950" cy="1200785"/>
          </a:xfrm>
          <a:prstGeom prst="rect">
            <a:avLst/>
          </a:prstGeom>
        </p:spPr>
        <p:txBody>
          <a:bodyPr wrap="square" lIns="0" tIns="0" rIns="0" bIns="0" rtlCol="0" anchor="t">
            <a:spAutoFit/>
          </a:bodyPr>
          <a:lstStyle/>
          <a:p>
            <a:pPr algn="ctr">
              <a:lnSpc>
                <a:spcPts val="9365"/>
              </a:lnSpc>
            </a:pPr>
            <a:r>
              <a:rPr lang="en-US" sz="3200" b="1">
                <a:solidFill>
                  <a:srgbClr val="FFFFFF"/>
                </a:solidFill>
                <a:latin typeface="Arial Bold" panose="020B0704020202020204"/>
                <a:ea typeface="Arial Bold" panose="020B0704020202020204"/>
                <a:cs typeface="Arial Bold" panose="020B0704020202020204"/>
                <a:sym typeface="Arial Bold" panose="020B0704020202020204"/>
              </a:rPr>
              <a:t>Leah</a:t>
            </a:r>
            <a:endParaRPr lang="en-US" sz="320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5099392" y="7549696"/>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sp>
        <p:nvSpPr>
          <p:cNvPr id="8" name="Freeform 8"/>
          <p:cNvSpPr/>
          <p:nvPr/>
        </p:nvSpPr>
        <p:spPr>
          <a:xfrm>
            <a:off x="741814" y="1667090"/>
            <a:ext cx="17228075" cy="8376800"/>
          </a:xfrm>
          <a:custGeom>
            <a:avLst/>
            <a:gdLst/>
            <a:ahLst/>
            <a:cxnLst/>
            <a:rect l="l" t="t" r="r" b="b"/>
            <a:pathLst>
              <a:path w="17228075" h="8376800">
                <a:moveTo>
                  <a:pt x="0" y="0"/>
                </a:moveTo>
                <a:lnTo>
                  <a:pt x="17228075" y="0"/>
                </a:lnTo>
                <a:lnTo>
                  <a:pt x="17228075" y="8376800"/>
                </a:lnTo>
                <a:lnTo>
                  <a:pt x="0" y="8376800"/>
                </a:lnTo>
                <a:lnTo>
                  <a:pt x="0" y="0"/>
                </a:lnTo>
                <a:close/>
              </a:path>
            </a:pathLst>
          </a:custGeom>
          <a:blipFill>
            <a:blip r:embed="rId1"/>
            <a:stretch>
              <a:fillRect t="-55731" b="-52010"/>
            </a:stretch>
          </a:blipFill>
        </p:spPr>
      </p:sp>
      <p:sp>
        <p:nvSpPr>
          <p:cNvPr id="9" name="TextBox 9"/>
          <p:cNvSpPr txBox="1"/>
          <p:nvPr/>
        </p:nvSpPr>
        <p:spPr>
          <a:xfrm>
            <a:off x="3971925" y="342900"/>
            <a:ext cx="10343515" cy="1200785"/>
          </a:xfrm>
          <a:prstGeom prst="rect">
            <a:avLst/>
          </a:prstGeom>
        </p:spPr>
        <p:txBody>
          <a:bodyPr wrap="square"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MAIN CLIENT</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0" name="TextBox 10"/>
          <p:cNvSpPr txBox="1"/>
          <p:nvPr/>
        </p:nvSpPr>
        <p:spPr>
          <a:xfrm>
            <a:off x="1772964" y="1846412"/>
            <a:ext cx="11722189" cy="742950"/>
          </a:xfrm>
          <a:prstGeom prst="rect">
            <a:avLst/>
          </a:prstGeom>
        </p:spPr>
        <p:txBody>
          <a:bodyPr lIns="0" tIns="0" rIns="0" bIns="0" rtlCol="0" anchor="t">
            <a:spAutoFit/>
          </a:bodyPr>
          <a:lstStyle/>
          <a:p>
            <a:pPr algn="l">
              <a:lnSpc>
                <a:spcPts val="5765"/>
              </a:lnSpc>
            </a:pPr>
            <a:r>
              <a:rPr lang="en-US" sz="4805" b="1">
                <a:solidFill>
                  <a:srgbClr val="FFFFFF"/>
                </a:solidFill>
                <a:latin typeface="Arial Bold" panose="020B0704020202020204"/>
                <a:ea typeface="Arial Bold" panose="020B0704020202020204"/>
                <a:cs typeface="Arial Bold" panose="020B0704020202020204"/>
                <a:sym typeface="Arial Bold" panose="020B0704020202020204"/>
              </a:rPr>
              <a:t>What did you ask?</a:t>
            </a:r>
            <a:endParaRPr lang="en-US" sz="4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1" name="AutoShape 11"/>
          <p:cNvSpPr/>
          <p:nvPr/>
        </p:nvSpPr>
        <p:spPr>
          <a:xfrm flipH="1">
            <a:off x="6446280" y="1865462"/>
            <a:ext cx="0" cy="8178428"/>
          </a:xfrm>
          <a:prstGeom prst="line">
            <a:avLst/>
          </a:prstGeom>
          <a:ln w="142875" cap="rnd">
            <a:solidFill>
              <a:srgbClr val="000000"/>
            </a:solidFill>
            <a:prstDash val="solid"/>
            <a:headEnd type="none" w="sm" len="sm"/>
            <a:tailEnd type="none" w="sm" len="sm"/>
          </a:ln>
        </p:spPr>
      </p:sp>
      <p:sp>
        <p:nvSpPr>
          <p:cNvPr id="12" name="AutoShape 12"/>
          <p:cNvSpPr/>
          <p:nvPr/>
        </p:nvSpPr>
        <p:spPr>
          <a:xfrm flipV="1">
            <a:off x="1028700" y="4867485"/>
            <a:ext cx="15614494" cy="0"/>
          </a:xfrm>
          <a:prstGeom prst="line">
            <a:avLst/>
          </a:prstGeom>
          <a:ln w="142875" cap="rnd">
            <a:solidFill>
              <a:srgbClr val="000000"/>
            </a:solidFill>
            <a:prstDash val="solid"/>
            <a:headEnd type="none" w="sm" len="sm"/>
            <a:tailEnd type="none" w="sm" len="sm"/>
          </a:ln>
        </p:spPr>
      </p:sp>
      <p:sp>
        <p:nvSpPr>
          <p:cNvPr id="13" name="TextBox 13"/>
          <p:cNvSpPr txBox="1"/>
          <p:nvPr/>
        </p:nvSpPr>
        <p:spPr>
          <a:xfrm>
            <a:off x="1595413" y="2552592"/>
            <a:ext cx="4326491" cy="2493010"/>
          </a:xfrm>
          <a:prstGeom prst="rect">
            <a:avLst/>
          </a:prstGeom>
        </p:spPr>
        <p:txBody>
          <a:bodyPr lIns="0" tIns="0" rIns="0" bIns="0" rtlCol="0" anchor="t">
            <a:spAutoFit/>
          </a:bodyPr>
          <a:lstStyle/>
          <a:p>
            <a:pPr algn="just">
              <a:lnSpc>
                <a:spcPts val="3240"/>
              </a:lnSpc>
              <a:spcBef>
                <a:spcPct val="0"/>
              </a:spcBef>
            </a:pPr>
            <a:r>
              <a:rPr lang="en-US" sz="3200" b="1">
                <a:solidFill>
                  <a:srgbClr val="000000"/>
                </a:solidFill>
                <a:latin typeface="Arial Bold" panose="020B0704020202020204"/>
                <a:ea typeface="Arial Bold" panose="020B0704020202020204"/>
                <a:cs typeface="Arial Bold" panose="020B0704020202020204"/>
                <a:sym typeface="Arial Bold" panose="020B0704020202020204"/>
              </a:rPr>
              <a:t>What information should be required when posting a donation, request, or exchange?</a:t>
            </a: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3240"/>
              </a:lnSpc>
              <a:spcBef>
                <a:spcPct val="0"/>
              </a:spcBef>
            </a:pP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4" name="TextBox 14"/>
          <p:cNvSpPr txBox="1"/>
          <p:nvPr/>
        </p:nvSpPr>
        <p:spPr>
          <a:xfrm>
            <a:off x="6717742" y="2941787"/>
            <a:ext cx="9697747" cy="1194435"/>
          </a:xfrm>
          <a:prstGeom prst="rect">
            <a:avLst/>
          </a:prstGeom>
        </p:spPr>
        <p:txBody>
          <a:bodyPr lIns="0" tIns="0" rIns="0" bIns="0" rtlCol="0" anchor="t">
            <a:spAutoFit/>
          </a:bodyPr>
          <a:lstStyle/>
          <a:p>
            <a:pPr algn="just">
              <a:lnSpc>
                <a:spcPts val="3105"/>
              </a:lnSpc>
              <a:spcBef>
                <a:spcPct val="0"/>
              </a:spcBef>
            </a:pPr>
            <a:r>
              <a:rPr lang="en-US" sz="3200" b="1">
                <a:solidFill>
                  <a:srgbClr val="000000"/>
                </a:solidFill>
                <a:latin typeface="Arial Bold" panose="020B0704020202020204"/>
                <a:ea typeface="Arial Bold" panose="020B0704020202020204"/>
                <a:cs typeface="Arial Bold" panose="020B0704020202020204"/>
                <a:sym typeface="Arial Bold" panose="020B0704020202020204"/>
              </a:rPr>
              <a:t>Dapat ilagay ang pangalan, contact number, lokasyon, uri ng item, dami, kondisyon nito, at larawan ng item.</a:t>
            </a: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5" name="TextBox 15"/>
          <p:cNvSpPr txBox="1"/>
          <p:nvPr/>
        </p:nvSpPr>
        <p:spPr>
          <a:xfrm>
            <a:off x="1348515" y="5434222"/>
            <a:ext cx="4868610" cy="2153920"/>
          </a:xfrm>
          <a:prstGeom prst="rect">
            <a:avLst/>
          </a:prstGeom>
        </p:spPr>
        <p:txBody>
          <a:bodyPr lIns="0" tIns="0" rIns="0" bIns="0" rtlCol="0" anchor="t">
            <a:spAutoFit/>
          </a:bodyPr>
          <a:lstStyle/>
          <a:p>
            <a:pPr algn="just">
              <a:lnSpc>
                <a:spcPts val="3360"/>
              </a:lnSpc>
              <a:spcBef>
                <a:spcPct val="0"/>
              </a:spcBef>
            </a:pPr>
            <a:r>
              <a:rPr lang="en-US" sz="3600" b="1">
                <a:solidFill>
                  <a:srgbClr val="000000"/>
                </a:solidFill>
                <a:latin typeface="Arial Bold" panose="020B0704020202020204"/>
                <a:ea typeface="Arial Bold" panose="020B0704020202020204"/>
                <a:cs typeface="Arial Bold" panose="020B0704020202020204"/>
                <a:sym typeface="Arial Bold" panose="020B0704020202020204"/>
              </a:rPr>
              <a:t>What indicators would make you consider the platform successful?</a:t>
            </a:r>
            <a:endParaRPr lang="en-US" sz="36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3360"/>
              </a:lnSpc>
              <a:spcBef>
                <a:spcPct val="0"/>
              </a:spcBef>
            </a:pPr>
            <a:endParaRPr lang="en-US" sz="36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6" name="TextBox 16"/>
          <p:cNvSpPr txBox="1"/>
          <p:nvPr/>
        </p:nvSpPr>
        <p:spPr>
          <a:xfrm>
            <a:off x="6717742" y="5738483"/>
            <a:ext cx="9697747" cy="1286510"/>
          </a:xfrm>
          <a:prstGeom prst="rect">
            <a:avLst/>
          </a:prstGeom>
        </p:spPr>
        <p:txBody>
          <a:bodyPr lIns="0" tIns="0" rIns="0" bIns="0" rtlCol="0" anchor="t">
            <a:spAutoFit/>
          </a:bodyPr>
          <a:lstStyle/>
          <a:p>
            <a:pPr algn="just">
              <a:lnSpc>
                <a:spcPts val="3345"/>
              </a:lnSpc>
            </a:pPr>
            <a:r>
              <a:rPr lang="en-US" sz="3200" b="1">
                <a:solidFill>
                  <a:srgbClr val="000000"/>
                </a:solidFill>
                <a:latin typeface="Arial Bold" panose="020B0704020202020204"/>
                <a:ea typeface="Arial Bold" panose="020B0704020202020204"/>
                <a:cs typeface="Arial Bold" panose="020B0704020202020204"/>
                <a:sym typeface="Arial Bold" panose="020B0704020202020204"/>
              </a:rPr>
              <a:t>Kung mas maraming natutulungan at mas mabilis na natatanggap ng nangangailangan ang mga donasyon.</a:t>
            </a: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7" name="TextBox 17"/>
          <p:cNvSpPr txBox="1"/>
          <p:nvPr/>
        </p:nvSpPr>
        <p:spPr>
          <a:xfrm>
            <a:off x="2342493" y="1802340"/>
            <a:ext cx="13571563" cy="533400"/>
          </a:xfrm>
          <a:prstGeom prst="rect">
            <a:avLst/>
          </a:prstGeom>
        </p:spPr>
        <p:txBody>
          <a:bodyPr lIns="0" tIns="0" rIns="0" bIns="0" rtlCol="0" anchor="t">
            <a:spAutoFit/>
          </a:bodyPr>
          <a:lstStyle/>
          <a:p>
            <a:pPr algn="just">
              <a:lnSpc>
                <a:spcPts val="4075"/>
              </a:lnSpc>
              <a:spcBef>
                <a:spcPct val="0"/>
              </a:spcBef>
            </a:pPr>
            <a:r>
              <a:rPr lang="en-US" sz="3395" b="1">
                <a:solidFill>
                  <a:srgbClr val="FF3131"/>
                </a:solidFill>
                <a:latin typeface="Arial Bold" panose="020B0704020202020204"/>
                <a:ea typeface="Arial Bold" panose="020B0704020202020204"/>
                <a:cs typeface="Arial Bold" panose="020B0704020202020204"/>
                <a:sym typeface="Arial Bold" panose="020B0704020202020204"/>
              </a:rPr>
              <a:t>QUESTIONS                                           ANSWERS</a:t>
            </a:r>
            <a:endParaRPr lang="en-US" sz="3395" b="1">
              <a:solidFill>
                <a:srgbClr val="FF3131"/>
              </a:solidFill>
              <a:latin typeface="Arial Bold" panose="020B0704020202020204"/>
              <a:ea typeface="Arial Bold" panose="020B0704020202020204"/>
              <a:cs typeface="Arial Bold" panose="020B0704020202020204"/>
              <a:sym typeface="Arial Bold" panose="020B0704020202020204"/>
            </a:endParaRPr>
          </a:p>
        </p:txBody>
      </p:sp>
      <p:sp>
        <p:nvSpPr>
          <p:cNvPr id="18" name="AutoShape 18"/>
          <p:cNvSpPr/>
          <p:nvPr/>
        </p:nvSpPr>
        <p:spPr>
          <a:xfrm flipV="1">
            <a:off x="1028700" y="7614679"/>
            <a:ext cx="15614494" cy="53155"/>
          </a:xfrm>
          <a:prstGeom prst="line">
            <a:avLst/>
          </a:prstGeom>
          <a:ln w="142875" cap="rnd">
            <a:solidFill>
              <a:srgbClr val="000000"/>
            </a:solidFill>
            <a:prstDash val="solid"/>
            <a:headEnd type="none" w="sm" len="sm"/>
            <a:tailEnd type="none" w="sm" len="sm"/>
          </a:ln>
        </p:spPr>
      </p:sp>
      <p:sp>
        <p:nvSpPr>
          <p:cNvPr id="19" name="TextBox 19"/>
          <p:cNvSpPr txBox="1"/>
          <p:nvPr/>
        </p:nvSpPr>
        <p:spPr>
          <a:xfrm>
            <a:off x="1295175" y="7886938"/>
            <a:ext cx="4820288" cy="2677160"/>
          </a:xfrm>
          <a:prstGeom prst="rect">
            <a:avLst/>
          </a:prstGeom>
        </p:spPr>
        <p:txBody>
          <a:bodyPr lIns="0" tIns="0" rIns="0" bIns="0" rtlCol="0" anchor="t">
            <a:spAutoFit/>
          </a:bodyPr>
          <a:lstStyle/>
          <a:p>
            <a:pPr algn="just">
              <a:lnSpc>
                <a:spcPts val="3480"/>
              </a:lnSpc>
              <a:spcBef>
                <a:spcPct val="0"/>
              </a:spcBef>
            </a:pPr>
            <a:r>
              <a:rPr lang="en-US" sz="3600" b="1">
                <a:solidFill>
                  <a:srgbClr val="000000"/>
                </a:solidFill>
                <a:latin typeface="Arial Bold" panose="020B0704020202020204"/>
                <a:ea typeface="Arial Bold" panose="020B0704020202020204"/>
                <a:cs typeface="Arial Bold" panose="020B0704020202020204"/>
                <a:sym typeface="Arial Bold" panose="020B0704020202020204"/>
              </a:rPr>
              <a:t>Do you have any additional suggestions for improving the platform?</a:t>
            </a:r>
            <a:endParaRPr lang="en-US" sz="3600" b="1">
              <a:solidFill>
                <a:srgbClr val="000000"/>
              </a:solidFill>
              <a:latin typeface="Arial Bold" panose="020B0704020202020204"/>
              <a:ea typeface="Arial Bold" panose="020B0704020202020204"/>
              <a:cs typeface="Arial Bold" panose="020B0704020202020204"/>
              <a:sym typeface="Arial Bold" panose="020B0704020202020204"/>
            </a:endParaRPr>
          </a:p>
          <a:p>
            <a:pPr algn="just">
              <a:lnSpc>
                <a:spcPts val="3480"/>
              </a:lnSpc>
              <a:spcBef>
                <a:spcPct val="0"/>
              </a:spcBef>
            </a:pPr>
            <a:endParaRPr lang="en-US" sz="36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0" name="TextBox 20"/>
          <p:cNvSpPr txBox="1"/>
          <p:nvPr/>
        </p:nvSpPr>
        <p:spPr>
          <a:xfrm>
            <a:off x="6717742" y="7864540"/>
            <a:ext cx="9469782" cy="1661795"/>
          </a:xfrm>
          <a:prstGeom prst="rect">
            <a:avLst/>
          </a:prstGeom>
        </p:spPr>
        <p:txBody>
          <a:bodyPr lIns="0" tIns="0" rIns="0" bIns="0" rtlCol="0" anchor="t">
            <a:spAutoFit/>
          </a:bodyPr>
          <a:lstStyle/>
          <a:p>
            <a:pPr algn="just">
              <a:lnSpc>
                <a:spcPts val="3240"/>
              </a:lnSpc>
              <a:spcBef>
                <a:spcPct val="0"/>
              </a:spcBef>
            </a:pPr>
            <a:r>
              <a:rPr lang="en-US" sz="3200" b="1">
                <a:solidFill>
                  <a:srgbClr val="000000"/>
                </a:solidFill>
                <a:latin typeface="Arial Bold" panose="020B0704020202020204"/>
                <a:ea typeface="Arial Bold" panose="020B0704020202020204"/>
                <a:cs typeface="Arial Bold" panose="020B0704020202020204"/>
                <a:sym typeface="Arial Bold" panose="020B0704020202020204"/>
              </a:rPr>
              <a:t>Makabubuti kung makikipagtulungan ang platform sa mga barangay para sa mas madaling pag-verify ng mga recipient. Dapat simple at madaling gamitin ang sistema para sa lahat</a:t>
            </a:r>
            <a:endParaRPr lang="en-US" sz="32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1" name="TextBox 8"/>
          <p:cNvSpPr txBox="1"/>
          <p:nvPr/>
        </p:nvSpPr>
        <p:spPr>
          <a:xfrm>
            <a:off x="10896600" y="419100"/>
            <a:ext cx="7981950" cy="1200785"/>
          </a:xfrm>
          <a:prstGeom prst="rect">
            <a:avLst/>
          </a:prstGeom>
        </p:spPr>
        <p:txBody>
          <a:bodyPr wrap="square" lIns="0" tIns="0" rIns="0" bIns="0" rtlCol="0" anchor="t">
            <a:spAutoFit/>
          </a:bodyPr>
          <a:lstStyle/>
          <a:p>
            <a:pPr algn="ctr">
              <a:lnSpc>
                <a:spcPts val="9365"/>
              </a:lnSpc>
            </a:pPr>
            <a:r>
              <a:rPr lang="en-US" sz="3200" b="1">
                <a:solidFill>
                  <a:srgbClr val="FFFFFF"/>
                </a:solidFill>
                <a:latin typeface="Arial Bold" panose="020B0704020202020204"/>
                <a:ea typeface="Arial Bold" panose="020B0704020202020204"/>
                <a:cs typeface="Arial Bold" panose="020B0704020202020204"/>
                <a:sym typeface="Arial Bold" panose="020B0704020202020204"/>
              </a:rPr>
              <a:t>Leah</a:t>
            </a:r>
            <a:endParaRPr lang="en-US" sz="320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4880969" y="6253153"/>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sp>
        <p:nvSpPr>
          <p:cNvPr id="8" name="Freeform 8"/>
          <p:cNvSpPr/>
          <p:nvPr/>
        </p:nvSpPr>
        <p:spPr>
          <a:xfrm>
            <a:off x="741814" y="1667090"/>
            <a:ext cx="17228075" cy="8376800"/>
          </a:xfrm>
          <a:custGeom>
            <a:avLst/>
            <a:gdLst/>
            <a:ahLst/>
            <a:cxnLst/>
            <a:rect l="l" t="t" r="r" b="b"/>
            <a:pathLst>
              <a:path w="17228075" h="8376800">
                <a:moveTo>
                  <a:pt x="0" y="0"/>
                </a:moveTo>
                <a:lnTo>
                  <a:pt x="17228075" y="0"/>
                </a:lnTo>
                <a:lnTo>
                  <a:pt x="17228075" y="8376800"/>
                </a:lnTo>
                <a:lnTo>
                  <a:pt x="0" y="8376800"/>
                </a:lnTo>
                <a:lnTo>
                  <a:pt x="0" y="0"/>
                </a:lnTo>
                <a:close/>
              </a:path>
            </a:pathLst>
          </a:custGeom>
          <a:blipFill>
            <a:blip r:embed="rId1"/>
            <a:stretch>
              <a:fillRect t="-55731" b="-52010"/>
            </a:stretch>
          </a:blipFill>
        </p:spPr>
      </p:sp>
      <p:sp>
        <p:nvSpPr>
          <p:cNvPr id="9" name="TextBox 9"/>
          <p:cNvSpPr txBox="1"/>
          <p:nvPr/>
        </p:nvSpPr>
        <p:spPr>
          <a:xfrm>
            <a:off x="4114800" y="186055"/>
            <a:ext cx="9251950" cy="1200785"/>
          </a:xfrm>
          <a:prstGeom prst="rect">
            <a:avLst/>
          </a:prstGeom>
        </p:spPr>
        <p:txBody>
          <a:bodyPr wrap="square"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END USER</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0" name="TextBox 10"/>
          <p:cNvSpPr txBox="1"/>
          <p:nvPr/>
        </p:nvSpPr>
        <p:spPr>
          <a:xfrm>
            <a:off x="1772964" y="1846412"/>
            <a:ext cx="11722189" cy="742950"/>
          </a:xfrm>
          <a:prstGeom prst="rect">
            <a:avLst/>
          </a:prstGeom>
        </p:spPr>
        <p:txBody>
          <a:bodyPr lIns="0" tIns="0" rIns="0" bIns="0" rtlCol="0" anchor="t">
            <a:spAutoFit/>
          </a:bodyPr>
          <a:lstStyle/>
          <a:p>
            <a:pPr algn="l">
              <a:lnSpc>
                <a:spcPts val="5765"/>
              </a:lnSpc>
            </a:pPr>
            <a:r>
              <a:rPr lang="en-US" sz="4805" b="1">
                <a:solidFill>
                  <a:srgbClr val="FFFFFF"/>
                </a:solidFill>
                <a:latin typeface="Arial Bold" panose="020B0704020202020204"/>
                <a:ea typeface="Arial Bold" panose="020B0704020202020204"/>
                <a:cs typeface="Arial Bold" panose="020B0704020202020204"/>
                <a:sym typeface="Arial Bold" panose="020B0704020202020204"/>
              </a:rPr>
              <a:t>What did you ask?</a:t>
            </a:r>
            <a:endParaRPr lang="en-US" sz="4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1" name="AutoShape 11"/>
          <p:cNvSpPr/>
          <p:nvPr/>
        </p:nvSpPr>
        <p:spPr>
          <a:xfrm flipH="1">
            <a:off x="6446280" y="1865462"/>
            <a:ext cx="0" cy="8178428"/>
          </a:xfrm>
          <a:prstGeom prst="line">
            <a:avLst/>
          </a:prstGeom>
          <a:ln w="142875" cap="rnd">
            <a:solidFill>
              <a:srgbClr val="000000"/>
            </a:solidFill>
            <a:prstDash val="solid"/>
            <a:headEnd type="none" w="sm" len="sm"/>
            <a:tailEnd type="none" w="sm" len="sm"/>
          </a:ln>
        </p:spPr>
      </p:sp>
      <p:sp>
        <p:nvSpPr>
          <p:cNvPr id="12" name="AutoShape 12"/>
          <p:cNvSpPr/>
          <p:nvPr/>
        </p:nvSpPr>
        <p:spPr>
          <a:xfrm flipV="1">
            <a:off x="1028700" y="4403874"/>
            <a:ext cx="15614494" cy="0"/>
          </a:xfrm>
          <a:prstGeom prst="line">
            <a:avLst/>
          </a:prstGeom>
          <a:ln w="142875" cap="rnd">
            <a:solidFill>
              <a:srgbClr val="000000"/>
            </a:solidFill>
            <a:prstDash val="solid"/>
            <a:headEnd type="none" w="sm" len="sm"/>
            <a:tailEnd type="none" w="sm" len="sm"/>
          </a:ln>
        </p:spPr>
      </p:sp>
      <p:sp>
        <p:nvSpPr>
          <p:cNvPr id="13" name="TextBox 13"/>
          <p:cNvSpPr txBox="1"/>
          <p:nvPr/>
        </p:nvSpPr>
        <p:spPr>
          <a:xfrm>
            <a:off x="1571252" y="2750649"/>
            <a:ext cx="4326491" cy="1123950"/>
          </a:xfrm>
          <a:prstGeom prst="rect">
            <a:avLst/>
          </a:prstGeom>
        </p:spPr>
        <p:txBody>
          <a:bodyPr lIns="0" tIns="0" rIns="0" bIns="0" rtlCol="0" anchor="t">
            <a:spAutoFit/>
          </a:bodyPr>
          <a:lstStyle/>
          <a:p>
            <a:pPr algn="just">
              <a:lnSpc>
                <a:spcPts val="3000"/>
              </a:lnSpc>
              <a:spcBef>
                <a:spcPct val="0"/>
              </a:spcBef>
            </a:pP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H</a:t>
            </a: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ave you </a:t>
            </a: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ev</a:t>
            </a: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er</a:t>
            </a: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 donated, requested, or exchang</a:t>
            </a: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ed</a:t>
            </a: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 essential items?</a:t>
            </a:r>
            <a:endParaRPr lang="en-US" sz="25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4" name="TextBox 14"/>
          <p:cNvSpPr txBox="1"/>
          <p:nvPr/>
        </p:nvSpPr>
        <p:spPr>
          <a:xfrm>
            <a:off x="7242232" y="3069736"/>
            <a:ext cx="9697747" cy="409575"/>
          </a:xfrm>
          <a:prstGeom prst="rect">
            <a:avLst/>
          </a:prstGeom>
        </p:spPr>
        <p:txBody>
          <a:bodyPr lIns="0" tIns="0" rIns="0" bIns="0" rtlCol="0" anchor="t">
            <a:spAutoFit/>
          </a:bodyPr>
          <a:lstStyle/>
          <a:p>
            <a:pPr algn="just">
              <a:lnSpc>
                <a:spcPts val="3105"/>
              </a:lnSpc>
              <a:spcBef>
                <a:spcPct val="0"/>
              </a:spcBef>
            </a:pPr>
            <a:r>
              <a:rPr lang="en-US" sz="2585" b="1">
                <a:solidFill>
                  <a:srgbClr val="000000"/>
                </a:solidFill>
                <a:latin typeface="Arial Bold" panose="020B0704020202020204"/>
                <a:ea typeface="Arial Bold" panose="020B0704020202020204"/>
                <a:cs typeface="Arial Bold" panose="020B0704020202020204"/>
                <a:sym typeface="Arial Bold" panose="020B0704020202020204"/>
              </a:rPr>
              <a:t>Yes, donated.</a:t>
            </a:r>
            <a:endParaRPr lang="en-US" sz="2585"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5" name="TextBox 15"/>
          <p:cNvSpPr txBox="1"/>
          <p:nvPr/>
        </p:nvSpPr>
        <p:spPr>
          <a:xfrm>
            <a:off x="7242232" y="5084912"/>
            <a:ext cx="9697747" cy="409575"/>
          </a:xfrm>
          <a:prstGeom prst="rect">
            <a:avLst/>
          </a:prstGeom>
        </p:spPr>
        <p:txBody>
          <a:bodyPr lIns="0" tIns="0" rIns="0" bIns="0" rtlCol="0" anchor="t">
            <a:spAutoFit/>
          </a:bodyPr>
          <a:lstStyle/>
          <a:p>
            <a:pPr algn="just">
              <a:lnSpc>
                <a:spcPts val="3105"/>
              </a:lnSpc>
            </a:pPr>
            <a:r>
              <a:rPr lang="en-US" sz="2585" b="1">
                <a:solidFill>
                  <a:srgbClr val="000000"/>
                </a:solidFill>
                <a:latin typeface="Arial Bold" panose="020B0704020202020204"/>
                <a:ea typeface="Arial Bold" panose="020B0704020202020204"/>
                <a:cs typeface="Arial Bold" panose="020B0704020202020204"/>
                <a:sym typeface="Arial Bold" panose="020B0704020202020204"/>
              </a:rPr>
              <a:t>Through messenger</a:t>
            </a:r>
            <a:endParaRPr lang="en-US" sz="2585"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6" name="TextBox 16"/>
          <p:cNvSpPr txBox="1"/>
          <p:nvPr/>
        </p:nvSpPr>
        <p:spPr>
          <a:xfrm>
            <a:off x="2342493" y="1802340"/>
            <a:ext cx="13571563" cy="533400"/>
          </a:xfrm>
          <a:prstGeom prst="rect">
            <a:avLst/>
          </a:prstGeom>
        </p:spPr>
        <p:txBody>
          <a:bodyPr lIns="0" tIns="0" rIns="0" bIns="0" rtlCol="0" anchor="t">
            <a:spAutoFit/>
          </a:bodyPr>
          <a:lstStyle/>
          <a:p>
            <a:pPr algn="just">
              <a:lnSpc>
                <a:spcPts val="4075"/>
              </a:lnSpc>
              <a:spcBef>
                <a:spcPct val="0"/>
              </a:spcBef>
            </a:pPr>
            <a:r>
              <a:rPr lang="en-US" sz="3395" b="1">
                <a:solidFill>
                  <a:srgbClr val="FF3131"/>
                </a:solidFill>
                <a:latin typeface="Arial Bold" panose="020B0704020202020204"/>
                <a:ea typeface="Arial Bold" panose="020B0704020202020204"/>
                <a:cs typeface="Arial Bold" panose="020B0704020202020204"/>
                <a:sym typeface="Arial Bold" panose="020B0704020202020204"/>
              </a:rPr>
              <a:t>QUESTIONS                                           RESPONDENT </a:t>
            </a:r>
            <a:endParaRPr lang="en-US" sz="3395" b="1">
              <a:solidFill>
                <a:srgbClr val="FF3131"/>
              </a:solidFill>
              <a:latin typeface="Arial Bold" panose="020B0704020202020204"/>
              <a:ea typeface="Arial Bold" panose="020B0704020202020204"/>
              <a:cs typeface="Arial Bold" panose="020B0704020202020204"/>
              <a:sym typeface="Arial Bold" panose="020B0704020202020204"/>
            </a:endParaRPr>
          </a:p>
        </p:txBody>
      </p:sp>
      <p:sp>
        <p:nvSpPr>
          <p:cNvPr id="17" name="AutoShape 17"/>
          <p:cNvSpPr/>
          <p:nvPr/>
        </p:nvSpPr>
        <p:spPr>
          <a:xfrm flipV="1">
            <a:off x="810277" y="6318137"/>
            <a:ext cx="15614494" cy="53155"/>
          </a:xfrm>
          <a:prstGeom prst="line">
            <a:avLst/>
          </a:prstGeom>
          <a:ln w="142875" cap="rnd">
            <a:solidFill>
              <a:srgbClr val="000000"/>
            </a:solidFill>
            <a:prstDash val="solid"/>
            <a:headEnd type="none" w="sm" len="sm"/>
            <a:tailEnd type="none" w="sm" len="sm"/>
          </a:ln>
        </p:spPr>
      </p:sp>
      <p:sp>
        <p:nvSpPr>
          <p:cNvPr id="18" name="TextBox 18"/>
          <p:cNvSpPr txBox="1"/>
          <p:nvPr/>
        </p:nvSpPr>
        <p:spPr>
          <a:xfrm>
            <a:off x="6698692" y="6766579"/>
            <a:ext cx="9469782" cy="381000"/>
          </a:xfrm>
          <a:prstGeom prst="rect">
            <a:avLst/>
          </a:prstGeom>
        </p:spPr>
        <p:txBody>
          <a:bodyPr lIns="0" tIns="0" rIns="0" bIns="0" rtlCol="0" anchor="t">
            <a:spAutoFit/>
          </a:bodyPr>
          <a:lstStyle/>
          <a:p>
            <a:pPr algn="just">
              <a:lnSpc>
                <a:spcPts val="3000"/>
              </a:lnSpc>
              <a:spcBef>
                <a:spcPct val="0"/>
              </a:spcBef>
            </a:pP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Some stuffs like</a:t>
            </a: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 clothes or shoes doesn't fit </a:t>
            </a: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the</a:t>
            </a: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m</a:t>
            </a:r>
            <a:endParaRPr lang="en-US" sz="25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9" name="AutoShape 19"/>
          <p:cNvSpPr/>
          <p:nvPr/>
        </p:nvSpPr>
        <p:spPr>
          <a:xfrm flipV="1">
            <a:off x="1028457" y="8137117"/>
            <a:ext cx="15614494" cy="53155"/>
          </a:xfrm>
          <a:prstGeom prst="line">
            <a:avLst/>
          </a:prstGeom>
          <a:ln w="142875" cap="rnd">
            <a:solidFill>
              <a:srgbClr val="000000"/>
            </a:solidFill>
            <a:prstDash val="solid"/>
            <a:headEnd type="none" w="sm" len="sm"/>
            <a:tailEnd type="none" w="sm" len="sm"/>
          </a:ln>
        </p:spPr>
      </p:sp>
      <p:sp>
        <p:nvSpPr>
          <p:cNvPr id="20" name="TextBox 20"/>
          <p:cNvSpPr txBox="1"/>
          <p:nvPr/>
        </p:nvSpPr>
        <p:spPr>
          <a:xfrm>
            <a:off x="6698692" y="8642709"/>
            <a:ext cx="9469782" cy="381000"/>
          </a:xfrm>
          <a:prstGeom prst="rect">
            <a:avLst/>
          </a:prstGeom>
        </p:spPr>
        <p:txBody>
          <a:bodyPr lIns="0" tIns="0" rIns="0" bIns="0" rtlCol="0" anchor="t">
            <a:spAutoFit/>
          </a:bodyPr>
          <a:lstStyle/>
          <a:p>
            <a:pPr algn="just">
              <a:lnSpc>
                <a:spcPts val="3000"/>
              </a:lnSpc>
              <a:spcBef>
                <a:spcPct val="0"/>
              </a:spcBef>
            </a:pP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Clothe</a:t>
            </a: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s</a:t>
            </a: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 and Shoes</a:t>
            </a:r>
            <a:endParaRPr lang="en-US" sz="25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1" name="TextBox 21"/>
          <p:cNvSpPr txBox="1"/>
          <p:nvPr/>
        </p:nvSpPr>
        <p:spPr>
          <a:xfrm>
            <a:off x="1300192" y="8491926"/>
            <a:ext cx="4868610" cy="1123950"/>
          </a:xfrm>
          <a:prstGeom prst="rect">
            <a:avLst/>
          </a:prstGeom>
        </p:spPr>
        <p:txBody>
          <a:bodyPr lIns="0" tIns="0" rIns="0" bIns="0" rtlCol="0" anchor="t">
            <a:spAutoFit/>
          </a:bodyPr>
          <a:lstStyle/>
          <a:p>
            <a:pPr algn="just">
              <a:lnSpc>
                <a:spcPts val="3000"/>
              </a:lnSpc>
              <a:spcBef>
                <a:spcPct val="0"/>
              </a:spcBef>
            </a:pP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What</a:t>
            </a: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 types of essential items would you most likely donate or request? </a:t>
            </a:r>
            <a:endParaRPr lang="en-US" sz="25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2" name="TextBox 22"/>
          <p:cNvSpPr txBox="1"/>
          <p:nvPr/>
        </p:nvSpPr>
        <p:spPr>
          <a:xfrm>
            <a:off x="1372676" y="4789637"/>
            <a:ext cx="4868610" cy="800100"/>
          </a:xfrm>
          <a:prstGeom prst="rect">
            <a:avLst/>
          </a:prstGeom>
        </p:spPr>
        <p:txBody>
          <a:bodyPr lIns="0" tIns="0" rIns="0" bIns="0" rtlCol="0" anchor="t">
            <a:spAutoFit/>
          </a:bodyPr>
          <a:lstStyle/>
          <a:p>
            <a:pPr algn="just">
              <a:lnSpc>
                <a:spcPts val="3120"/>
              </a:lnSpc>
              <a:spcBef>
                <a:spcPct val="0"/>
              </a:spcBef>
            </a:pPr>
            <a:r>
              <a:rPr lang="en-US" sz="2600" b="1">
                <a:solidFill>
                  <a:srgbClr val="000000"/>
                </a:solidFill>
                <a:latin typeface="Arial Bold" panose="020B0704020202020204"/>
                <a:ea typeface="Arial Bold" panose="020B0704020202020204"/>
                <a:cs typeface="Arial Bold" panose="020B0704020202020204"/>
                <a:sym typeface="Arial Bold" panose="020B0704020202020204"/>
              </a:rPr>
              <a:t>Wh</a:t>
            </a:r>
            <a:r>
              <a:rPr lang="en-US" sz="2600" b="1">
                <a:solidFill>
                  <a:srgbClr val="000000"/>
                </a:solidFill>
                <a:latin typeface="Arial Bold" panose="020B0704020202020204"/>
                <a:ea typeface="Arial Bold" panose="020B0704020202020204"/>
                <a:cs typeface="Arial Bold" panose="020B0704020202020204"/>
                <a:sym typeface="Arial Bold" panose="020B0704020202020204"/>
              </a:rPr>
              <a:t>at platform or method did you use?</a:t>
            </a:r>
            <a:endParaRPr lang="en-US" sz="26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3" name="TextBox 23"/>
          <p:cNvSpPr txBox="1"/>
          <p:nvPr/>
        </p:nvSpPr>
        <p:spPr>
          <a:xfrm>
            <a:off x="1372676" y="6671329"/>
            <a:ext cx="4868610" cy="752475"/>
          </a:xfrm>
          <a:prstGeom prst="rect">
            <a:avLst/>
          </a:prstGeom>
        </p:spPr>
        <p:txBody>
          <a:bodyPr lIns="0" tIns="0" rIns="0" bIns="0" rtlCol="0" anchor="t">
            <a:spAutoFit/>
          </a:bodyPr>
          <a:lstStyle/>
          <a:p>
            <a:pPr algn="just">
              <a:lnSpc>
                <a:spcPts val="3000"/>
              </a:lnSpc>
              <a:spcBef>
                <a:spcPct val="0"/>
              </a:spcBef>
            </a:pP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What difficulties did</a:t>
            </a: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 you experience during the process?</a:t>
            </a:r>
            <a:endParaRPr lang="en-US" sz="25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4" name="TextBox 8"/>
          <p:cNvSpPr txBox="1"/>
          <p:nvPr/>
        </p:nvSpPr>
        <p:spPr>
          <a:xfrm>
            <a:off x="10896600" y="419100"/>
            <a:ext cx="7981950" cy="1200785"/>
          </a:xfrm>
          <a:prstGeom prst="rect">
            <a:avLst/>
          </a:prstGeom>
        </p:spPr>
        <p:txBody>
          <a:bodyPr wrap="square" lIns="0" tIns="0" rIns="0" bIns="0" rtlCol="0" anchor="t">
            <a:spAutoFit/>
          </a:bodyPr>
          <a:lstStyle/>
          <a:p>
            <a:pPr algn="ctr">
              <a:lnSpc>
                <a:spcPts val="9365"/>
              </a:lnSpc>
            </a:pPr>
            <a:r>
              <a:rPr lang="en-US" sz="3200" b="1">
                <a:solidFill>
                  <a:srgbClr val="FFFFFF"/>
                </a:solidFill>
                <a:latin typeface="Arial Bold" panose="020B0704020202020204"/>
                <a:ea typeface="Arial Bold" panose="020B0704020202020204"/>
                <a:cs typeface="Arial Bold" panose="020B0704020202020204"/>
                <a:sym typeface="Arial Bold" panose="020B0704020202020204"/>
              </a:rPr>
              <a:t>Trisha</a:t>
            </a:r>
            <a:endParaRPr lang="en-US" sz="320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4880969" y="6253153"/>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sp>
        <p:nvSpPr>
          <p:cNvPr id="8" name="Freeform 8"/>
          <p:cNvSpPr/>
          <p:nvPr/>
        </p:nvSpPr>
        <p:spPr>
          <a:xfrm>
            <a:off x="741814" y="1667090"/>
            <a:ext cx="17228075" cy="8376800"/>
          </a:xfrm>
          <a:custGeom>
            <a:avLst/>
            <a:gdLst/>
            <a:ahLst/>
            <a:cxnLst/>
            <a:rect l="l" t="t" r="r" b="b"/>
            <a:pathLst>
              <a:path w="17228075" h="8376800">
                <a:moveTo>
                  <a:pt x="0" y="0"/>
                </a:moveTo>
                <a:lnTo>
                  <a:pt x="17228075" y="0"/>
                </a:lnTo>
                <a:lnTo>
                  <a:pt x="17228075" y="8376800"/>
                </a:lnTo>
                <a:lnTo>
                  <a:pt x="0" y="8376800"/>
                </a:lnTo>
                <a:lnTo>
                  <a:pt x="0" y="0"/>
                </a:lnTo>
                <a:close/>
              </a:path>
            </a:pathLst>
          </a:custGeom>
          <a:blipFill>
            <a:blip r:embed="rId1"/>
            <a:stretch>
              <a:fillRect t="-55731" b="-52010"/>
            </a:stretch>
          </a:blipFill>
        </p:spPr>
      </p:sp>
      <p:sp>
        <p:nvSpPr>
          <p:cNvPr id="9" name="TextBox 9"/>
          <p:cNvSpPr txBox="1"/>
          <p:nvPr/>
        </p:nvSpPr>
        <p:spPr>
          <a:xfrm>
            <a:off x="2971800" y="287655"/>
            <a:ext cx="12496800" cy="1200785"/>
          </a:xfrm>
          <a:prstGeom prst="rect">
            <a:avLst/>
          </a:prstGeom>
        </p:spPr>
        <p:txBody>
          <a:bodyPr wrap="square"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END USER</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0" name="TextBox 10"/>
          <p:cNvSpPr txBox="1"/>
          <p:nvPr/>
        </p:nvSpPr>
        <p:spPr>
          <a:xfrm>
            <a:off x="1772964" y="1846412"/>
            <a:ext cx="11722189" cy="742950"/>
          </a:xfrm>
          <a:prstGeom prst="rect">
            <a:avLst/>
          </a:prstGeom>
        </p:spPr>
        <p:txBody>
          <a:bodyPr lIns="0" tIns="0" rIns="0" bIns="0" rtlCol="0" anchor="t">
            <a:spAutoFit/>
          </a:bodyPr>
          <a:lstStyle/>
          <a:p>
            <a:pPr algn="l">
              <a:lnSpc>
                <a:spcPts val="5765"/>
              </a:lnSpc>
            </a:pPr>
            <a:r>
              <a:rPr lang="en-US" sz="4805" b="1">
                <a:solidFill>
                  <a:srgbClr val="FFFFFF"/>
                </a:solidFill>
                <a:latin typeface="Arial Bold" panose="020B0704020202020204"/>
                <a:ea typeface="Arial Bold" panose="020B0704020202020204"/>
                <a:cs typeface="Arial Bold" panose="020B0704020202020204"/>
                <a:sym typeface="Arial Bold" panose="020B0704020202020204"/>
              </a:rPr>
              <a:t>What did you ask?</a:t>
            </a:r>
            <a:endParaRPr lang="en-US" sz="4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1" name="AutoShape 11"/>
          <p:cNvSpPr/>
          <p:nvPr/>
        </p:nvSpPr>
        <p:spPr>
          <a:xfrm flipH="1">
            <a:off x="6446280" y="1865462"/>
            <a:ext cx="0" cy="8178428"/>
          </a:xfrm>
          <a:prstGeom prst="line">
            <a:avLst/>
          </a:prstGeom>
          <a:ln w="142875" cap="rnd">
            <a:solidFill>
              <a:srgbClr val="000000"/>
            </a:solidFill>
            <a:prstDash val="solid"/>
            <a:headEnd type="none" w="sm" len="sm"/>
            <a:tailEnd type="none" w="sm" len="sm"/>
          </a:ln>
        </p:spPr>
      </p:sp>
      <p:sp>
        <p:nvSpPr>
          <p:cNvPr id="12" name="AutoShape 12"/>
          <p:cNvSpPr/>
          <p:nvPr/>
        </p:nvSpPr>
        <p:spPr>
          <a:xfrm flipV="1">
            <a:off x="1028700" y="4403874"/>
            <a:ext cx="15614494" cy="0"/>
          </a:xfrm>
          <a:prstGeom prst="line">
            <a:avLst/>
          </a:prstGeom>
          <a:ln w="142875" cap="rnd">
            <a:solidFill>
              <a:srgbClr val="000000"/>
            </a:solidFill>
            <a:prstDash val="solid"/>
            <a:headEnd type="none" w="sm" len="sm"/>
            <a:tailEnd type="none" w="sm" len="sm"/>
          </a:ln>
        </p:spPr>
      </p:sp>
      <p:sp>
        <p:nvSpPr>
          <p:cNvPr id="13" name="TextBox 13"/>
          <p:cNvSpPr txBox="1"/>
          <p:nvPr/>
        </p:nvSpPr>
        <p:spPr>
          <a:xfrm>
            <a:off x="1571252" y="2741124"/>
            <a:ext cx="4326491" cy="1190625"/>
          </a:xfrm>
          <a:prstGeom prst="rect">
            <a:avLst/>
          </a:prstGeom>
        </p:spPr>
        <p:txBody>
          <a:bodyPr lIns="0" tIns="0" rIns="0" bIns="0" rtlCol="0" anchor="t">
            <a:spAutoFit/>
          </a:bodyPr>
          <a:lstStyle/>
          <a:p>
            <a:pPr algn="just">
              <a:lnSpc>
                <a:spcPts val="3120"/>
              </a:lnSpc>
              <a:spcBef>
                <a:spcPct val="0"/>
              </a:spcBef>
            </a:pPr>
            <a:r>
              <a:rPr lang="en-US" sz="2600" b="1">
                <a:solidFill>
                  <a:srgbClr val="000000"/>
                </a:solidFill>
                <a:latin typeface="Arial Bold" panose="020B0704020202020204"/>
                <a:ea typeface="Arial Bold" panose="020B0704020202020204"/>
                <a:cs typeface="Arial Bold" panose="020B0704020202020204"/>
                <a:sym typeface="Arial Bold" panose="020B0704020202020204"/>
              </a:rPr>
              <a:t>What would encourage you to us</a:t>
            </a:r>
            <a:r>
              <a:rPr lang="en-US" sz="2600" b="1">
                <a:solidFill>
                  <a:srgbClr val="000000"/>
                </a:solidFill>
                <a:latin typeface="Arial Bold" panose="020B0704020202020204"/>
                <a:ea typeface="Arial Bold" panose="020B0704020202020204"/>
                <a:cs typeface="Arial Bold" panose="020B0704020202020204"/>
                <a:sym typeface="Arial Bold" panose="020B0704020202020204"/>
              </a:rPr>
              <a:t>e an onlin</a:t>
            </a:r>
            <a:r>
              <a:rPr lang="en-US" sz="2600" b="1">
                <a:solidFill>
                  <a:srgbClr val="000000"/>
                </a:solidFill>
                <a:latin typeface="Arial Bold" panose="020B0704020202020204"/>
                <a:ea typeface="Arial Bold" panose="020B0704020202020204"/>
                <a:cs typeface="Arial Bold" panose="020B0704020202020204"/>
                <a:sym typeface="Arial Bold" panose="020B0704020202020204"/>
              </a:rPr>
              <a:t>e</a:t>
            </a:r>
            <a:r>
              <a:rPr lang="en-US" sz="2600" b="1">
                <a:solidFill>
                  <a:srgbClr val="000000"/>
                </a:solidFill>
                <a:latin typeface="Arial Bold" panose="020B0704020202020204"/>
                <a:ea typeface="Arial Bold" panose="020B0704020202020204"/>
                <a:cs typeface="Arial Bold" panose="020B0704020202020204"/>
                <a:sym typeface="Arial Bold" panose="020B0704020202020204"/>
              </a:rPr>
              <a:t> donation and exchang</a:t>
            </a:r>
            <a:r>
              <a:rPr lang="en-US" sz="2600" b="1">
                <a:solidFill>
                  <a:srgbClr val="000000"/>
                </a:solidFill>
                <a:latin typeface="Arial Bold" panose="020B0704020202020204"/>
                <a:ea typeface="Arial Bold" panose="020B0704020202020204"/>
                <a:cs typeface="Arial Bold" panose="020B0704020202020204"/>
                <a:sym typeface="Arial Bold" panose="020B0704020202020204"/>
              </a:rPr>
              <a:t>e</a:t>
            </a:r>
            <a:r>
              <a:rPr lang="en-US" sz="2600" b="1">
                <a:solidFill>
                  <a:srgbClr val="000000"/>
                </a:solidFill>
                <a:latin typeface="Arial Bold" panose="020B0704020202020204"/>
                <a:ea typeface="Arial Bold" panose="020B0704020202020204"/>
                <a:cs typeface="Arial Bold" panose="020B0704020202020204"/>
                <a:sym typeface="Arial Bold" panose="020B0704020202020204"/>
              </a:rPr>
              <a:t> platform?</a:t>
            </a:r>
            <a:endParaRPr lang="en-US" sz="26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4" name="TextBox 14"/>
          <p:cNvSpPr txBox="1"/>
          <p:nvPr/>
        </p:nvSpPr>
        <p:spPr>
          <a:xfrm>
            <a:off x="6840832" y="2903687"/>
            <a:ext cx="9697747" cy="800100"/>
          </a:xfrm>
          <a:prstGeom prst="rect">
            <a:avLst/>
          </a:prstGeom>
        </p:spPr>
        <p:txBody>
          <a:bodyPr lIns="0" tIns="0" rIns="0" bIns="0" rtlCol="0" anchor="t">
            <a:spAutoFit/>
          </a:bodyPr>
          <a:lstStyle/>
          <a:p>
            <a:pPr algn="just">
              <a:lnSpc>
                <a:spcPts val="3105"/>
              </a:lnSpc>
              <a:spcBef>
                <a:spcPct val="0"/>
              </a:spcBef>
            </a:pPr>
            <a:r>
              <a:rPr lang="en-US" sz="2585" b="1">
                <a:solidFill>
                  <a:srgbClr val="000000"/>
                </a:solidFill>
                <a:latin typeface="Arial Bold" panose="020B0704020202020204"/>
                <a:ea typeface="Arial Bold" panose="020B0704020202020204"/>
                <a:cs typeface="Arial Bold" panose="020B0704020202020204"/>
                <a:sym typeface="Arial Bold" panose="020B0704020202020204"/>
              </a:rPr>
              <a:t>Easier access when there are available items I need as well as when there is something I want to donate / exchange.</a:t>
            </a:r>
            <a:endParaRPr lang="en-US" sz="2585"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5" name="TextBox 15"/>
          <p:cNvSpPr txBox="1"/>
          <p:nvPr/>
        </p:nvSpPr>
        <p:spPr>
          <a:xfrm>
            <a:off x="6840832" y="4951431"/>
            <a:ext cx="9697747" cy="800100"/>
          </a:xfrm>
          <a:prstGeom prst="rect">
            <a:avLst/>
          </a:prstGeom>
        </p:spPr>
        <p:txBody>
          <a:bodyPr lIns="0" tIns="0" rIns="0" bIns="0" rtlCol="0" anchor="t">
            <a:spAutoFit/>
          </a:bodyPr>
          <a:lstStyle/>
          <a:p>
            <a:pPr algn="just">
              <a:lnSpc>
                <a:spcPts val="3105"/>
              </a:lnSpc>
            </a:pPr>
            <a:r>
              <a:rPr lang="en-US" sz="2585" b="1">
                <a:solidFill>
                  <a:srgbClr val="000000"/>
                </a:solidFill>
                <a:latin typeface="Arial Bold" panose="020B0704020202020204"/>
                <a:ea typeface="Arial Bold" panose="020B0704020202020204"/>
                <a:cs typeface="Arial Bold" panose="020B0704020202020204"/>
                <a:sym typeface="Arial Bold" panose="020B0704020202020204"/>
              </a:rPr>
              <a:t>All features especially the notifications because if some posted an item all users will be notified </a:t>
            </a:r>
            <a:endParaRPr lang="en-US" sz="2585"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6" name="TextBox 16"/>
          <p:cNvSpPr txBox="1"/>
          <p:nvPr/>
        </p:nvSpPr>
        <p:spPr>
          <a:xfrm>
            <a:off x="2342493" y="1802340"/>
            <a:ext cx="13571563" cy="533400"/>
          </a:xfrm>
          <a:prstGeom prst="rect">
            <a:avLst/>
          </a:prstGeom>
        </p:spPr>
        <p:txBody>
          <a:bodyPr lIns="0" tIns="0" rIns="0" bIns="0" rtlCol="0" anchor="t">
            <a:spAutoFit/>
          </a:bodyPr>
          <a:lstStyle/>
          <a:p>
            <a:pPr algn="just">
              <a:lnSpc>
                <a:spcPts val="4075"/>
              </a:lnSpc>
              <a:spcBef>
                <a:spcPct val="0"/>
              </a:spcBef>
            </a:pPr>
            <a:r>
              <a:rPr lang="en-US" sz="3395" b="1">
                <a:solidFill>
                  <a:srgbClr val="FF3131"/>
                </a:solidFill>
                <a:latin typeface="Arial Bold" panose="020B0704020202020204"/>
                <a:ea typeface="Arial Bold" panose="020B0704020202020204"/>
                <a:cs typeface="Arial Bold" panose="020B0704020202020204"/>
                <a:sym typeface="Arial Bold" panose="020B0704020202020204"/>
              </a:rPr>
              <a:t>QUESTIONS                                           RESPONDENT </a:t>
            </a:r>
            <a:endParaRPr lang="en-US" sz="3395" b="1">
              <a:solidFill>
                <a:srgbClr val="FF3131"/>
              </a:solidFill>
              <a:latin typeface="Arial Bold" panose="020B0704020202020204"/>
              <a:ea typeface="Arial Bold" panose="020B0704020202020204"/>
              <a:cs typeface="Arial Bold" panose="020B0704020202020204"/>
              <a:sym typeface="Arial Bold" panose="020B0704020202020204"/>
            </a:endParaRPr>
          </a:p>
        </p:txBody>
      </p:sp>
      <p:sp>
        <p:nvSpPr>
          <p:cNvPr id="17" name="AutoShape 17"/>
          <p:cNvSpPr/>
          <p:nvPr/>
        </p:nvSpPr>
        <p:spPr>
          <a:xfrm flipV="1">
            <a:off x="810277" y="6318137"/>
            <a:ext cx="15614494" cy="53155"/>
          </a:xfrm>
          <a:prstGeom prst="line">
            <a:avLst/>
          </a:prstGeom>
          <a:ln w="142875" cap="rnd">
            <a:solidFill>
              <a:srgbClr val="000000"/>
            </a:solidFill>
            <a:prstDash val="solid"/>
            <a:headEnd type="none" w="sm" len="sm"/>
            <a:tailEnd type="none" w="sm" len="sm"/>
          </a:ln>
        </p:spPr>
      </p:sp>
      <p:sp>
        <p:nvSpPr>
          <p:cNvPr id="18" name="TextBox 18"/>
          <p:cNvSpPr txBox="1"/>
          <p:nvPr/>
        </p:nvSpPr>
        <p:spPr>
          <a:xfrm>
            <a:off x="6566843" y="6646206"/>
            <a:ext cx="9520875" cy="1196946"/>
          </a:xfrm>
          <a:prstGeom prst="rect">
            <a:avLst/>
          </a:prstGeom>
        </p:spPr>
        <p:txBody>
          <a:bodyPr lIns="0" tIns="0" rIns="0" bIns="0" rtlCol="0" anchor="t">
            <a:spAutoFit/>
          </a:bodyPr>
          <a:lstStyle/>
          <a:p>
            <a:pPr algn="just">
              <a:lnSpc>
                <a:spcPts val="3135"/>
              </a:lnSpc>
              <a:spcBef>
                <a:spcPct val="0"/>
              </a:spcBef>
            </a:pPr>
            <a:r>
              <a:rPr lang="en-US" sz="2615" b="1">
                <a:solidFill>
                  <a:srgbClr val="000000"/>
                </a:solidFill>
                <a:latin typeface="Arial Bold" panose="020B0704020202020204"/>
                <a:ea typeface="Arial Bold" panose="020B0704020202020204"/>
                <a:cs typeface="Arial Bold" panose="020B0704020202020204"/>
                <a:sym typeface="Arial Bold" panose="020B0704020202020204"/>
              </a:rPr>
              <a:t>Specifications of an item, expiration date of foods,and flaws should also be</a:t>
            </a:r>
            <a:r>
              <a:rPr lang="en-US" sz="2615" b="1">
                <a:solidFill>
                  <a:srgbClr val="000000"/>
                </a:solidFill>
                <a:latin typeface="Arial Bold" panose="020B0704020202020204"/>
                <a:ea typeface="Arial Bold" panose="020B0704020202020204"/>
                <a:cs typeface="Arial Bold" panose="020B0704020202020204"/>
                <a:sym typeface="Arial Bold" panose="020B0704020202020204"/>
              </a:rPr>
              <a:t> included so that everyone can see if it n</a:t>
            </a:r>
            <a:r>
              <a:rPr lang="en-US" sz="2615" b="1">
                <a:solidFill>
                  <a:srgbClr val="000000"/>
                </a:solidFill>
                <a:latin typeface="Arial Bold" panose="020B0704020202020204"/>
                <a:ea typeface="Arial Bold" panose="020B0704020202020204"/>
                <a:cs typeface="Arial Bold" panose="020B0704020202020204"/>
                <a:sym typeface="Arial Bold" panose="020B0704020202020204"/>
              </a:rPr>
              <a:t>eeds repair.</a:t>
            </a:r>
            <a:endParaRPr lang="en-US" sz="2615"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9" name="AutoShape 19"/>
          <p:cNvSpPr/>
          <p:nvPr/>
        </p:nvSpPr>
        <p:spPr>
          <a:xfrm flipV="1">
            <a:off x="1028457" y="8137117"/>
            <a:ext cx="15614494" cy="53155"/>
          </a:xfrm>
          <a:prstGeom prst="line">
            <a:avLst/>
          </a:prstGeom>
          <a:ln w="142875" cap="rnd">
            <a:solidFill>
              <a:srgbClr val="000000"/>
            </a:solidFill>
            <a:prstDash val="solid"/>
            <a:headEnd type="none" w="sm" len="sm"/>
            <a:tailEnd type="none" w="sm" len="sm"/>
          </a:ln>
        </p:spPr>
      </p:sp>
      <p:sp>
        <p:nvSpPr>
          <p:cNvPr id="20" name="TextBox 20"/>
          <p:cNvSpPr txBox="1"/>
          <p:nvPr/>
        </p:nvSpPr>
        <p:spPr>
          <a:xfrm>
            <a:off x="6698692" y="8642709"/>
            <a:ext cx="9469782" cy="768985"/>
          </a:xfrm>
          <a:prstGeom prst="rect">
            <a:avLst/>
          </a:prstGeom>
        </p:spPr>
        <p:txBody>
          <a:bodyPr lIns="0" tIns="0" rIns="0" bIns="0" rtlCol="0" anchor="t">
            <a:spAutoFit/>
          </a:bodyPr>
          <a:lstStyle/>
          <a:p>
            <a:pPr algn="just">
              <a:lnSpc>
                <a:spcPts val="3000"/>
              </a:lnSpc>
              <a:spcBef>
                <a:spcPct val="0"/>
              </a:spcBef>
            </a:pP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Feature like one-tap template</a:t>
            </a: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s</a:t>
            </a: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 like "Is this still available?" and allow users to upload photos, videos or documents </a:t>
            </a:r>
            <a:endParaRPr lang="en-US" sz="25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1" name="TextBox 21"/>
          <p:cNvSpPr txBox="1"/>
          <p:nvPr/>
        </p:nvSpPr>
        <p:spPr>
          <a:xfrm>
            <a:off x="1300192" y="8414109"/>
            <a:ext cx="4893675" cy="894080"/>
          </a:xfrm>
          <a:prstGeom prst="rect">
            <a:avLst/>
          </a:prstGeom>
        </p:spPr>
        <p:txBody>
          <a:bodyPr lIns="0" tIns="0" rIns="0" bIns="0" rtlCol="0" anchor="t">
            <a:spAutoFit/>
          </a:bodyPr>
          <a:lstStyle/>
          <a:p>
            <a:pPr algn="just">
              <a:lnSpc>
                <a:spcPts val="2325"/>
              </a:lnSpc>
              <a:spcBef>
                <a:spcPct val="0"/>
              </a:spcBef>
            </a:pPr>
            <a:r>
              <a:rPr lang="en-US" sz="1935" b="1">
                <a:solidFill>
                  <a:srgbClr val="000000"/>
                </a:solidFill>
                <a:latin typeface="Arial Bold" panose="020B0704020202020204"/>
                <a:ea typeface="Arial Bold" panose="020B0704020202020204"/>
                <a:cs typeface="Arial Bold" panose="020B0704020202020204"/>
                <a:sym typeface="Arial Bold" panose="020B0704020202020204"/>
              </a:rPr>
              <a:t>How would you like the Chat System to support communication and negotiation between users?</a:t>
            </a:r>
            <a:endParaRPr lang="en-US" sz="1935"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2" name="TextBox 22"/>
          <p:cNvSpPr txBox="1"/>
          <p:nvPr/>
        </p:nvSpPr>
        <p:spPr>
          <a:xfrm>
            <a:off x="1372676" y="4789637"/>
            <a:ext cx="4868610" cy="800100"/>
          </a:xfrm>
          <a:prstGeom prst="rect">
            <a:avLst/>
          </a:prstGeom>
        </p:spPr>
        <p:txBody>
          <a:bodyPr lIns="0" tIns="0" rIns="0" bIns="0" rtlCol="0" anchor="t">
            <a:spAutoFit/>
          </a:bodyPr>
          <a:lstStyle/>
          <a:p>
            <a:pPr algn="just">
              <a:lnSpc>
                <a:spcPts val="3120"/>
              </a:lnSpc>
              <a:spcBef>
                <a:spcPct val="0"/>
              </a:spcBef>
            </a:pPr>
            <a:r>
              <a:rPr lang="en-US" sz="2600" b="1">
                <a:solidFill>
                  <a:srgbClr val="000000"/>
                </a:solidFill>
                <a:latin typeface="Arial Bold" panose="020B0704020202020204"/>
                <a:ea typeface="Arial Bold" panose="020B0704020202020204"/>
                <a:cs typeface="Arial Bold" panose="020B0704020202020204"/>
                <a:sym typeface="Arial Bold" panose="020B0704020202020204"/>
              </a:rPr>
              <a:t>Which</a:t>
            </a:r>
            <a:r>
              <a:rPr lang="en-US" sz="2600" b="1">
                <a:solidFill>
                  <a:srgbClr val="000000"/>
                </a:solidFill>
                <a:latin typeface="Arial Bold" panose="020B0704020202020204"/>
                <a:ea typeface="Arial Bold" panose="020B0704020202020204"/>
                <a:cs typeface="Arial Bold" panose="020B0704020202020204"/>
                <a:sym typeface="Arial Bold" panose="020B0704020202020204"/>
              </a:rPr>
              <a:t> features would be most useful? Explain why.</a:t>
            </a:r>
            <a:endParaRPr lang="en-US" sz="26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3" name="TextBox 23"/>
          <p:cNvSpPr txBox="1"/>
          <p:nvPr/>
        </p:nvSpPr>
        <p:spPr>
          <a:xfrm>
            <a:off x="1253614" y="6482679"/>
            <a:ext cx="5073604" cy="784225"/>
          </a:xfrm>
          <a:prstGeom prst="rect">
            <a:avLst/>
          </a:prstGeom>
        </p:spPr>
        <p:txBody>
          <a:bodyPr lIns="0" tIns="0" rIns="0" bIns="0" rtlCol="0" anchor="t">
            <a:spAutoFit/>
          </a:bodyPr>
          <a:lstStyle/>
          <a:p>
            <a:pPr algn="just">
              <a:lnSpc>
                <a:spcPts val="3060"/>
              </a:lnSpc>
              <a:spcBef>
                <a:spcPct val="0"/>
              </a:spcBef>
            </a:pPr>
            <a:r>
              <a:rPr lang="en-US" sz="2550" b="1">
                <a:solidFill>
                  <a:srgbClr val="000000"/>
                </a:solidFill>
                <a:latin typeface="Arial Bold" panose="020B0704020202020204"/>
                <a:ea typeface="Arial Bold" panose="020B0704020202020204"/>
                <a:cs typeface="Arial Bold" panose="020B0704020202020204"/>
                <a:sym typeface="Arial Bold" panose="020B0704020202020204"/>
              </a:rPr>
              <a:t>What details</a:t>
            </a:r>
            <a:r>
              <a:rPr lang="en-US" sz="2550" b="1">
                <a:solidFill>
                  <a:srgbClr val="000000"/>
                </a:solidFill>
                <a:latin typeface="Arial Bold" panose="020B0704020202020204"/>
                <a:ea typeface="Arial Bold" panose="020B0704020202020204"/>
                <a:cs typeface="Arial Bold" panose="020B0704020202020204"/>
                <a:sym typeface="Arial Bold" panose="020B0704020202020204"/>
              </a:rPr>
              <a:t> should be included in an item posting.</a:t>
            </a:r>
            <a:endParaRPr lang="en-US" sz="255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4" name="TextBox 8"/>
          <p:cNvSpPr txBox="1"/>
          <p:nvPr/>
        </p:nvSpPr>
        <p:spPr>
          <a:xfrm>
            <a:off x="10896600" y="419100"/>
            <a:ext cx="7981950" cy="1200785"/>
          </a:xfrm>
          <a:prstGeom prst="rect">
            <a:avLst/>
          </a:prstGeom>
        </p:spPr>
        <p:txBody>
          <a:bodyPr wrap="square" lIns="0" tIns="0" rIns="0" bIns="0" rtlCol="0" anchor="t">
            <a:spAutoFit/>
          </a:bodyPr>
          <a:lstStyle/>
          <a:p>
            <a:pPr algn="ctr">
              <a:lnSpc>
                <a:spcPts val="9365"/>
              </a:lnSpc>
            </a:pPr>
            <a:r>
              <a:rPr lang="en-US" sz="3200" b="1">
                <a:solidFill>
                  <a:srgbClr val="FFFFFF"/>
                </a:solidFill>
                <a:latin typeface="Arial Bold" panose="020B0704020202020204"/>
                <a:ea typeface="Arial Bold" panose="020B0704020202020204"/>
                <a:cs typeface="Arial Bold" panose="020B0704020202020204"/>
                <a:sym typeface="Arial Bold" panose="020B0704020202020204"/>
              </a:rPr>
              <a:t>Trisha</a:t>
            </a:r>
            <a:endParaRPr lang="en-US" sz="320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5099392" y="7549696"/>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sp>
        <p:nvSpPr>
          <p:cNvPr id="8" name="Freeform 8"/>
          <p:cNvSpPr/>
          <p:nvPr/>
        </p:nvSpPr>
        <p:spPr>
          <a:xfrm>
            <a:off x="741814" y="1667090"/>
            <a:ext cx="17228075" cy="8376800"/>
          </a:xfrm>
          <a:custGeom>
            <a:avLst/>
            <a:gdLst/>
            <a:ahLst/>
            <a:cxnLst/>
            <a:rect l="l" t="t" r="r" b="b"/>
            <a:pathLst>
              <a:path w="17228075" h="8376800">
                <a:moveTo>
                  <a:pt x="0" y="0"/>
                </a:moveTo>
                <a:lnTo>
                  <a:pt x="17228075" y="0"/>
                </a:lnTo>
                <a:lnTo>
                  <a:pt x="17228075" y="8376800"/>
                </a:lnTo>
                <a:lnTo>
                  <a:pt x="0" y="8376800"/>
                </a:lnTo>
                <a:lnTo>
                  <a:pt x="0" y="0"/>
                </a:lnTo>
                <a:close/>
              </a:path>
            </a:pathLst>
          </a:custGeom>
          <a:blipFill>
            <a:blip r:embed="rId1"/>
            <a:stretch>
              <a:fillRect t="-55731" b="-52010"/>
            </a:stretch>
          </a:blipFill>
        </p:spPr>
      </p:sp>
      <p:sp>
        <p:nvSpPr>
          <p:cNvPr id="9" name="TextBox 9"/>
          <p:cNvSpPr txBox="1"/>
          <p:nvPr/>
        </p:nvSpPr>
        <p:spPr>
          <a:xfrm>
            <a:off x="3886200" y="270510"/>
            <a:ext cx="10557510" cy="1200785"/>
          </a:xfrm>
          <a:prstGeom prst="rect">
            <a:avLst/>
          </a:prstGeom>
        </p:spPr>
        <p:txBody>
          <a:bodyPr wrap="square"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END USER</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0" name="TextBox 10"/>
          <p:cNvSpPr txBox="1"/>
          <p:nvPr/>
        </p:nvSpPr>
        <p:spPr>
          <a:xfrm>
            <a:off x="1772964" y="1846412"/>
            <a:ext cx="11722189" cy="742950"/>
          </a:xfrm>
          <a:prstGeom prst="rect">
            <a:avLst/>
          </a:prstGeom>
        </p:spPr>
        <p:txBody>
          <a:bodyPr lIns="0" tIns="0" rIns="0" bIns="0" rtlCol="0" anchor="t">
            <a:spAutoFit/>
          </a:bodyPr>
          <a:lstStyle/>
          <a:p>
            <a:pPr algn="l">
              <a:lnSpc>
                <a:spcPts val="5765"/>
              </a:lnSpc>
            </a:pPr>
            <a:r>
              <a:rPr lang="en-US" sz="4805" b="1">
                <a:solidFill>
                  <a:srgbClr val="FFFFFF"/>
                </a:solidFill>
                <a:latin typeface="Arial Bold" panose="020B0704020202020204"/>
                <a:ea typeface="Arial Bold" panose="020B0704020202020204"/>
                <a:cs typeface="Arial Bold" panose="020B0704020202020204"/>
                <a:sym typeface="Arial Bold" panose="020B0704020202020204"/>
              </a:rPr>
              <a:t>What did you ask?</a:t>
            </a:r>
            <a:endParaRPr lang="en-US" sz="4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1" name="AutoShape 11"/>
          <p:cNvSpPr/>
          <p:nvPr/>
        </p:nvSpPr>
        <p:spPr>
          <a:xfrm flipH="1">
            <a:off x="6446280" y="1865462"/>
            <a:ext cx="0" cy="8178428"/>
          </a:xfrm>
          <a:prstGeom prst="line">
            <a:avLst/>
          </a:prstGeom>
          <a:ln w="142875" cap="rnd">
            <a:solidFill>
              <a:srgbClr val="000000"/>
            </a:solidFill>
            <a:prstDash val="solid"/>
            <a:headEnd type="none" w="sm" len="sm"/>
            <a:tailEnd type="none" w="sm" len="sm"/>
          </a:ln>
        </p:spPr>
      </p:sp>
      <p:sp>
        <p:nvSpPr>
          <p:cNvPr id="12" name="AutoShape 12"/>
          <p:cNvSpPr/>
          <p:nvPr/>
        </p:nvSpPr>
        <p:spPr>
          <a:xfrm>
            <a:off x="741814" y="6386722"/>
            <a:ext cx="15614494" cy="0"/>
          </a:xfrm>
          <a:prstGeom prst="line">
            <a:avLst/>
          </a:prstGeom>
          <a:ln w="142875" cap="rnd">
            <a:solidFill>
              <a:srgbClr val="000000"/>
            </a:solidFill>
            <a:prstDash val="solid"/>
            <a:headEnd type="none" w="sm" len="sm"/>
            <a:tailEnd type="none" w="sm" len="sm"/>
          </a:ln>
        </p:spPr>
      </p:sp>
      <p:sp>
        <p:nvSpPr>
          <p:cNvPr id="13" name="TextBox 13"/>
          <p:cNvSpPr txBox="1"/>
          <p:nvPr/>
        </p:nvSpPr>
        <p:spPr>
          <a:xfrm>
            <a:off x="1577670" y="2648160"/>
            <a:ext cx="4326491" cy="2077085"/>
          </a:xfrm>
          <a:prstGeom prst="rect">
            <a:avLst/>
          </a:prstGeom>
        </p:spPr>
        <p:txBody>
          <a:bodyPr lIns="0" tIns="0" rIns="0" bIns="0" rtlCol="0" anchor="t">
            <a:spAutoFit/>
          </a:bodyPr>
          <a:lstStyle/>
          <a:p>
            <a:pPr algn="just">
              <a:lnSpc>
                <a:spcPts val="3240"/>
              </a:lnSpc>
            </a:pPr>
          </a:p>
          <a:p>
            <a:pPr algn="just">
              <a:lnSpc>
                <a:spcPts val="3240"/>
              </a:lnSpc>
              <a:spcBef>
                <a:spcPct val="0"/>
              </a:spcBef>
            </a:pP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 </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How would you prefer to </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s</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earch for</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 </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items</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 (</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e.g., category, l</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ocation, condit</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ion,</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 avai</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l</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abili</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ty)</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a:t>
            </a:r>
            <a:endParaRPr lang="en-US" sz="27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4" name="TextBox 14"/>
          <p:cNvSpPr txBox="1"/>
          <p:nvPr/>
        </p:nvSpPr>
        <p:spPr>
          <a:xfrm>
            <a:off x="6840832" y="3412636"/>
            <a:ext cx="9697747" cy="857250"/>
          </a:xfrm>
          <a:prstGeom prst="rect">
            <a:avLst/>
          </a:prstGeom>
        </p:spPr>
        <p:txBody>
          <a:bodyPr lIns="0" tIns="0" rIns="0" bIns="0" rtlCol="0" anchor="t">
            <a:spAutoFit/>
          </a:bodyPr>
          <a:lstStyle/>
          <a:p>
            <a:pPr algn="just">
              <a:lnSpc>
                <a:spcPts val="3345"/>
              </a:lnSpc>
              <a:spcBef>
                <a:spcPct val="0"/>
              </a:spcBef>
            </a:pPr>
            <a:r>
              <a:rPr lang="en-US" sz="2785" b="1">
                <a:solidFill>
                  <a:srgbClr val="000000"/>
                </a:solidFill>
                <a:latin typeface="Arial Bold" panose="020B0704020202020204"/>
                <a:ea typeface="Arial Bold" panose="020B0704020202020204"/>
                <a:cs typeface="Arial Bold" panose="020B0704020202020204"/>
                <a:sym typeface="Arial Bold" panose="020B0704020202020204"/>
              </a:rPr>
              <a:t>Can b</a:t>
            </a:r>
            <a:r>
              <a:rPr lang="en-US" sz="2785" b="1">
                <a:solidFill>
                  <a:srgbClr val="000000"/>
                </a:solidFill>
                <a:latin typeface="Arial Bold" panose="020B0704020202020204"/>
                <a:ea typeface="Arial Bold" panose="020B0704020202020204"/>
                <a:cs typeface="Arial Bold" panose="020B0704020202020204"/>
                <a:sym typeface="Arial Bold" panose="020B0704020202020204"/>
              </a:rPr>
              <a:t>e filtered by c</a:t>
            </a:r>
            <a:r>
              <a:rPr lang="en-US" sz="2785" b="1">
                <a:solidFill>
                  <a:srgbClr val="000000"/>
                </a:solidFill>
                <a:latin typeface="Arial Bold" panose="020B0704020202020204"/>
                <a:ea typeface="Arial Bold" panose="020B0704020202020204"/>
                <a:cs typeface="Arial Bold" panose="020B0704020202020204"/>
                <a:sym typeface="Arial Bold" panose="020B0704020202020204"/>
              </a:rPr>
              <a:t>ategory, location, condition and availability for easier browsing</a:t>
            </a:r>
            <a:endParaRPr lang="en-US" sz="2785"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5" name="TextBox 15"/>
          <p:cNvSpPr txBox="1"/>
          <p:nvPr/>
        </p:nvSpPr>
        <p:spPr>
          <a:xfrm>
            <a:off x="1306610" y="6844846"/>
            <a:ext cx="4868610" cy="1276350"/>
          </a:xfrm>
          <a:prstGeom prst="rect">
            <a:avLst/>
          </a:prstGeom>
        </p:spPr>
        <p:txBody>
          <a:bodyPr lIns="0" tIns="0" rIns="0" bIns="0" rtlCol="0" anchor="t">
            <a:spAutoFit/>
          </a:bodyPr>
          <a:lstStyle/>
          <a:p>
            <a:pPr algn="just">
              <a:lnSpc>
                <a:spcPts val="3360"/>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What add</a:t>
            </a: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itional features would improve your experience?</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6" name="TextBox 16"/>
          <p:cNvSpPr txBox="1"/>
          <p:nvPr/>
        </p:nvSpPr>
        <p:spPr>
          <a:xfrm>
            <a:off x="7220783" y="6844846"/>
            <a:ext cx="9697747" cy="409575"/>
          </a:xfrm>
          <a:prstGeom prst="rect">
            <a:avLst/>
          </a:prstGeom>
        </p:spPr>
        <p:txBody>
          <a:bodyPr lIns="0" tIns="0" rIns="0" bIns="0" rtlCol="0" anchor="t">
            <a:spAutoFit/>
          </a:bodyPr>
          <a:lstStyle/>
          <a:p>
            <a:pPr algn="just">
              <a:lnSpc>
                <a:spcPts val="3105"/>
              </a:lnSpc>
              <a:spcBef>
                <a:spcPct val="0"/>
              </a:spcBef>
            </a:pPr>
            <a:r>
              <a:rPr lang="en-US" sz="2585" b="1">
                <a:solidFill>
                  <a:srgbClr val="000000"/>
                </a:solidFill>
                <a:latin typeface="Arial Bold" panose="020B0704020202020204"/>
                <a:ea typeface="Arial Bold" panose="020B0704020202020204"/>
                <a:cs typeface="Arial Bold" panose="020B0704020202020204"/>
                <a:sym typeface="Arial Bold" panose="020B0704020202020204"/>
              </a:rPr>
              <a:t>None, so far</a:t>
            </a:r>
            <a:endParaRPr lang="en-US" sz="2585"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7" name="TextBox 17"/>
          <p:cNvSpPr txBox="1"/>
          <p:nvPr/>
        </p:nvSpPr>
        <p:spPr>
          <a:xfrm>
            <a:off x="2342493" y="1802340"/>
            <a:ext cx="13571563" cy="533400"/>
          </a:xfrm>
          <a:prstGeom prst="rect">
            <a:avLst/>
          </a:prstGeom>
        </p:spPr>
        <p:txBody>
          <a:bodyPr lIns="0" tIns="0" rIns="0" bIns="0" rtlCol="0" anchor="t">
            <a:spAutoFit/>
          </a:bodyPr>
          <a:lstStyle/>
          <a:p>
            <a:pPr algn="just">
              <a:lnSpc>
                <a:spcPts val="4075"/>
              </a:lnSpc>
              <a:spcBef>
                <a:spcPct val="0"/>
              </a:spcBef>
            </a:pPr>
            <a:r>
              <a:rPr lang="en-US" sz="3395" b="1">
                <a:solidFill>
                  <a:srgbClr val="FF3131"/>
                </a:solidFill>
                <a:latin typeface="Arial Bold" panose="020B0704020202020204"/>
                <a:ea typeface="Arial Bold" panose="020B0704020202020204"/>
                <a:cs typeface="Arial Bold" panose="020B0704020202020204"/>
                <a:sym typeface="Arial Bold" panose="020B0704020202020204"/>
              </a:rPr>
              <a:t>QUESTIONS                                           ANSWERS</a:t>
            </a:r>
            <a:endParaRPr lang="en-US" sz="3395" b="1">
              <a:solidFill>
                <a:srgbClr val="FF3131"/>
              </a:solidFill>
              <a:latin typeface="Arial Bold" panose="020B0704020202020204"/>
              <a:ea typeface="Arial Bold" panose="020B0704020202020204"/>
              <a:cs typeface="Arial Bold" panose="020B0704020202020204"/>
              <a:sym typeface="Arial Bold" panose="020B0704020202020204"/>
            </a:endParaRPr>
          </a:p>
        </p:txBody>
      </p:sp>
      <p:sp>
        <p:nvSpPr>
          <p:cNvPr id="24" name="TextBox 8"/>
          <p:cNvSpPr txBox="1"/>
          <p:nvPr/>
        </p:nvSpPr>
        <p:spPr>
          <a:xfrm>
            <a:off x="10896600" y="419100"/>
            <a:ext cx="7981950" cy="1200785"/>
          </a:xfrm>
          <a:prstGeom prst="rect">
            <a:avLst/>
          </a:prstGeom>
        </p:spPr>
        <p:txBody>
          <a:bodyPr wrap="square" lIns="0" tIns="0" rIns="0" bIns="0" rtlCol="0" anchor="t">
            <a:spAutoFit/>
          </a:bodyPr>
          <a:lstStyle/>
          <a:p>
            <a:pPr algn="ctr">
              <a:lnSpc>
                <a:spcPts val="9365"/>
              </a:lnSpc>
            </a:pPr>
            <a:r>
              <a:rPr lang="en-US" sz="3200" b="1">
                <a:solidFill>
                  <a:srgbClr val="FFFFFF"/>
                </a:solidFill>
                <a:latin typeface="Arial Bold" panose="020B0704020202020204"/>
                <a:ea typeface="Arial Bold" panose="020B0704020202020204"/>
                <a:cs typeface="Arial Bold" panose="020B0704020202020204"/>
                <a:sym typeface="Arial Bold" panose="020B0704020202020204"/>
              </a:rPr>
              <a:t>Trisha</a:t>
            </a:r>
            <a:endParaRPr lang="en-US" sz="320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4880969" y="6253153"/>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sp>
        <p:nvSpPr>
          <p:cNvPr id="8" name="Freeform 8"/>
          <p:cNvSpPr/>
          <p:nvPr/>
        </p:nvSpPr>
        <p:spPr>
          <a:xfrm>
            <a:off x="741814" y="1667090"/>
            <a:ext cx="17228075" cy="8376800"/>
          </a:xfrm>
          <a:custGeom>
            <a:avLst/>
            <a:gdLst/>
            <a:ahLst/>
            <a:cxnLst/>
            <a:rect l="l" t="t" r="r" b="b"/>
            <a:pathLst>
              <a:path w="17228075" h="8376800">
                <a:moveTo>
                  <a:pt x="0" y="0"/>
                </a:moveTo>
                <a:lnTo>
                  <a:pt x="17228075" y="0"/>
                </a:lnTo>
                <a:lnTo>
                  <a:pt x="17228075" y="8376800"/>
                </a:lnTo>
                <a:lnTo>
                  <a:pt x="0" y="8376800"/>
                </a:lnTo>
                <a:lnTo>
                  <a:pt x="0" y="0"/>
                </a:lnTo>
                <a:close/>
              </a:path>
            </a:pathLst>
          </a:custGeom>
          <a:blipFill>
            <a:blip r:embed="rId1"/>
            <a:stretch>
              <a:fillRect t="-55731" b="-52010"/>
            </a:stretch>
          </a:blipFill>
        </p:spPr>
      </p:sp>
      <p:sp>
        <p:nvSpPr>
          <p:cNvPr id="9" name="TextBox 9"/>
          <p:cNvSpPr txBox="1"/>
          <p:nvPr/>
        </p:nvSpPr>
        <p:spPr>
          <a:xfrm>
            <a:off x="2971800" y="287655"/>
            <a:ext cx="12496800" cy="1200785"/>
          </a:xfrm>
          <a:prstGeom prst="rect">
            <a:avLst/>
          </a:prstGeom>
        </p:spPr>
        <p:txBody>
          <a:bodyPr wrap="square"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END USER</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0" name="TextBox 10"/>
          <p:cNvSpPr txBox="1"/>
          <p:nvPr/>
        </p:nvSpPr>
        <p:spPr>
          <a:xfrm>
            <a:off x="1772964" y="1846412"/>
            <a:ext cx="11722189" cy="742950"/>
          </a:xfrm>
          <a:prstGeom prst="rect">
            <a:avLst/>
          </a:prstGeom>
        </p:spPr>
        <p:txBody>
          <a:bodyPr lIns="0" tIns="0" rIns="0" bIns="0" rtlCol="0" anchor="t">
            <a:spAutoFit/>
          </a:bodyPr>
          <a:lstStyle/>
          <a:p>
            <a:pPr algn="l">
              <a:lnSpc>
                <a:spcPts val="5765"/>
              </a:lnSpc>
            </a:pPr>
            <a:r>
              <a:rPr lang="en-US" sz="4805" b="1">
                <a:solidFill>
                  <a:srgbClr val="FFFFFF"/>
                </a:solidFill>
                <a:latin typeface="Arial Bold" panose="020B0704020202020204"/>
                <a:ea typeface="Arial Bold" panose="020B0704020202020204"/>
                <a:cs typeface="Arial Bold" panose="020B0704020202020204"/>
                <a:sym typeface="Arial Bold" panose="020B0704020202020204"/>
              </a:rPr>
              <a:t>What did you ask?</a:t>
            </a:r>
            <a:endParaRPr lang="en-US" sz="4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1" name="AutoShape 11"/>
          <p:cNvSpPr/>
          <p:nvPr/>
        </p:nvSpPr>
        <p:spPr>
          <a:xfrm flipH="1">
            <a:off x="6446280" y="1865462"/>
            <a:ext cx="0" cy="8178428"/>
          </a:xfrm>
          <a:prstGeom prst="line">
            <a:avLst/>
          </a:prstGeom>
          <a:ln w="142875" cap="rnd">
            <a:solidFill>
              <a:srgbClr val="000000"/>
            </a:solidFill>
            <a:prstDash val="solid"/>
            <a:headEnd type="none" w="sm" len="sm"/>
            <a:tailEnd type="none" w="sm" len="sm"/>
          </a:ln>
        </p:spPr>
      </p:sp>
      <p:sp>
        <p:nvSpPr>
          <p:cNvPr id="12" name="AutoShape 12"/>
          <p:cNvSpPr/>
          <p:nvPr/>
        </p:nvSpPr>
        <p:spPr>
          <a:xfrm flipV="1">
            <a:off x="1028700" y="4403874"/>
            <a:ext cx="15614494" cy="0"/>
          </a:xfrm>
          <a:prstGeom prst="line">
            <a:avLst/>
          </a:prstGeom>
          <a:ln w="142875" cap="rnd">
            <a:solidFill>
              <a:srgbClr val="000000"/>
            </a:solidFill>
            <a:prstDash val="solid"/>
            <a:headEnd type="none" w="sm" len="sm"/>
            <a:tailEnd type="none" w="sm" len="sm"/>
          </a:ln>
        </p:spPr>
      </p:sp>
      <p:sp>
        <p:nvSpPr>
          <p:cNvPr id="13" name="TextBox 13"/>
          <p:cNvSpPr txBox="1"/>
          <p:nvPr/>
        </p:nvSpPr>
        <p:spPr>
          <a:xfrm>
            <a:off x="1571252" y="2741124"/>
            <a:ext cx="4326491" cy="1200150"/>
          </a:xfrm>
          <a:prstGeom prst="rect">
            <a:avLst/>
          </a:prstGeom>
        </p:spPr>
        <p:txBody>
          <a:bodyPr lIns="0" tIns="0" rIns="0" bIns="0" rtlCol="0" anchor="t">
            <a:spAutoFit/>
          </a:bodyPr>
          <a:lstStyle/>
          <a:p>
            <a:pPr algn="just">
              <a:lnSpc>
                <a:spcPts val="3120"/>
              </a:lnSpc>
              <a:spcBef>
                <a:spcPct val="0"/>
              </a:spcBef>
            </a:pPr>
            <a:r>
              <a:rPr lang="en-US" altLang="en-US" sz="2600" b="1">
                <a:solidFill>
                  <a:srgbClr val="000000"/>
                </a:solidFill>
                <a:latin typeface="Arial Bold" panose="020B0704020202020204"/>
                <a:ea typeface="Arial Bold" panose="020B0704020202020204"/>
                <a:cs typeface="Arial Bold" panose="020B0704020202020204"/>
                <a:sym typeface="Arial Bold" panose="020B0704020202020204"/>
              </a:rPr>
              <a:t>Have you ever donated, requested, or exchanged essential items?</a:t>
            </a:r>
            <a:endParaRPr lang="en-US" altLang="en-US" sz="26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4" name="TextBox 14"/>
          <p:cNvSpPr txBox="1"/>
          <p:nvPr/>
        </p:nvSpPr>
        <p:spPr>
          <a:xfrm>
            <a:off x="6840832" y="2903687"/>
            <a:ext cx="9697747" cy="398145"/>
          </a:xfrm>
          <a:prstGeom prst="rect">
            <a:avLst/>
          </a:prstGeom>
        </p:spPr>
        <p:txBody>
          <a:bodyPr lIns="0" tIns="0" rIns="0" bIns="0" rtlCol="0" anchor="t">
            <a:spAutoFit/>
          </a:bodyPr>
          <a:lstStyle/>
          <a:p>
            <a:pPr algn="just">
              <a:lnSpc>
                <a:spcPts val="3105"/>
              </a:lnSpc>
              <a:spcBef>
                <a:spcPct val="0"/>
              </a:spcBef>
            </a:pPr>
            <a:r>
              <a:rPr lang="en-US" sz="2585" b="1">
                <a:solidFill>
                  <a:srgbClr val="000000"/>
                </a:solidFill>
                <a:latin typeface="Arial Bold" panose="020B0704020202020204"/>
                <a:ea typeface="Arial Bold" panose="020B0704020202020204"/>
                <a:cs typeface="Arial Bold" panose="020B0704020202020204"/>
                <a:sym typeface="Arial Bold" panose="020B0704020202020204"/>
              </a:rPr>
              <a:t>Financial Assistance</a:t>
            </a:r>
            <a:endParaRPr lang="en-US" sz="2585"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5" name="TextBox 15"/>
          <p:cNvSpPr txBox="1"/>
          <p:nvPr/>
        </p:nvSpPr>
        <p:spPr>
          <a:xfrm>
            <a:off x="6840832" y="4951431"/>
            <a:ext cx="9697747" cy="796290"/>
          </a:xfrm>
          <a:prstGeom prst="rect">
            <a:avLst/>
          </a:prstGeom>
        </p:spPr>
        <p:txBody>
          <a:bodyPr lIns="0" tIns="0" rIns="0" bIns="0" rtlCol="0" anchor="t">
            <a:spAutoFit/>
          </a:bodyPr>
          <a:lstStyle/>
          <a:p>
            <a:pPr algn="just">
              <a:lnSpc>
                <a:spcPts val="3105"/>
              </a:lnSpc>
            </a:pPr>
            <a:r>
              <a:rPr lang="en-US" altLang="en-US" sz="2585" b="1">
                <a:solidFill>
                  <a:srgbClr val="000000"/>
                </a:solidFill>
                <a:latin typeface="Arial Bold" panose="020B0704020202020204"/>
                <a:ea typeface="Arial Bold" panose="020B0704020202020204"/>
                <a:cs typeface="Arial Bold" panose="020B0704020202020204"/>
                <a:sym typeface="Arial Bold" panose="020B0704020202020204"/>
              </a:rPr>
              <a:t>Funds allocated for buying relief items such as rice and canned goods</a:t>
            </a:r>
            <a:endParaRPr lang="en-US" altLang="en-US" sz="2585"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6" name="TextBox 16"/>
          <p:cNvSpPr txBox="1"/>
          <p:nvPr/>
        </p:nvSpPr>
        <p:spPr>
          <a:xfrm>
            <a:off x="2342493" y="1802340"/>
            <a:ext cx="13571563" cy="533400"/>
          </a:xfrm>
          <a:prstGeom prst="rect">
            <a:avLst/>
          </a:prstGeom>
        </p:spPr>
        <p:txBody>
          <a:bodyPr lIns="0" tIns="0" rIns="0" bIns="0" rtlCol="0" anchor="t">
            <a:spAutoFit/>
          </a:bodyPr>
          <a:lstStyle/>
          <a:p>
            <a:pPr algn="just">
              <a:lnSpc>
                <a:spcPts val="4075"/>
              </a:lnSpc>
              <a:spcBef>
                <a:spcPct val="0"/>
              </a:spcBef>
            </a:pPr>
            <a:r>
              <a:rPr lang="en-US" sz="3395" b="1">
                <a:solidFill>
                  <a:srgbClr val="FF3131"/>
                </a:solidFill>
                <a:latin typeface="Arial Bold" panose="020B0704020202020204"/>
                <a:ea typeface="Arial Bold" panose="020B0704020202020204"/>
                <a:cs typeface="Arial Bold" panose="020B0704020202020204"/>
                <a:sym typeface="Arial Bold" panose="020B0704020202020204"/>
              </a:rPr>
              <a:t>QUESTIONS                                           RESPONDENT </a:t>
            </a:r>
            <a:endParaRPr lang="en-US" sz="3395" b="1">
              <a:solidFill>
                <a:srgbClr val="FF3131"/>
              </a:solidFill>
              <a:latin typeface="Arial Bold" panose="020B0704020202020204"/>
              <a:ea typeface="Arial Bold" panose="020B0704020202020204"/>
              <a:cs typeface="Arial Bold" panose="020B0704020202020204"/>
              <a:sym typeface="Arial Bold" panose="020B0704020202020204"/>
            </a:endParaRPr>
          </a:p>
        </p:txBody>
      </p:sp>
      <p:sp>
        <p:nvSpPr>
          <p:cNvPr id="17" name="AutoShape 17"/>
          <p:cNvSpPr/>
          <p:nvPr/>
        </p:nvSpPr>
        <p:spPr>
          <a:xfrm flipV="1">
            <a:off x="810277" y="6318137"/>
            <a:ext cx="15614494" cy="53155"/>
          </a:xfrm>
          <a:prstGeom prst="line">
            <a:avLst/>
          </a:prstGeom>
          <a:ln w="142875" cap="rnd">
            <a:solidFill>
              <a:srgbClr val="000000"/>
            </a:solidFill>
            <a:prstDash val="solid"/>
            <a:headEnd type="none" w="sm" len="sm"/>
            <a:tailEnd type="none" w="sm" len="sm"/>
          </a:ln>
        </p:spPr>
      </p:sp>
      <p:sp>
        <p:nvSpPr>
          <p:cNvPr id="18" name="TextBox 18"/>
          <p:cNvSpPr txBox="1"/>
          <p:nvPr/>
        </p:nvSpPr>
        <p:spPr>
          <a:xfrm>
            <a:off x="6566843" y="6646206"/>
            <a:ext cx="9520875" cy="401955"/>
          </a:xfrm>
          <a:prstGeom prst="rect">
            <a:avLst/>
          </a:prstGeom>
        </p:spPr>
        <p:txBody>
          <a:bodyPr lIns="0" tIns="0" rIns="0" bIns="0" rtlCol="0" anchor="t">
            <a:spAutoFit/>
          </a:bodyPr>
          <a:lstStyle/>
          <a:p>
            <a:pPr algn="just">
              <a:lnSpc>
                <a:spcPts val="3135"/>
              </a:lnSpc>
              <a:spcBef>
                <a:spcPct val="0"/>
              </a:spcBef>
            </a:pPr>
            <a:r>
              <a:rPr lang="en-US" sz="2615" b="1">
                <a:solidFill>
                  <a:srgbClr val="000000"/>
                </a:solidFill>
                <a:latin typeface="Arial Bold" panose="020B0704020202020204"/>
                <a:ea typeface="Arial Bold" panose="020B0704020202020204"/>
                <a:cs typeface="Arial Bold" panose="020B0704020202020204"/>
                <a:sym typeface="Arial Bold" panose="020B0704020202020204"/>
              </a:rPr>
              <a:t>Flood</a:t>
            </a:r>
            <a:endParaRPr lang="en-US" sz="2615"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9" name="AutoShape 19"/>
          <p:cNvSpPr/>
          <p:nvPr/>
        </p:nvSpPr>
        <p:spPr>
          <a:xfrm flipV="1">
            <a:off x="1028457" y="8137117"/>
            <a:ext cx="15614494" cy="53155"/>
          </a:xfrm>
          <a:prstGeom prst="line">
            <a:avLst/>
          </a:prstGeom>
          <a:ln w="142875" cap="rnd">
            <a:solidFill>
              <a:srgbClr val="000000"/>
            </a:solidFill>
            <a:prstDash val="solid"/>
            <a:headEnd type="none" w="sm" len="sm"/>
            <a:tailEnd type="none" w="sm" len="sm"/>
          </a:ln>
        </p:spPr>
      </p:sp>
      <p:sp>
        <p:nvSpPr>
          <p:cNvPr id="20" name="TextBox 20"/>
          <p:cNvSpPr txBox="1"/>
          <p:nvPr/>
        </p:nvSpPr>
        <p:spPr>
          <a:xfrm>
            <a:off x="6698692" y="8642709"/>
            <a:ext cx="9469782" cy="398145"/>
          </a:xfrm>
          <a:prstGeom prst="rect">
            <a:avLst/>
          </a:prstGeom>
        </p:spPr>
        <p:txBody>
          <a:bodyPr lIns="0" tIns="0" rIns="0" bIns="0" rtlCol="0" anchor="t">
            <a:spAutoFit/>
          </a:bodyPr>
          <a:lstStyle/>
          <a:p>
            <a:pPr algn="just">
              <a:lnSpc>
                <a:spcPts val="3105"/>
              </a:lnSpc>
            </a:pPr>
            <a:r>
              <a:rPr lang="en-US" altLang="en-US" sz="2500" b="1">
                <a:solidFill>
                  <a:srgbClr val="000000"/>
                </a:solidFill>
                <a:latin typeface="Arial Bold" panose="020B0704020202020204"/>
                <a:ea typeface="Arial Bold" panose="020B0704020202020204"/>
                <a:cs typeface="Arial Bold" panose="020B0704020202020204"/>
                <a:sym typeface="Arial Bold" panose="020B0704020202020204"/>
              </a:rPr>
              <a:t>Rice, canned goods and basic needs</a:t>
            </a:r>
            <a:endParaRPr lang="en-US" sz="25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1" name="TextBox 21"/>
          <p:cNvSpPr txBox="1"/>
          <p:nvPr/>
        </p:nvSpPr>
        <p:spPr>
          <a:xfrm>
            <a:off x="1300192" y="8414109"/>
            <a:ext cx="4893675" cy="894080"/>
          </a:xfrm>
          <a:prstGeom prst="rect">
            <a:avLst/>
          </a:prstGeom>
        </p:spPr>
        <p:txBody>
          <a:bodyPr lIns="0" tIns="0" rIns="0" bIns="0" rtlCol="0" anchor="t">
            <a:spAutoFit/>
          </a:bodyPr>
          <a:lstStyle/>
          <a:p>
            <a:pPr algn="just">
              <a:lnSpc>
                <a:spcPts val="2325"/>
              </a:lnSpc>
              <a:spcBef>
                <a:spcPct val="0"/>
              </a:spcBef>
            </a:pPr>
            <a:r>
              <a:rPr lang="en-US" altLang="en-US" sz="2550" b="1">
                <a:solidFill>
                  <a:srgbClr val="000000"/>
                </a:solidFill>
                <a:latin typeface="Arial Bold" panose="020B0704020202020204"/>
                <a:ea typeface="Arial Bold" panose="020B0704020202020204"/>
                <a:cs typeface="Arial Bold" panose="020B0704020202020204"/>
                <a:sym typeface="Arial Bold" panose="020B0704020202020204"/>
              </a:rPr>
              <a:t>What types of essential items would you most likely donate or request?</a:t>
            </a:r>
            <a:endParaRPr lang="en-US" altLang="en-US" sz="255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2" name="TextBox 22"/>
          <p:cNvSpPr txBox="1"/>
          <p:nvPr/>
        </p:nvSpPr>
        <p:spPr>
          <a:xfrm>
            <a:off x="1372676" y="4789637"/>
            <a:ext cx="4868610" cy="800100"/>
          </a:xfrm>
          <a:prstGeom prst="rect">
            <a:avLst/>
          </a:prstGeom>
        </p:spPr>
        <p:txBody>
          <a:bodyPr lIns="0" tIns="0" rIns="0" bIns="0" rtlCol="0" anchor="t">
            <a:spAutoFit/>
          </a:bodyPr>
          <a:lstStyle/>
          <a:p>
            <a:pPr algn="just">
              <a:lnSpc>
                <a:spcPts val="3120"/>
              </a:lnSpc>
              <a:spcBef>
                <a:spcPct val="0"/>
              </a:spcBef>
            </a:pPr>
            <a:r>
              <a:rPr lang="en-US" altLang="en-US" sz="2600" b="1">
                <a:solidFill>
                  <a:srgbClr val="000000"/>
                </a:solidFill>
                <a:latin typeface="Arial Bold" panose="020B0704020202020204"/>
                <a:ea typeface="Arial Bold" panose="020B0704020202020204"/>
                <a:cs typeface="Arial Bold" panose="020B0704020202020204"/>
                <a:sym typeface="Arial Bold" panose="020B0704020202020204"/>
              </a:rPr>
              <a:t>What platform or method did you use?</a:t>
            </a:r>
            <a:endParaRPr lang="en-US" altLang="en-US" sz="26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3" name="TextBox 23"/>
          <p:cNvSpPr txBox="1"/>
          <p:nvPr/>
        </p:nvSpPr>
        <p:spPr>
          <a:xfrm>
            <a:off x="1253614" y="6482679"/>
            <a:ext cx="5073604" cy="784225"/>
          </a:xfrm>
          <a:prstGeom prst="rect">
            <a:avLst/>
          </a:prstGeom>
        </p:spPr>
        <p:txBody>
          <a:bodyPr lIns="0" tIns="0" rIns="0" bIns="0" rtlCol="0" anchor="t">
            <a:spAutoFit/>
          </a:bodyPr>
          <a:lstStyle/>
          <a:p>
            <a:pPr algn="just">
              <a:lnSpc>
                <a:spcPts val="3060"/>
              </a:lnSpc>
              <a:spcBef>
                <a:spcPct val="0"/>
              </a:spcBef>
            </a:pPr>
            <a:r>
              <a:rPr lang="en-US" altLang="en-US" sz="2550" b="1">
                <a:solidFill>
                  <a:srgbClr val="000000"/>
                </a:solidFill>
                <a:latin typeface="Arial Bold" panose="020B0704020202020204"/>
                <a:ea typeface="Arial Bold" panose="020B0704020202020204"/>
                <a:cs typeface="Arial Bold" panose="020B0704020202020204"/>
                <a:sym typeface="Arial Bold" panose="020B0704020202020204"/>
              </a:rPr>
              <a:t>What difficulties did you experience during the process?</a:t>
            </a:r>
            <a:endParaRPr lang="en-US" altLang="en-US" sz="255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4" name="TextBox 8"/>
          <p:cNvSpPr txBox="1"/>
          <p:nvPr/>
        </p:nvSpPr>
        <p:spPr>
          <a:xfrm>
            <a:off x="10896600" y="419100"/>
            <a:ext cx="7981950" cy="1200785"/>
          </a:xfrm>
          <a:prstGeom prst="rect">
            <a:avLst/>
          </a:prstGeom>
        </p:spPr>
        <p:txBody>
          <a:bodyPr wrap="square" lIns="0" tIns="0" rIns="0" bIns="0" rtlCol="0" anchor="t">
            <a:spAutoFit/>
          </a:bodyPr>
          <a:lstStyle/>
          <a:p>
            <a:pPr algn="ctr">
              <a:lnSpc>
                <a:spcPts val="9365"/>
              </a:lnSpc>
            </a:pPr>
            <a:r>
              <a:rPr lang="en-US" sz="3200" b="1">
                <a:solidFill>
                  <a:srgbClr val="FFFFFF"/>
                </a:solidFill>
                <a:latin typeface="Arial Bold" panose="020B0704020202020204"/>
                <a:ea typeface="Arial Bold" panose="020B0704020202020204"/>
                <a:cs typeface="Arial Bold" panose="020B0704020202020204"/>
                <a:sym typeface="Arial Bold" panose="020B0704020202020204"/>
              </a:rPr>
              <a:t>Trisha</a:t>
            </a:r>
            <a:endParaRPr lang="en-US" sz="320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4880969" y="6253153"/>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sp>
        <p:nvSpPr>
          <p:cNvPr id="8" name="Freeform 8"/>
          <p:cNvSpPr/>
          <p:nvPr/>
        </p:nvSpPr>
        <p:spPr>
          <a:xfrm>
            <a:off x="741814" y="1667090"/>
            <a:ext cx="17228075" cy="8376800"/>
          </a:xfrm>
          <a:custGeom>
            <a:avLst/>
            <a:gdLst/>
            <a:ahLst/>
            <a:cxnLst/>
            <a:rect l="l" t="t" r="r" b="b"/>
            <a:pathLst>
              <a:path w="17228075" h="8376800">
                <a:moveTo>
                  <a:pt x="0" y="0"/>
                </a:moveTo>
                <a:lnTo>
                  <a:pt x="17228075" y="0"/>
                </a:lnTo>
                <a:lnTo>
                  <a:pt x="17228075" y="8376800"/>
                </a:lnTo>
                <a:lnTo>
                  <a:pt x="0" y="8376800"/>
                </a:lnTo>
                <a:lnTo>
                  <a:pt x="0" y="0"/>
                </a:lnTo>
                <a:close/>
              </a:path>
            </a:pathLst>
          </a:custGeom>
          <a:blipFill>
            <a:blip r:embed="rId1"/>
            <a:stretch>
              <a:fillRect t="-55731" b="-52010"/>
            </a:stretch>
          </a:blipFill>
        </p:spPr>
      </p:sp>
      <p:sp>
        <p:nvSpPr>
          <p:cNvPr id="9" name="TextBox 9"/>
          <p:cNvSpPr txBox="1"/>
          <p:nvPr/>
        </p:nvSpPr>
        <p:spPr>
          <a:xfrm>
            <a:off x="2971800" y="287655"/>
            <a:ext cx="12496800" cy="1200785"/>
          </a:xfrm>
          <a:prstGeom prst="rect">
            <a:avLst/>
          </a:prstGeom>
        </p:spPr>
        <p:txBody>
          <a:bodyPr wrap="square"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END USER</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0" name="TextBox 10"/>
          <p:cNvSpPr txBox="1"/>
          <p:nvPr/>
        </p:nvSpPr>
        <p:spPr>
          <a:xfrm>
            <a:off x="1772964" y="1846412"/>
            <a:ext cx="11722189" cy="742950"/>
          </a:xfrm>
          <a:prstGeom prst="rect">
            <a:avLst/>
          </a:prstGeom>
        </p:spPr>
        <p:txBody>
          <a:bodyPr lIns="0" tIns="0" rIns="0" bIns="0" rtlCol="0" anchor="t">
            <a:spAutoFit/>
          </a:bodyPr>
          <a:lstStyle/>
          <a:p>
            <a:pPr algn="l">
              <a:lnSpc>
                <a:spcPts val="5765"/>
              </a:lnSpc>
            </a:pPr>
            <a:r>
              <a:rPr lang="en-US" sz="4805" b="1">
                <a:solidFill>
                  <a:srgbClr val="FFFFFF"/>
                </a:solidFill>
                <a:latin typeface="Arial Bold" panose="020B0704020202020204"/>
                <a:ea typeface="Arial Bold" panose="020B0704020202020204"/>
                <a:cs typeface="Arial Bold" panose="020B0704020202020204"/>
                <a:sym typeface="Arial Bold" panose="020B0704020202020204"/>
              </a:rPr>
              <a:t>What did you ask?</a:t>
            </a:r>
            <a:endParaRPr lang="en-US" sz="4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1" name="AutoShape 11"/>
          <p:cNvSpPr/>
          <p:nvPr/>
        </p:nvSpPr>
        <p:spPr>
          <a:xfrm flipH="1">
            <a:off x="6446280" y="1865462"/>
            <a:ext cx="0" cy="8178428"/>
          </a:xfrm>
          <a:prstGeom prst="line">
            <a:avLst/>
          </a:prstGeom>
          <a:ln w="142875" cap="rnd">
            <a:solidFill>
              <a:srgbClr val="000000"/>
            </a:solidFill>
            <a:prstDash val="solid"/>
            <a:headEnd type="none" w="sm" len="sm"/>
            <a:tailEnd type="none" w="sm" len="sm"/>
          </a:ln>
        </p:spPr>
      </p:sp>
      <p:sp>
        <p:nvSpPr>
          <p:cNvPr id="12" name="AutoShape 12"/>
          <p:cNvSpPr/>
          <p:nvPr/>
        </p:nvSpPr>
        <p:spPr>
          <a:xfrm flipV="1">
            <a:off x="1028700" y="4403874"/>
            <a:ext cx="15614494" cy="0"/>
          </a:xfrm>
          <a:prstGeom prst="line">
            <a:avLst/>
          </a:prstGeom>
          <a:ln w="142875" cap="rnd">
            <a:solidFill>
              <a:srgbClr val="000000"/>
            </a:solidFill>
            <a:prstDash val="solid"/>
            <a:headEnd type="none" w="sm" len="sm"/>
            <a:tailEnd type="none" w="sm" len="sm"/>
          </a:ln>
        </p:spPr>
      </p:sp>
      <p:sp>
        <p:nvSpPr>
          <p:cNvPr id="13" name="TextBox 13"/>
          <p:cNvSpPr txBox="1"/>
          <p:nvPr/>
        </p:nvSpPr>
        <p:spPr>
          <a:xfrm>
            <a:off x="1571252" y="2741124"/>
            <a:ext cx="4326491" cy="1200150"/>
          </a:xfrm>
          <a:prstGeom prst="rect">
            <a:avLst/>
          </a:prstGeom>
        </p:spPr>
        <p:txBody>
          <a:bodyPr lIns="0" tIns="0" rIns="0" bIns="0" rtlCol="0" anchor="t">
            <a:spAutoFit/>
          </a:bodyPr>
          <a:lstStyle/>
          <a:p>
            <a:pPr algn="just">
              <a:lnSpc>
                <a:spcPts val="3120"/>
              </a:lnSpc>
              <a:spcBef>
                <a:spcPct val="0"/>
              </a:spcBef>
            </a:pPr>
            <a:r>
              <a:rPr lang="en-US" altLang="en-US" sz="2600" b="1">
                <a:solidFill>
                  <a:srgbClr val="000000"/>
                </a:solidFill>
                <a:latin typeface="Arial Bold" panose="020B0704020202020204"/>
                <a:ea typeface="Arial Bold" panose="020B0704020202020204"/>
                <a:cs typeface="Arial Bold" panose="020B0704020202020204"/>
                <a:sym typeface="Arial Bold" panose="020B0704020202020204"/>
              </a:rPr>
              <a:t>What would encourage you to use an online donation and exchange platform?</a:t>
            </a:r>
            <a:endParaRPr lang="en-US" altLang="en-US" sz="26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4" name="TextBox 14"/>
          <p:cNvSpPr txBox="1"/>
          <p:nvPr/>
        </p:nvSpPr>
        <p:spPr>
          <a:xfrm>
            <a:off x="6840832" y="2903687"/>
            <a:ext cx="9697747" cy="398145"/>
          </a:xfrm>
          <a:prstGeom prst="rect">
            <a:avLst/>
          </a:prstGeom>
        </p:spPr>
        <p:txBody>
          <a:bodyPr lIns="0" tIns="0" rIns="0" bIns="0" rtlCol="0" anchor="t">
            <a:spAutoFit/>
          </a:bodyPr>
          <a:lstStyle/>
          <a:p>
            <a:pPr algn="just">
              <a:lnSpc>
                <a:spcPts val="3105"/>
              </a:lnSpc>
              <a:spcBef>
                <a:spcPct val="0"/>
              </a:spcBef>
            </a:pPr>
            <a:r>
              <a:rPr lang="en-US" sz="2585" b="1">
                <a:solidFill>
                  <a:srgbClr val="000000"/>
                </a:solidFill>
                <a:latin typeface="Arial Bold" panose="020B0704020202020204"/>
                <a:ea typeface="Arial Bold" panose="020B0704020202020204"/>
                <a:cs typeface="Arial Bold" panose="020B0704020202020204"/>
                <a:sym typeface="Arial Bold" panose="020B0704020202020204"/>
              </a:rPr>
              <a:t>None</a:t>
            </a:r>
            <a:endParaRPr lang="en-US" sz="2585"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5" name="TextBox 15"/>
          <p:cNvSpPr txBox="1"/>
          <p:nvPr/>
        </p:nvSpPr>
        <p:spPr>
          <a:xfrm>
            <a:off x="6840832" y="4951431"/>
            <a:ext cx="9697747" cy="796290"/>
          </a:xfrm>
          <a:prstGeom prst="rect">
            <a:avLst/>
          </a:prstGeom>
        </p:spPr>
        <p:txBody>
          <a:bodyPr lIns="0" tIns="0" rIns="0" bIns="0" rtlCol="0" anchor="t">
            <a:spAutoFit/>
          </a:bodyPr>
          <a:lstStyle/>
          <a:p>
            <a:pPr algn="just">
              <a:lnSpc>
                <a:spcPts val="3105"/>
              </a:lnSpc>
            </a:pPr>
            <a:r>
              <a:rPr lang="en-US" sz="2585" b="1">
                <a:solidFill>
                  <a:srgbClr val="000000"/>
                </a:solidFill>
                <a:latin typeface="Arial Bold" panose="020B0704020202020204"/>
                <a:ea typeface="Arial Bold" panose="020B0704020202020204"/>
                <a:cs typeface="Arial Bold" panose="020B0704020202020204"/>
                <a:sym typeface="Arial Bold" panose="020B0704020202020204"/>
              </a:rPr>
              <a:t>All features, except the browse and pick-up/meet-up. No to face to face.</a:t>
            </a:r>
            <a:endParaRPr lang="en-US" sz="2585"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6" name="TextBox 16"/>
          <p:cNvSpPr txBox="1"/>
          <p:nvPr/>
        </p:nvSpPr>
        <p:spPr>
          <a:xfrm>
            <a:off x="2342493" y="1802340"/>
            <a:ext cx="13571563" cy="533400"/>
          </a:xfrm>
          <a:prstGeom prst="rect">
            <a:avLst/>
          </a:prstGeom>
        </p:spPr>
        <p:txBody>
          <a:bodyPr lIns="0" tIns="0" rIns="0" bIns="0" rtlCol="0" anchor="t">
            <a:spAutoFit/>
          </a:bodyPr>
          <a:lstStyle/>
          <a:p>
            <a:pPr algn="just">
              <a:lnSpc>
                <a:spcPts val="4075"/>
              </a:lnSpc>
              <a:spcBef>
                <a:spcPct val="0"/>
              </a:spcBef>
            </a:pPr>
            <a:r>
              <a:rPr lang="en-US" sz="3395" b="1">
                <a:solidFill>
                  <a:srgbClr val="FF3131"/>
                </a:solidFill>
                <a:latin typeface="Arial Bold" panose="020B0704020202020204"/>
                <a:ea typeface="Arial Bold" panose="020B0704020202020204"/>
                <a:cs typeface="Arial Bold" panose="020B0704020202020204"/>
                <a:sym typeface="Arial Bold" panose="020B0704020202020204"/>
              </a:rPr>
              <a:t>QUESTIONS                                           RESPONDENT </a:t>
            </a:r>
            <a:endParaRPr lang="en-US" sz="3395" b="1">
              <a:solidFill>
                <a:srgbClr val="FF3131"/>
              </a:solidFill>
              <a:latin typeface="Arial Bold" panose="020B0704020202020204"/>
              <a:ea typeface="Arial Bold" panose="020B0704020202020204"/>
              <a:cs typeface="Arial Bold" panose="020B0704020202020204"/>
              <a:sym typeface="Arial Bold" panose="020B0704020202020204"/>
            </a:endParaRPr>
          </a:p>
        </p:txBody>
      </p:sp>
      <p:sp>
        <p:nvSpPr>
          <p:cNvPr id="17" name="AutoShape 17"/>
          <p:cNvSpPr/>
          <p:nvPr/>
        </p:nvSpPr>
        <p:spPr>
          <a:xfrm flipV="1">
            <a:off x="810277" y="6318137"/>
            <a:ext cx="15614494" cy="53155"/>
          </a:xfrm>
          <a:prstGeom prst="line">
            <a:avLst/>
          </a:prstGeom>
          <a:ln w="142875" cap="rnd">
            <a:solidFill>
              <a:srgbClr val="000000"/>
            </a:solidFill>
            <a:prstDash val="solid"/>
            <a:headEnd type="none" w="sm" len="sm"/>
            <a:tailEnd type="none" w="sm" len="sm"/>
          </a:ln>
        </p:spPr>
      </p:sp>
      <p:sp>
        <p:nvSpPr>
          <p:cNvPr id="18" name="TextBox 18"/>
          <p:cNvSpPr txBox="1"/>
          <p:nvPr/>
        </p:nvSpPr>
        <p:spPr>
          <a:xfrm>
            <a:off x="6566843" y="6646206"/>
            <a:ext cx="9520875" cy="401955"/>
          </a:xfrm>
          <a:prstGeom prst="rect">
            <a:avLst/>
          </a:prstGeom>
        </p:spPr>
        <p:txBody>
          <a:bodyPr lIns="0" tIns="0" rIns="0" bIns="0" rtlCol="0" anchor="t">
            <a:spAutoFit/>
          </a:bodyPr>
          <a:lstStyle/>
          <a:p>
            <a:pPr algn="just">
              <a:lnSpc>
                <a:spcPts val="3135"/>
              </a:lnSpc>
              <a:spcBef>
                <a:spcPct val="0"/>
              </a:spcBef>
            </a:pPr>
            <a:r>
              <a:rPr lang="en-US" sz="2615" b="1">
                <a:solidFill>
                  <a:srgbClr val="000000"/>
                </a:solidFill>
                <a:latin typeface="Arial Bold" panose="020B0704020202020204"/>
                <a:ea typeface="Arial Bold" panose="020B0704020202020204"/>
                <a:cs typeface="Arial Bold" panose="020B0704020202020204"/>
                <a:sym typeface="Arial Bold" panose="020B0704020202020204"/>
              </a:rPr>
              <a:t>Basic need, Yero, and Clothing</a:t>
            </a:r>
            <a:endParaRPr lang="en-US" sz="2615"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9" name="AutoShape 19"/>
          <p:cNvSpPr/>
          <p:nvPr/>
        </p:nvSpPr>
        <p:spPr>
          <a:xfrm flipV="1">
            <a:off x="1028457" y="8137117"/>
            <a:ext cx="15614494" cy="53155"/>
          </a:xfrm>
          <a:prstGeom prst="line">
            <a:avLst/>
          </a:prstGeom>
          <a:ln w="142875" cap="rnd">
            <a:solidFill>
              <a:srgbClr val="000000"/>
            </a:solidFill>
            <a:prstDash val="solid"/>
            <a:headEnd type="none" w="sm" len="sm"/>
            <a:tailEnd type="none" w="sm" len="sm"/>
          </a:ln>
        </p:spPr>
      </p:sp>
      <p:sp>
        <p:nvSpPr>
          <p:cNvPr id="20" name="TextBox 20"/>
          <p:cNvSpPr txBox="1"/>
          <p:nvPr/>
        </p:nvSpPr>
        <p:spPr>
          <a:xfrm>
            <a:off x="6698692" y="8642709"/>
            <a:ext cx="9469782" cy="384175"/>
          </a:xfrm>
          <a:prstGeom prst="rect">
            <a:avLst/>
          </a:prstGeom>
        </p:spPr>
        <p:txBody>
          <a:bodyPr lIns="0" tIns="0" rIns="0" bIns="0" rtlCol="0" anchor="t">
            <a:spAutoFit/>
          </a:bodyPr>
          <a:lstStyle/>
          <a:p>
            <a:pPr algn="just">
              <a:lnSpc>
                <a:spcPts val="3000"/>
              </a:lnSpc>
              <a:spcBef>
                <a:spcPct val="0"/>
              </a:spcBef>
            </a:pPr>
            <a:r>
              <a:rPr lang="en-US" sz="2500" b="1">
                <a:solidFill>
                  <a:srgbClr val="000000"/>
                </a:solidFill>
                <a:latin typeface="Arial Bold" panose="020B0704020202020204"/>
                <a:ea typeface="Arial Bold" panose="020B0704020202020204"/>
                <a:cs typeface="Arial Bold" panose="020B0704020202020204"/>
                <a:sym typeface="Arial Bold" panose="020B0704020202020204"/>
              </a:rPr>
              <a:t>Most likely</a:t>
            </a:r>
            <a:endParaRPr lang="en-US" sz="25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1" name="TextBox 21"/>
          <p:cNvSpPr txBox="1"/>
          <p:nvPr/>
        </p:nvSpPr>
        <p:spPr>
          <a:xfrm>
            <a:off x="1300192" y="8414109"/>
            <a:ext cx="4893675" cy="894080"/>
          </a:xfrm>
          <a:prstGeom prst="rect">
            <a:avLst/>
          </a:prstGeom>
        </p:spPr>
        <p:txBody>
          <a:bodyPr lIns="0" tIns="0" rIns="0" bIns="0" rtlCol="0" anchor="t">
            <a:spAutoFit/>
          </a:bodyPr>
          <a:lstStyle/>
          <a:p>
            <a:pPr algn="just">
              <a:lnSpc>
                <a:spcPts val="2325"/>
              </a:lnSpc>
              <a:spcBef>
                <a:spcPct val="0"/>
              </a:spcBef>
            </a:pPr>
            <a:r>
              <a:rPr lang="en-US" sz="1935" b="1">
                <a:solidFill>
                  <a:srgbClr val="000000"/>
                </a:solidFill>
                <a:latin typeface="Arial Bold" panose="020B0704020202020204"/>
                <a:ea typeface="Arial Bold" panose="020B0704020202020204"/>
                <a:cs typeface="Arial Bold" panose="020B0704020202020204"/>
                <a:sym typeface="Arial Bold" panose="020B0704020202020204"/>
              </a:rPr>
              <a:t>How would you like the Chat System to support communication and negotiation between users?</a:t>
            </a:r>
            <a:endParaRPr lang="en-US" sz="1935"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2" name="TextBox 22"/>
          <p:cNvSpPr txBox="1"/>
          <p:nvPr/>
        </p:nvSpPr>
        <p:spPr>
          <a:xfrm>
            <a:off x="1372676" y="4789637"/>
            <a:ext cx="4868610" cy="800100"/>
          </a:xfrm>
          <a:prstGeom prst="rect">
            <a:avLst/>
          </a:prstGeom>
        </p:spPr>
        <p:txBody>
          <a:bodyPr lIns="0" tIns="0" rIns="0" bIns="0" rtlCol="0" anchor="t">
            <a:spAutoFit/>
          </a:bodyPr>
          <a:lstStyle/>
          <a:p>
            <a:pPr algn="just">
              <a:lnSpc>
                <a:spcPts val="3120"/>
              </a:lnSpc>
              <a:spcBef>
                <a:spcPct val="0"/>
              </a:spcBef>
            </a:pPr>
            <a:r>
              <a:rPr lang="en-US" sz="2600" b="1">
                <a:solidFill>
                  <a:srgbClr val="000000"/>
                </a:solidFill>
                <a:latin typeface="Arial Bold" panose="020B0704020202020204"/>
                <a:ea typeface="Arial Bold" panose="020B0704020202020204"/>
                <a:cs typeface="Arial Bold" panose="020B0704020202020204"/>
                <a:sym typeface="Arial Bold" panose="020B0704020202020204"/>
              </a:rPr>
              <a:t>Which</a:t>
            </a:r>
            <a:r>
              <a:rPr lang="en-US" sz="2600" b="1">
                <a:solidFill>
                  <a:srgbClr val="000000"/>
                </a:solidFill>
                <a:latin typeface="Arial Bold" panose="020B0704020202020204"/>
                <a:ea typeface="Arial Bold" panose="020B0704020202020204"/>
                <a:cs typeface="Arial Bold" panose="020B0704020202020204"/>
                <a:sym typeface="Arial Bold" panose="020B0704020202020204"/>
              </a:rPr>
              <a:t> features would be most useful? Explain why.</a:t>
            </a:r>
            <a:endParaRPr lang="en-US" sz="26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3" name="TextBox 23"/>
          <p:cNvSpPr txBox="1"/>
          <p:nvPr/>
        </p:nvSpPr>
        <p:spPr>
          <a:xfrm>
            <a:off x="1253614" y="6482679"/>
            <a:ext cx="5073604" cy="784225"/>
          </a:xfrm>
          <a:prstGeom prst="rect">
            <a:avLst/>
          </a:prstGeom>
        </p:spPr>
        <p:txBody>
          <a:bodyPr lIns="0" tIns="0" rIns="0" bIns="0" rtlCol="0" anchor="t">
            <a:spAutoFit/>
          </a:bodyPr>
          <a:lstStyle/>
          <a:p>
            <a:pPr algn="just">
              <a:lnSpc>
                <a:spcPts val="3060"/>
              </a:lnSpc>
              <a:spcBef>
                <a:spcPct val="0"/>
              </a:spcBef>
            </a:pPr>
            <a:r>
              <a:rPr lang="en-US" sz="2550" b="1">
                <a:solidFill>
                  <a:srgbClr val="000000"/>
                </a:solidFill>
                <a:latin typeface="Arial Bold" panose="020B0704020202020204"/>
                <a:ea typeface="Arial Bold" panose="020B0704020202020204"/>
                <a:cs typeface="Arial Bold" panose="020B0704020202020204"/>
                <a:sym typeface="Arial Bold" panose="020B0704020202020204"/>
              </a:rPr>
              <a:t>What details</a:t>
            </a:r>
            <a:r>
              <a:rPr lang="en-US" sz="2550" b="1">
                <a:solidFill>
                  <a:srgbClr val="000000"/>
                </a:solidFill>
                <a:latin typeface="Arial Bold" panose="020B0704020202020204"/>
                <a:ea typeface="Arial Bold" panose="020B0704020202020204"/>
                <a:cs typeface="Arial Bold" panose="020B0704020202020204"/>
                <a:sym typeface="Arial Bold" panose="020B0704020202020204"/>
              </a:rPr>
              <a:t> should be included in an item posting.</a:t>
            </a:r>
            <a:endParaRPr lang="en-US" sz="255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24" name="TextBox 8"/>
          <p:cNvSpPr txBox="1"/>
          <p:nvPr/>
        </p:nvSpPr>
        <p:spPr>
          <a:xfrm>
            <a:off x="10896600" y="419100"/>
            <a:ext cx="7981950" cy="1200785"/>
          </a:xfrm>
          <a:prstGeom prst="rect">
            <a:avLst/>
          </a:prstGeom>
        </p:spPr>
        <p:txBody>
          <a:bodyPr wrap="square" lIns="0" tIns="0" rIns="0" bIns="0" rtlCol="0" anchor="t">
            <a:spAutoFit/>
          </a:bodyPr>
          <a:lstStyle/>
          <a:p>
            <a:pPr algn="ctr">
              <a:lnSpc>
                <a:spcPts val="9365"/>
              </a:lnSpc>
            </a:pPr>
            <a:r>
              <a:rPr lang="en-US" sz="3200" b="1">
                <a:solidFill>
                  <a:srgbClr val="FFFFFF"/>
                </a:solidFill>
                <a:latin typeface="Arial Bold" panose="020B0704020202020204"/>
                <a:ea typeface="Arial Bold" panose="020B0704020202020204"/>
                <a:cs typeface="Arial Bold" panose="020B0704020202020204"/>
                <a:sym typeface="Arial Bold" panose="020B0704020202020204"/>
              </a:rPr>
              <a:t>Trisha</a:t>
            </a:r>
            <a:endParaRPr lang="en-US" sz="320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0">
            <a:off x="-686333" y="-686333"/>
            <a:ext cx="4118019" cy="4118019"/>
            <a:chOff x="0" y="0"/>
            <a:chExt cx="5490693" cy="5490693"/>
          </a:xfrm>
        </p:grpSpPr>
        <p:sp>
          <p:nvSpPr>
            <p:cNvPr id="3" name="Freeform 3"/>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38BDF8"/>
            </a:solidFill>
          </p:spPr>
        </p:sp>
      </p:grpSp>
      <p:grpSp>
        <p:nvGrpSpPr>
          <p:cNvPr id="4" name="Group 4"/>
          <p:cNvGrpSpPr/>
          <p:nvPr/>
        </p:nvGrpSpPr>
        <p:grpSpPr>
          <a:xfrm rot="0">
            <a:off x="-686333" y="-686333"/>
            <a:ext cx="4118019" cy="4118019"/>
            <a:chOff x="0" y="0"/>
            <a:chExt cx="5490693" cy="5490693"/>
          </a:xfrm>
        </p:grpSpPr>
        <p:sp>
          <p:nvSpPr>
            <p:cNvPr id="5" name="Freeform 5"/>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42E52"/>
            </a:solidFill>
          </p:spPr>
        </p:sp>
      </p:grpSp>
      <p:grpSp>
        <p:nvGrpSpPr>
          <p:cNvPr id="6" name="Group 6"/>
          <p:cNvGrpSpPr/>
          <p:nvPr/>
        </p:nvGrpSpPr>
        <p:grpSpPr>
          <a:xfrm rot="0">
            <a:off x="15099392" y="7549696"/>
            <a:ext cx="4118019" cy="4118019"/>
            <a:chOff x="0" y="0"/>
            <a:chExt cx="5490693" cy="5490693"/>
          </a:xfrm>
        </p:grpSpPr>
        <p:sp>
          <p:nvSpPr>
            <p:cNvPr id="7" name="Freeform 7"/>
            <p:cNvSpPr/>
            <p:nvPr/>
          </p:nvSpPr>
          <p:spPr>
            <a:xfrm>
              <a:off x="0" y="0"/>
              <a:ext cx="5490718" cy="5490718"/>
            </a:xfrm>
            <a:custGeom>
              <a:avLst/>
              <a:gdLst/>
              <a:ahLst/>
              <a:cxnLst/>
              <a:rect l="l" t="t" r="r" b="b"/>
              <a:pathLst>
                <a:path w="5490718" h="5490718">
                  <a:moveTo>
                    <a:pt x="0" y="2745359"/>
                  </a:moveTo>
                  <a:cubicBezTo>
                    <a:pt x="0" y="1229106"/>
                    <a:pt x="1229106" y="0"/>
                    <a:pt x="2745359" y="0"/>
                  </a:cubicBezTo>
                  <a:cubicBezTo>
                    <a:pt x="4261612" y="0"/>
                    <a:pt x="5490718" y="1229106"/>
                    <a:pt x="5490718" y="2745359"/>
                  </a:cubicBezTo>
                  <a:cubicBezTo>
                    <a:pt x="5490718" y="4261612"/>
                    <a:pt x="4261612" y="5490718"/>
                    <a:pt x="2745359" y="5490718"/>
                  </a:cubicBezTo>
                  <a:cubicBezTo>
                    <a:pt x="1229106" y="5490718"/>
                    <a:pt x="0" y="4261612"/>
                    <a:pt x="0" y="2745359"/>
                  </a:cubicBezTo>
                  <a:close/>
                </a:path>
              </a:pathLst>
            </a:custGeom>
            <a:solidFill>
              <a:srgbClr val="1A2648"/>
            </a:solidFill>
          </p:spPr>
        </p:sp>
      </p:grpSp>
      <p:sp>
        <p:nvSpPr>
          <p:cNvPr id="8" name="Freeform 8"/>
          <p:cNvSpPr/>
          <p:nvPr/>
        </p:nvSpPr>
        <p:spPr>
          <a:xfrm>
            <a:off x="741814" y="1667090"/>
            <a:ext cx="17228075" cy="8376800"/>
          </a:xfrm>
          <a:custGeom>
            <a:avLst/>
            <a:gdLst/>
            <a:ahLst/>
            <a:cxnLst/>
            <a:rect l="l" t="t" r="r" b="b"/>
            <a:pathLst>
              <a:path w="17228075" h="8376800">
                <a:moveTo>
                  <a:pt x="0" y="0"/>
                </a:moveTo>
                <a:lnTo>
                  <a:pt x="17228075" y="0"/>
                </a:lnTo>
                <a:lnTo>
                  <a:pt x="17228075" y="8376800"/>
                </a:lnTo>
                <a:lnTo>
                  <a:pt x="0" y="8376800"/>
                </a:lnTo>
                <a:lnTo>
                  <a:pt x="0" y="0"/>
                </a:lnTo>
                <a:close/>
              </a:path>
            </a:pathLst>
          </a:custGeom>
          <a:blipFill>
            <a:blip r:embed="rId1"/>
            <a:stretch>
              <a:fillRect t="-55731" b="-52010"/>
            </a:stretch>
          </a:blipFill>
        </p:spPr>
      </p:sp>
      <p:sp>
        <p:nvSpPr>
          <p:cNvPr id="9" name="TextBox 9"/>
          <p:cNvSpPr txBox="1"/>
          <p:nvPr/>
        </p:nvSpPr>
        <p:spPr>
          <a:xfrm>
            <a:off x="3886200" y="270510"/>
            <a:ext cx="10557510" cy="1200785"/>
          </a:xfrm>
          <a:prstGeom prst="rect">
            <a:avLst/>
          </a:prstGeom>
        </p:spPr>
        <p:txBody>
          <a:bodyPr wrap="square" lIns="0" tIns="0" rIns="0" bIns="0" rtlCol="0" anchor="t">
            <a:spAutoFit/>
          </a:bodyPr>
          <a:lstStyle/>
          <a:p>
            <a:pPr algn="ctr">
              <a:lnSpc>
                <a:spcPts val="9365"/>
              </a:lnSpc>
            </a:pPr>
            <a:r>
              <a:rPr lang="en-US" sz="7805" b="1">
                <a:solidFill>
                  <a:srgbClr val="FFFFFF"/>
                </a:solidFill>
                <a:latin typeface="Arial Bold" panose="020B0704020202020204"/>
                <a:ea typeface="Arial Bold" panose="020B0704020202020204"/>
                <a:cs typeface="Arial Bold" panose="020B0704020202020204"/>
                <a:sym typeface="Arial Bold" panose="020B0704020202020204"/>
              </a:rPr>
              <a:t>END USER</a:t>
            </a:r>
            <a:endParaRPr lang="en-US" sz="7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0" name="TextBox 10"/>
          <p:cNvSpPr txBox="1"/>
          <p:nvPr/>
        </p:nvSpPr>
        <p:spPr>
          <a:xfrm>
            <a:off x="1772964" y="1846412"/>
            <a:ext cx="11722189" cy="742950"/>
          </a:xfrm>
          <a:prstGeom prst="rect">
            <a:avLst/>
          </a:prstGeom>
        </p:spPr>
        <p:txBody>
          <a:bodyPr lIns="0" tIns="0" rIns="0" bIns="0" rtlCol="0" anchor="t">
            <a:spAutoFit/>
          </a:bodyPr>
          <a:lstStyle/>
          <a:p>
            <a:pPr algn="l">
              <a:lnSpc>
                <a:spcPts val="5765"/>
              </a:lnSpc>
            </a:pPr>
            <a:r>
              <a:rPr lang="en-US" sz="4805" b="1">
                <a:solidFill>
                  <a:srgbClr val="FFFFFF"/>
                </a:solidFill>
                <a:latin typeface="Arial Bold" panose="020B0704020202020204"/>
                <a:ea typeface="Arial Bold" panose="020B0704020202020204"/>
                <a:cs typeface="Arial Bold" panose="020B0704020202020204"/>
                <a:sym typeface="Arial Bold" panose="020B0704020202020204"/>
              </a:rPr>
              <a:t>What did you ask?</a:t>
            </a:r>
            <a:endParaRPr lang="en-US" sz="4805" b="1">
              <a:solidFill>
                <a:srgbClr val="FFFFFF"/>
              </a:solidFill>
              <a:latin typeface="Arial Bold" panose="020B0704020202020204"/>
              <a:ea typeface="Arial Bold" panose="020B0704020202020204"/>
              <a:cs typeface="Arial Bold" panose="020B0704020202020204"/>
              <a:sym typeface="Arial Bold" panose="020B0704020202020204"/>
            </a:endParaRPr>
          </a:p>
        </p:txBody>
      </p:sp>
      <p:sp>
        <p:nvSpPr>
          <p:cNvPr id="11" name="AutoShape 11"/>
          <p:cNvSpPr/>
          <p:nvPr/>
        </p:nvSpPr>
        <p:spPr>
          <a:xfrm flipH="1">
            <a:off x="6446280" y="1865462"/>
            <a:ext cx="0" cy="8178428"/>
          </a:xfrm>
          <a:prstGeom prst="line">
            <a:avLst/>
          </a:prstGeom>
          <a:ln w="142875" cap="rnd">
            <a:solidFill>
              <a:srgbClr val="000000"/>
            </a:solidFill>
            <a:prstDash val="solid"/>
            <a:headEnd type="none" w="sm" len="sm"/>
            <a:tailEnd type="none" w="sm" len="sm"/>
          </a:ln>
        </p:spPr>
      </p:sp>
      <p:sp>
        <p:nvSpPr>
          <p:cNvPr id="12" name="AutoShape 12"/>
          <p:cNvSpPr/>
          <p:nvPr/>
        </p:nvSpPr>
        <p:spPr>
          <a:xfrm>
            <a:off x="741814" y="6386722"/>
            <a:ext cx="15614494" cy="0"/>
          </a:xfrm>
          <a:prstGeom prst="line">
            <a:avLst/>
          </a:prstGeom>
          <a:ln w="142875" cap="rnd">
            <a:solidFill>
              <a:srgbClr val="000000"/>
            </a:solidFill>
            <a:prstDash val="solid"/>
            <a:headEnd type="none" w="sm" len="sm"/>
            <a:tailEnd type="none" w="sm" len="sm"/>
          </a:ln>
        </p:spPr>
      </p:sp>
      <p:sp>
        <p:nvSpPr>
          <p:cNvPr id="13" name="TextBox 13"/>
          <p:cNvSpPr txBox="1"/>
          <p:nvPr/>
        </p:nvSpPr>
        <p:spPr>
          <a:xfrm>
            <a:off x="1577670" y="2648160"/>
            <a:ext cx="4326491" cy="2077085"/>
          </a:xfrm>
          <a:prstGeom prst="rect">
            <a:avLst/>
          </a:prstGeom>
        </p:spPr>
        <p:txBody>
          <a:bodyPr lIns="0" tIns="0" rIns="0" bIns="0" rtlCol="0" anchor="t">
            <a:spAutoFit/>
          </a:bodyPr>
          <a:lstStyle/>
          <a:p>
            <a:pPr algn="just">
              <a:lnSpc>
                <a:spcPts val="3240"/>
              </a:lnSpc>
            </a:pPr>
          </a:p>
          <a:p>
            <a:pPr algn="just">
              <a:lnSpc>
                <a:spcPts val="3240"/>
              </a:lnSpc>
              <a:spcBef>
                <a:spcPct val="0"/>
              </a:spcBef>
            </a:pP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How would you prefer to </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s</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earch for</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 </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items</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 (</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e.g., category, l</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ocation, condit</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ion,</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 avai</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l</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abili</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ty)</a:t>
            </a:r>
            <a:r>
              <a:rPr lang="en-US" sz="2700" b="1">
                <a:solidFill>
                  <a:srgbClr val="000000"/>
                </a:solidFill>
                <a:latin typeface="Arial Bold" panose="020B0704020202020204"/>
                <a:ea typeface="Arial Bold" panose="020B0704020202020204"/>
                <a:cs typeface="Arial Bold" panose="020B0704020202020204"/>
                <a:sym typeface="Arial Bold" panose="020B0704020202020204"/>
              </a:rPr>
              <a:t>?</a:t>
            </a:r>
            <a:endParaRPr lang="en-US" sz="27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4" name="TextBox 14"/>
          <p:cNvSpPr txBox="1"/>
          <p:nvPr/>
        </p:nvSpPr>
        <p:spPr>
          <a:xfrm>
            <a:off x="6840832" y="3412636"/>
            <a:ext cx="9697747" cy="428625"/>
          </a:xfrm>
          <a:prstGeom prst="rect">
            <a:avLst/>
          </a:prstGeom>
        </p:spPr>
        <p:txBody>
          <a:bodyPr lIns="0" tIns="0" rIns="0" bIns="0" rtlCol="0" anchor="t">
            <a:spAutoFit/>
          </a:bodyPr>
          <a:lstStyle/>
          <a:p>
            <a:pPr algn="just">
              <a:lnSpc>
                <a:spcPts val="3345"/>
              </a:lnSpc>
              <a:spcBef>
                <a:spcPct val="0"/>
              </a:spcBef>
            </a:pPr>
            <a:r>
              <a:rPr lang="en-US" sz="2785" b="1">
                <a:solidFill>
                  <a:srgbClr val="000000"/>
                </a:solidFill>
                <a:latin typeface="Arial Bold" panose="020B0704020202020204"/>
                <a:ea typeface="Arial Bold" panose="020B0704020202020204"/>
                <a:cs typeface="Arial Bold" panose="020B0704020202020204"/>
                <a:sym typeface="Arial Bold" panose="020B0704020202020204"/>
              </a:rPr>
              <a:t>c</a:t>
            </a:r>
            <a:r>
              <a:rPr lang="en-US" sz="2785" b="1">
                <a:solidFill>
                  <a:srgbClr val="000000"/>
                </a:solidFill>
                <a:latin typeface="Arial Bold" panose="020B0704020202020204"/>
                <a:ea typeface="Arial Bold" panose="020B0704020202020204"/>
                <a:cs typeface="Arial Bold" panose="020B0704020202020204"/>
                <a:sym typeface="Arial Bold" panose="020B0704020202020204"/>
              </a:rPr>
              <a:t>ategory, location, condition and status</a:t>
            </a:r>
            <a:endParaRPr lang="en-US" sz="2785"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5" name="TextBox 15"/>
          <p:cNvSpPr txBox="1"/>
          <p:nvPr/>
        </p:nvSpPr>
        <p:spPr>
          <a:xfrm>
            <a:off x="1306610" y="6844846"/>
            <a:ext cx="4868610" cy="1276350"/>
          </a:xfrm>
          <a:prstGeom prst="rect">
            <a:avLst/>
          </a:prstGeom>
        </p:spPr>
        <p:txBody>
          <a:bodyPr lIns="0" tIns="0" rIns="0" bIns="0" rtlCol="0" anchor="t">
            <a:spAutoFit/>
          </a:bodyPr>
          <a:lstStyle/>
          <a:p>
            <a:pPr algn="just">
              <a:lnSpc>
                <a:spcPts val="3360"/>
              </a:lnSpc>
              <a:spcBef>
                <a:spcPct val="0"/>
              </a:spcBef>
            </a:pP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What add</a:t>
            </a:r>
            <a:r>
              <a:rPr lang="en-US" sz="2800" b="1">
                <a:solidFill>
                  <a:srgbClr val="000000"/>
                </a:solidFill>
                <a:latin typeface="Arial Bold" panose="020B0704020202020204"/>
                <a:ea typeface="Arial Bold" panose="020B0704020202020204"/>
                <a:cs typeface="Arial Bold" panose="020B0704020202020204"/>
                <a:sym typeface="Arial Bold" panose="020B0704020202020204"/>
              </a:rPr>
              <a:t>itional features would improve your experience?</a:t>
            </a:r>
            <a:endParaRPr lang="en-US" sz="2800"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6" name="TextBox 16"/>
          <p:cNvSpPr txBox="1"/>
          <p:nvPr/>
        </p:nvSpPr>
        <p:spPr>
          <a:xfrm>
            <a:off x="7220783" y="6844846"/>
            <a:ext cx="9697747" cy="398145"/>
          </a:xfrm>
          <a:prstGeom prst="rect">
            <a:avLst/>
          </a:prstGeom>
        </p:spPr>
        <p:txBody>
          <a:bodyPr lIns="0" tIns="0" rIns="0" bIns="0" rtlCol="0" anchor="t">
            <a:spAutoFit/>
          </a:bodyPr>
          <a:lstStyle/>
          <a:p>
            <a:pPr algn="just">
              <a:lnSpc>
                <a:spcPts val="3105"/>
              </a:lnSpc>
              <a:spcBef>
                <a:spcPct val="0"/>
              </a:spcBef>
            </a:pPr>
            <a:r>
              <a:rPr lang="en-US" sz="2585" b="1">
                <a:solidFill>
                  <a:srgbClr val="000000"/>
                </a:solidFill>
                <a:latin typeface="Arial Bold" panose="020B0704020202020204"/>
                <a:ea typeface="Arial Bold" panose="020B0704020202020204"/>
                <a:cs typeface="Arial Bold" panose="020B0704020202020204"/>
                <a:sym typeface="Arial Bold" panose="020B0704020202020204"/>
              </a:rPr>
              <a:t>Request verification of situation(picture, video).</a:t>
            </a:r>
            <a:endParaRPr lang="en-US" sz="2585" b="1">
              <a:solidFill>
                <a:srgbClr val="000000"/>
              </a:solidFill>
              <a:latin typeface="Arial Bold" panose="020B0704020202020204"/>
              <a:ea typeface="Arial Bold" panose="020B0704020202020204"/>
              <a:cs typeface="Arial Bold" panose="020B0704020202020204"/>
              <a:sym typeface="Arial Bold" panose="020B0704020202020204"/>
            </a:endParaRPr>
          </a:p>
        </p:txBody>
      </p:sp>
      <p:sp>
        <p:nvSpPr>
          <p:cNvPr id="17" name="TextBox 17"/>
          <p:cNvSpPr txBox="1"/>
          <p:nvPr/>
        </p:nvSpPr>
        <p:spPr>
          <a:xfrm>
            <a:off x="2342493" y="1802340"/>
            <a:ext cx="13571563" cy="533400"/>
          </a:xfrm>
          <a:prstGeom prst="rect">
            <a:avLst/>
          </a:prstGeom>
        </p:spPr>
        <p:txBody>
          <a:bodyPr lIns="0" tIns="0" rIns="0" bIns="0" rtlCol="0" anchor="t">
            <a:spAutoFit/>
          </a:bodyPr>
          <a:lstStyle/>
          <a:p>
            <a:pPr algn="just">
              <a:lnSpc>
                <a:spcPts val="4075"/>
              </a:lnSpc>
              <a:spcBef>
                <a:spcPct val="0"/>
              </a:spcBef>
            </a:pPr>
            <a:r>
              <a:rPr lang="en-US" sz="3395" b="1">
                <a:solidFill>
                  <a:srgbClr val="FF3131"/>
                </a:solidFill>
                <a:latin typeface="Arial Bold" panose="020B0704020202020204"/>
                <a:ea typeface="Arial Bold" panose="020B0704020202020204"/>
                <a:cs typeface="Arial Bold" panose="020B0704020202020204"/>
                <a:sym typeface="Arial Bold" panose="020B0704020202020204"/>
              </a:rPr>
              <a:t>QUESTIONS                                           ANSWERS</a:t>
            </a:r>
            <a:endParaRPr lang="en-US" sz="3395" b="1">
              <a:solidFill>
                <a:srgbClr val="FF3131"/>
              </a:solidFill>
              <a:latin typeface="Arial Bold" panose="020B0704020202020204"/>
              <a:ea typeface="Arial Bold" panose="020B0704020202020204"/>
              <a:cs typeface="Arial Bold" panose="020B0704020202020204"/>
              <a:sym typeface="Arial Bold" panose="020B0704020202020204"/>
            </a:endParaRPr>
          </a:p>
        </p:txBody>
      </p:sp>
      <p:sp>
        <p:nvSpPr>
          <p:cNvPr id="24" name="TextBox 8"/>
          <p:cNvSpPr txBox="1"/>
          <p:nvPr/>
        </p:nvSpPr>
        <p:spPr>
          <a:xfrm>
            <a:off x="10896600" y="419100"/>
            <a:ext cx="7981950" cy="1200785"/>
          </a:xfrm>
          <a:prstGeom prst="rect">
            <a:avLst/>
          </a:prstGeom>
        </p:spPr>
        <p:txBody>
          <a:bodyPr wrap="square" lIns="0" tIns="0" rIns="0" bIns="0" rtlCol="0" anchor="t">
            <a:spAutoFit/>
          </a:bodyPr>
          <a:lstStyle/>
          <a:p>
            <a:pPr algn="ctr">
              <a:lnSpc>
                <a:spcPts val="9365"/>
              </a:lnSpc>
            </a:pPr>
            <a:r>
              <a:rPr lang="en-US" sz="3200" b="1">
                <a:solidFill>
                  <a:srgbClr val="FFFFFF"/>
                </a:solidFill>
                <a:latin typeface="Arial Bold" panose="020B0704020202020204"/>
                <a:ea typeface="Arial Bold" panose="020B0704020202020204"/>
                <a:cs typeface="Arial Bold" panose="020B0704020202020204"/>
                <a:sym typeface="Arial Bold" panose="020B0704020202020204"/>
              </a:rPr>
              <a:t>Trisha</a:t>
            </a:r>
            <a:endParaRPr lang="en-US" sz="320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Freeform 2"/>
          <p:cNvSpPr/>
          <p:nvPr/>
        </p:nvSpPr>
        <p:spPr>
          <a:xfrm>
            <a:off x="389500" y="1068453"/>
            <a:ext cx="17200646" cy="8927365"/>
          </a:xfrm>
          <a:custGeom>
            <a:avLst/>
            <a:gdLst/>
            <a:ahLst/>
            <a:cxnLst/>
            <a:rect l="l" t="t" r="r" b="b"/>
            <a:pathLst>
              <a:path w="17200646" h="8927365">
                <a:moveTo>
                  <a:pt x="0" y="0"/>
                </a:moveTo>
                <a:lnTo>
                  <a:pt x="17200646" y="0"/>
                </a:lnTo>
                <a:lnTo>
                  <a:pt x="17200646" y="8927365"/>
                </a:lnTo>
                <a:lnTo>
                  <a:pt x="0" y="89273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5327113" y="-38100"/>
            <a:ext cx="7325420" cy="1219200"/>
          </a:xfrm>
          <a:prstGeom prst="rect">
            <a:avLst/>
          </a:prstGeom>
        </p:spPr>
        <p:txBody>
          <a:bodyPr lIns="0" tIns="0" rIns="0" bIns="0" rtlCol="0" anchor="t">
            <a:spAutoFit/>
          </a:bodyPr>
          <a:lstStyle/>
          <a:p>
            <a:pPr algn="ctr">
              <a:lnSpc>
                <a:spcPts val="9365"/>
              </a:lnSpc>
            </a:pPr>
            <a:r>
              <a:rPr lang="en-US" sz="7805" b="1">
                <a:gradFill>
                  <a:gsLst>
                    <a:gs pos="0">
                      <a:srgbClr val="FFF7AD">
                        <a:alpha val="100000"/>
                      </a:srgbClr>
                    </a:gs>
                    <a:gs pos="100000">
                      <a:srgbClr val="FFA9F9">
                        <a:alpha val="100000"/>
                      </a:srgbClr>
                    </a:gs>
                  </a:gsLst>
                  <a:lin ang="0"/>
                </a:gradFill>
                <a:latin typeface="Arial Bold" panose="020B0704020202020204"/>
                <a:ea typeface="Arial Bold" panose="020B0704020202020204"/>
                <a:cs typeface="Arial Bold" panose="020B0704020202020204"/>
                <a:sym typeface="Arial Bold" panose="020B0704020202020204"/>
              </a:rPr>
              <a:t>EMPATHY MAP</a:t>
            </a:r>
            <a:endParaRPr lang="en-US" sz="7805" b="1">
              <a:gradFill>
                <a:gsLst>
                  <a:gs pos="0">
                    <a:srgbClr val="FFF7AD">
                      <a:alpha val="100000"/>
                    </a:srgbClr>
                  </a:gs>
                  <a:gs pos="100000">
                    <a:srgbClr val="FFA9F9">
                      <a:alpha val="100000"/>
                    </a:srgbClr>
                  </a:gs>
                </a:gsLst>
                <a:lin ang="0"/>
              </a:gradFill>
              <a:latin typeface="Arial Bold" panose="020B0704020202020204"/>
              <a:ea typeface="Arial Bold" panose="020B0704020202020204"/>
              <a:cs typeface="Arial Bold" panose="020B0704020202020204"/>
              <a:sym typeface="Arial Bold" panose="020B0704020202020204"/>
            </a:endParaRPr>
          </a:p>
        </p:txBody>
      </p:sp>
      <p:sp>
        <p:nvSpPr>
          <p:cNvPr id="4" name="TextBox 4"/>
          <p:cNvSpPr txBox="1"/>
          <p:nvPr/>
        </p:nvSpPr>
        <p:spPr>
          <a:xfrm>
            <a:off x="1356049" y="2209800"/>
            <a:ext cx="7633774" cy="3324225"/>
          </a:xfrm>
          <a:prstGeom prst="rect">
            <a:avLst/>
          </a:prstGeom>
        </p:spPr>
        <p:txBody>
          <a:bodyPr lIns="0" tIns="0" rIns="0" bIns="0" rtlCol="0" anchor="t">
            <a:spAutoFit/>
          </a:bodyPr>
          <a:lstStyle/>
          <a:p>
            <a:pPr marL="951865" lvl="1" indent="-475615" algn="l">
              <a:lnSpc>
                <a:spcPts val="5290"/>
              </a:lnSpc>
              <a:buFont typeface="Arial" panose="020B0604020202020204"/>
              <a:buChar char="•"/>
            </a:pPr>
            <a:r>
              <a:rPr lang="en-US" sz="4410">
                <a:solidFill>
                  <a:srgbClr val="FFFFFF"/>
                </a:solidFill>
                <a:latin typeface="Roca One" panose="00000500000000000000"/>
                <a:ea typeface="Roca One" panose="00000500000000000000"/>
                <a:cs typeface="Roca One" panose="00000500000000000000"/>
                <a:sym typeface="Roca One" panose="00000500000000000000"/>
              </a:rPr>
              <a:t>User-friendly platform</a:t>
            </a:r>
            <a:endParaRPr lang="en-US" sz="4410">
              <a:solidFill>
                <a:srgbClr val="FFFFFF"/>
              </a:solidFill>
              <a:latin typeface="Roca One" panose="00000500000000000000"/>
              <a:ea typeface="Roca One" panose="00000500000000000000"/>
              <a:cs typeface="Roca One" panose="00000500000000000000"/>
              <a:sym typeface="Roca One" panose="00000500000000000000"/>
            </a:endParaRPr>
          </a:p>
          <a:p>
            <a:pPr marL="951865" lvl="1" indent="-475615" algn="l">
              <a:lnSpc>
                <a:spcPts val="5290"/>
              </a:lnSpc>
              <a:buFont typeface="Arial" panose="020B0604020202020204"/>
              <a:buChar char="•"/>
            </a:pPr>
            <a:r>
              <a:rPr lang="en-US" sz="4410">
                <a:solidFill>
                  <a:srgbClr val="FFFFFF"/>
                </a:solidFill>
                <a:latin typeface="Roca One" panose="00000500000000000000"/>
                <a:ea typeface="Roca One" panose="00000500000000000000"/>
                <a:cs typeface="Roca One" panose="00000500000000000000"/>
                <a:sym typeface="Roca One" panose="00000500000000000000"/>
              </a:rPr>
              <a:t>Transparent process</a:t>
            </a:r>
            <a:endParaRPr lang="en-US" sz="4410">
              <a:solidFill>
                <a:srgbClr val="FFFFFF"/>
              </a:solidFill>
              <a:latin typeface="Roca One" panose="00000500000000000000"/>
              <a:ea typeface="Roca One" panose="00000500000000000000"/>
              <a:cs typeface="Roca One" panose="00000500000000000000"/>
              <a:sym typeface="Roca One" panose="00000500000000000000"/>
            </a:endParaRPr>
          </a:p>
          <a:p>
            <a:pPr marL="951865" lvl="1" indent="-475615" algn="l">
              <a:lnSpc>
                <a:spcPts val="5290"/>
              </a:lnSpc>
              <a:buFont typeface="Arial" panose="020B0604020202020204"/>
              <a:buChar char="•"/>
            </a:pPr>
            <a:r>
              <a:rPr lang="en-US" sz="4410">
                <a:solidFill>
                  <a:srgbClr val="FFFFFF"/>
                </a:solidFill>
                <a:latin typeface="Roca One" panose="00000500000000000000"/>
                <a:ea typeface="Roca One" panose="00000500000000000000"/>
                <a:cs typeface="Roca One" panose="00000500000000000000"/>
                <a:sym typeface="Roca One" panose="00000500000000000000"/>
              </a:rPr>
              <a:t>User testing before deployment</a:t>
            </a:r>
            <a:endParaRPr lang="en-US" sz="4410">
              <a:solidFill>
                <a:srgbClr val="FFFFFF"/>
              </a:solidFill>
              <a:latin typeface="Roca One" panose="00000500000000000000"/>
              <a:ea typeface="Roca One" panose="00000500000000000000"/>
              <a:cs typeface="Roca One" panose="00000500000000000000"/>
              <a:sym typeface="Roca One" panose="00000500000000000000"/>
            </a:endParaRPr>
          </a:p>
          <a:p>
            <a:pPr marL="951865" lvl="1" indent="-475615" algn="l">
              <a:lnSpc>
                <a:spcPts val="5290"/>
              </a:lnSpc>
              <a:buFont typeface="Arial" panose="020B0604020202020204"/>
              <a:buChar char="•"/>
            </a:pPr>
            <a:r>
              <a:rPr lang="en-US" sz="4410">
                <a:solidFill>
                  <a:srgbClr val="FFFFFF"/>
                </a:solidFill>
                <a:latin typeface="Roca One" panose="00000500000000000000"/>
                <a:ea typeface="Roca One" panose="00000500000000000000"/>
                <a:cs typeface="Roca One" panose="00000500000000000000"/>
                <a:sym typeface="Roca One" panose="00000500000000000000"/>
              </a:rPr>
              <a:t>Customer is always right</a:t>
            </a:r>
            <a:endParaRPr lang="en-US" sz="4410">
              <a:solidFill>
                <a:srgbClr val="FFFFFF"/>
              </a:solidFill>
              <a:latin typeface="Roca One" panose="00000500000000000000"/>
              <a:ea typeface="Roca One" panose="00000500000000000000"/>
              <a:cs typeface="Roca One" panose="00000500000000000000"/>
              <a:sym typeface="Roca One" panose="00000500000000000000"/>
            </a:endParaRPr>
          </a:p>
        </p:txBody>
      </p:sp>
      <p:sp>
        <p:nvSpPr>
          <p:cNvPr id="5" name="TextBox 5"/>
          <p:cNvSpPr txBox="1"/>
          <p:nvPr/>
        </p:nvSpPr>
        <p:spPr>
          <a:xfrm>
            <a:off x="729306" y="981075"/>
            <a:ext cx="6585159" cy="1219200"/>
          </a:xfrm>
          <a:prstGeom prst="rect">
            <a:avLst/>
          </a:prstGeom>
        </p:spPr>
        <p:txBody>
          <a:bodyPr lIns="0" tIns="0" rIns="0" bIns="0" rtlCol="0" anchor="t">
            <a:spAutoFit/>
          </a:bodyPr>
          <a:lstStyle/>
          <a:p>
            <a:pPr algn="ctr">
              <a:lnSpc>
                <a:spcPts val="8080"/>
              </a:lnSpc>
              <a:spcBef>
                <a:spcPct val="0"/>
              </a:spcBef>
            </a:pPr>
            <a:r>
              <a:rPr lang="en-US" sz="6735" u="sng">
                <a:solidFill>
                  <a:srgbClr val="FFFFFF"/>
                </a:solidFill>
                <a:latin typeface="Hertical Rough"/>
                <a:ea typeface="Hertical Rough"/>
                <a:cs typeface="Hertical Rough"/>
                <a:sym typeface="Hertical Rough"/>
              </a:rPr>
              <a:t>SAY</a:t>
            </a:r>
            <a:endParaRPr lang="en-US" sz="6735" u="sng">
              <a:solidFill>
                <a:srgbClr val="FFFFFF"/>
              </a:solidFill>
              <a:latin typeface="Hertical Rough"/>
              <a:ea typeface="Hertical Rough"/>
              <a:cs typeface="Hertical Rough"/>
              <a:sym typeface="Hertical Rough"/>
            </a:endParaRPr>
          </a:p>
        </p:txBody>
      </p:sp>
      <p:sp>
        <p:nvSpPr>
          <p:cNvPr id="6" name="TextBox 6"/>
          <p:cNvSpPr txBox="1"/>
          <p:nvPr/>
        </p:nvSpPr>
        <p:spPr>
          <a:xfrm>
            <a:off x="8989823" y="981075"/>
            <a:ext cx="6585159" cy="1035685"/>
          </a:xfrm>
          <a:prstGeom prst="rect">
            <a:avLst/>
          </a:prstGeom>
        </p:spPr>
        <p:txBody>
          <a:bodyPr lIns="0" tIns="0" rIns="0" bIns="0" rtlCol="0" anchor="t">
            <a:spAutoFit/>
          </a:bodyPr>
          <a:lstStyle/>
          <a:p>
            <a:pPr algn="ctr">
              <a:lnSpc>
                <a:spcPts val="8080"/>
              </a:lnSpc>
              <a:spcBef>
                <a:spcPct val="0"/>
              </a:spcBef>
            </a:pPr>
            <a:r>
              <a:rPr lang="en-US" sz="6735" u="sng">
                <a:solidFill>
                  <a:srgbClr val="FFFFFF"/>
                </a:solidFill>
                <a:latin typeface="Hertical Rough"/>
                <a:ea typeface="Hertical Rough"/>
                <a:cs typeface="Hertical Rough"/>
                <a:sym typeface="Hertical Rough"/>
              </a:rPr>
              <a:t>THINKS</a:t>
            </a:r>
            <a:endParaRPr lang="en-US" sz="6735" u="sng">
              <a:solidFill>
                <a:srgbClr val="FFFFFF"/>
              </a:solidFill>
              <a:latin typeface="Hertical Rough"/>
              <a:ea typeface="Hertical Rough"/>
              <a:cs typeface="Hertical Rough"/>
              <a:sym typeface="Hertical Rough"/>
            </a:endParaRPr>
          </a:p>
        </p:txBody>
      </p:sp>
      <p:sp>
        <p:nvSpPr>
          <p:cNvPr id="7" name="TextBox 7"/>
          <p:cNvSpPr txBox="1"/>
          <p:nvPr/>
        </p:nvSpPr>
        <p:spPr>
          <a:xfrm>
            <a:off x="8989823" y="2209800"/>
            <a:ext cx="7633774" cy="2657475"/>
          </a:xfrm>
          <a:prstGeom prst="rect">
            <a:avLst/>
          </a:prstGeom>
        </p:spPr>
        <p:txBody>
          <a:bodyPr lIns="0" tIns="0" rIns="0" bIns="0" rtlCol="0" anchor="t">
            <a:spAutoFit/>
          </a:bodyPr>
          <a:lstStyle/>
          <a:p>
            <a:pPr marL="951865" lvl="1" indent="-475615" algn="l">
              <a:lnSpc>
                <a:spcPts val="5290"/>
              </a:lnSpc>
              <a:buFont typeface="Arial" panose="020B0604020202020204"/>
              <a:buChar char="•"/>
            </a:pPr>
            <a:r>
              <a:rPr lang="en-US" sz="4410">
                <a:solidFill>
                  <a:srgbClr val="FFFFFF"/>
                </a:solidFill>
                <a:latin typeface="Roca One" panose="00000500000000000000"/>
                <a:ea typeface="Roca One" panose="00000500000000000000"/>
                <a:cs typeface="Roca One" panose="00000500000000000000"/>
                <a:sym typeface="Roca One" panose="00000500000000000000"/>
              </a:rPr>
              <a:t>Easy to use</a:t>
            </a:r>
            <a:endParaRPr lang="en-US" sz="4410">
              <a:solidFill>
                <a:srgbClr val="FFFFFF"/>
              </a:solidFill>
              <a:latin typeface="Roca One" panose="00000500000000000000"/>
              <a:ea typeface="Roca One" panose="00000500000000000000"/>
              <a:cs typeface="Roca One" panose="00000500000000000000"/>
              <a:sym typeface="Roca One" panose="00000500000000000000"/>
            </a:endParaRPr>
          </a:p>
          <a:p>
            <a:pPr marL="951865" lvl="1" indent="-475615" algn="l">
              <a:lnSpc>
                <a:spcPts val="5290"/>
              </a:lnSpc>
              <a:buFont typeface="Arial" panose="020B0604020202020204"/>
              <a:buChar char="•"/>
            </a:pPr>
            <a:r>
              <a:rPr lang="en-US" sz="4410">
                <a:solidFill>
                  <a:srgbClr val="FFFFFF"/>
                </a:solidFill>
                <a:latin typeface="Roca One" panose="00000500000000000000"/>
                <a:ea typeface="Roca One" panose="00000500000000000000"/>
                <a:cs typeface="Roca One" panose="00000500000000000000"/>
                <a:sym typeface="Roca One" panose="00000500000000000000"/>
              </a:rPr>
              <a:t>Fair and honest system</a:t>
            </a:r>
            <a:endParaRPr lang="en-US" sz="4410">
              <a:solidFill>
                <a:srgbClr val="FFFFFF"/>
              </a:solidFill>
              <a:latin typeface="Roca One" panose="00000500000000000000"/>
              <a:ea typeface="Roca One" panose="00000500000000000000"/>
              <a:cs typeface="Roca One" panose="00000500000000000000"/>
              <a:sym typeface="Roca One" panose="00000500000000000000"/>
            </a:endParaRPr>
          </a:p>
          <a:p>
            <a:pPr marL="951865" lvl="1" indent="-475615" algn="l">
              <a:lnSpc>
                <a:spcPts val="5290"/>
              </a:lnSpc>
              <a:buFont typeface="Arial" panose="020B0604020202020204"/>
              <a:buChar char="•"/>
            </a:pPr>
            <a:r>
              <a:rPr lang="en-US" sz="4410">
                <a:solidFill>
                  <a:srgbClr val="FFFFFF"/>
                </a:solidFill>
                <a:latin typeface="Roca One" panose="00000500000000000000"/>
                <a:ea typeface="Roca One" panose="00000500000000000000"/>
                <a:cs typeface="Roca One" panose="00000500000000000000"/>
                <a:sym typeface="Roca One" panose="00000500000000000000"/>
              </a:rPr>
              <a:t>Well-tested platform</a:t>
            </a:r>
            <a:endParaRPr lang="en-US" sz="4410">
              <a:solidFill>
                <a:srgbClr val="FFFFFF"/>
              </a:solidFill>
              <a:latin typeface="Roca One" panose="00000500000000000000"/>
              <a:ea typeface="Roca One" panose="00000500000000000000"/>
              <a:cs typeface="Roca One" panose="00000500000000000000"/>
              <a:sym typeface="Roca One" panose="00000500000000000000"/>
            </a:endParaRPr>
          </a:p>
          <a:p>
            <a:pPr marL="951865" lvl="1" indent="-475615" algn="l">
              <a:lnSpc>
                <a:spcPts val="5290"/>
              </a:lnSpc>
              <a:buFont typeface="Arial" panose="020B0604020202020204"/>
              <a:buChar char="•"/>
            </a:pPr>
            <a:r>
              <a:rPr lang="en-US" sz="4410">
                <a:solidFill>
                  <a:srgbClr val="FFFFFF"/>
                </a:solidFill>
                <a:latin typeface="Roca One" panose="00000500000000000000"/>
                <a:ea typeface="Roca One" panose="00000500000000000000"/>
                <a:cs typeface="Roca One" panose="00000500000000000000"/>
                <a:sym typeface="Roca One" panose="00000500000000000000"/>
              </a:rPr>
              <a:t> User needs matter</a:t>
            </a:r>
            <a:endParaRPr lang="en-US" sz="4410">
              <a:solidFill>
                <a:srgbClr val="FFFFFF"/>
              </a:solidFill>
              <a:latin typeface="Roca One" panose="00000500000000000000"/>
              <a:ea typeface="Roca One" panose="00000500000000000000"/>
              <a:cs typeface="Roca One" panose="00000500000000000000"/>
              <a:sym typeface="Roca One" panose="00000500000000000000"/>
            </a:endParaRPr>
          </a:p>
        </p:txBody>
      </p:sp>
      <p:sp>
        <p:nvSpPr>
          <p:cNvPr id="8" name="TextBox 8"/>
          <p:cNvSpPr txBox="1"/>
          <p:nvPr/>
        </p:nvSpPr>
        <p:spPr>
          <a:xfrm>
            <a:off x="1355414" y="6819889"/>
            <a:ext cx="7633774" cy="3324225"/>
          </a:xfrm>
          <a:prstGeom prst="rect">
            <a:avLst/>
          </a:prstGeom>
        </p:spPr>
        <p:txBody>
          <a:bodyPr lIns="0" tIns="0" rIns="0" bIns="0" rtlCol="0" anchor="t">
            <a:spAutoFit/>
          </a:bodyPr>
          <a:lstStyle/>
          <a:p>
            <a:pPr marL="951865" lvl="1" indent="-475615" algn="just">
              <a:lnSpc>
                <a:spcPts val="5290"/>
              </a:lnSpc>
              <a:buFont typeface="Arial" panose="020B0604020202020204"/>
              <a:buChar char="•"/>
            </a:pPr>
            <a:r>
              <a:rPr lang="en-US" sz="4410">
                <a:solidFill>
                  <a:srgbClr val="FFFFFF"/>
                </a:solidFill>
                <a:latin typeface="Roca One" panose="00000500000000000000"/>
                <a:ea typeface="Roca One" panose="00000500000000000000"/>
                <a:cs typeface="Roca One" panose="00000500000000000000"/>
                <a:sym typeface="Roca One" panose="00000500000000000000"/>
              </a:rPr>
              <a:t>Uses platform features</a:t>
            </a:r>
            <a:endParaRPr lang="en-US" sz="4410">
              <a:solidFill>
                <a:srgbClr val="FFFFFF"/>
              </a:solidFill>
              <a:latin typeface="Roca One" panose="00000500000000000000"/>
              <a:ea typeface="Roca One" panose="00000500000000000000"/>
              <a:cs typeface="Roca One" panose="00000500000000000000"/>
              <a:sym typeface="Roca One" panose="00000500000000000000"/>
            </a:endParaRPr>
          </a:p>
          <a:p>
            <a:pPr marL="951865" lvl="1" indent="-475615" algn="just">
              <a:lnSpc>
                <a:spcPts val="5290"/>
              </a:lnSpc>
              <a:buFont typeface="Arial" panose="020B0604020202020204"/>
              <a:buChar char="•"/>
            </a:pPr>
            <a:r>
              <a:rPr lang="en-US" sz="4410">
                <a:solidFill>
                  <a:srgbClr val="FFFFFF"/>
                </a:solidFill>
                <a:latin typeface="Roca One" panose="00000500000000000000"/>
                <a:ea typeface="Roca One" panose="00000500000000000000"/>
                <a:cs typeface="Roca One" panose="00000500000000000000"/>
                <a:sym typeface="Roca One" panose="00000500000000000000"/>
              </a:rPr>
              <a:t>Tracks donation status</a:t>
            </a:r>
            <a:endParaRPr lang="en-US" sz="4410">
              <a:solidFill>
                <a:srgbClr val="FFFFFF"/>
              </a:solidFill>
              <a:latin typeface="Roca One" panose="00000500000000000000"/>
              <a:ea typeface="Roca One" panose="00000500000000000000"/>
              <a:cs typeface="Roca One" panose="00000500000000000000"/>
              <a:sym typeface="Roca One" panose="00000500000000000000"/>
            </a:endParaRPr>
          </a:p>
          <a:p>
            <a:pPr marL="951865" lvl="1" indent="-475615" algn="just">
              <a:lnSpc>
                <a:spcPts val="5290"/>
              </a:lnSpc>
              <a:buFont typeface="Arial" panose="020B0604020202020204"/>
              <a:buChar char="•"/>
            </a:pPr>
            <a:r>
              <a:rPr lang="en-US" sz="4410">
                <a:solidFill>
                  <a:srgbClr val="FFFFFF"/>
                </a:solidFill>
                <a:latin typeface="Roca One" panose="00000500000000000000"/>
                <a:ea typeface="Roca One" panose="00000500000000000000"/>
                <a:cs typeface="Roca One" panose="00000500000000000000"/>
                <a:sym typeface="Roca One" panose="00000500000000000000"/>
              </a:rPr>
              <a:t>Participates in testing</a:t>
            </a:r>
            <a:endParaRPr lang="en-US" sz="4410">
              <a:solidFill>
                <a:srgbClr val="FFFFFF"/>
              </a:solidFill>
              <a:latin typeface="Roca One" panose="00000500000000000000"/>
              <a:ea typeface="Roca One" panose="00000500000000000000"/>
              <a:cs typeface="Roca One" panose="00000500000000000000"/>
              <a:sym typeface="Roca One" panose="00000500000000000000"/>
            </a:endParaRPr>
          </a:p>
          <a:p>
            <a:pPr marL="951865" lvl="1" indent="-475615" algn="just">
              <a:lnSpc>
                <a:spcPts val="5290"/>
              </a:lnSpc>
              <a:buFont typeface="Arial" panose="020B0604020202020204"/>
              <a:buChar char="•"/>
            </a:pPr>
            <a:r>
              <a:rPr lang="en-US" sz="4410">
                <a:solidFill>
                  <a:srgbClr val="FFFFFF"/>
                </a:solidFill>
                <a:latin typeface="Roca One" panose="00000500000000000000"/>
                <a:ea typeface="Roca One" panose="00000500000000000000"/>
                <a:cs typeface="Roca One" panose="00000500000000000000"/>
                <a:sym typeface="Roca One" panose="00000500000000000000"/>
              </a:rPr>
              <a:t>Provides feedback</a:t>
            </a:r>
            <a:endParaRPr lang="en-US" sz="4410">
              <a:solidFill>
                <a:srgbClr val="FFFFFF"/>
              </a:solidFill>
              <a:latin typeface="Roca One" panose="00000500000000000000"/>
              <a:ea typeface="Roca One" panose="00000500000000000000"/>
              <a:cs typeface="Roca One" panose="00000500000000000000"/>
              <a:sym typeface="Roca One" panose="00000500000000000000"/>
            </a:endParaRPr>
          </a:p>
          <a:p>
            <a:pPr algn="just">
              <a:lnSpc>
                <a:spcPts val="5290"/>
              </a:lnSpc>
              <a:spcBef>
                <a:spcPct val="0"/>
              </a:spcBef>
            </a:pPr>
          </a:p>
        </p:txBody>
      </p:sp>
      <p:sp>
        <p:nvSpPr>
          <p:cNvPr id="9" name="TextBox 9"/>
          <p:cNvSpPr txBox="1"/>
          <p:nvPr/>
        </p:nvSpPr>
        <p:spPr>
          <a:xfrm>
            <a:off x="990291" y="5829300"/>
            <a:ext cx="6585159" cy="1035685"/>
          </a:xfrm>
          <a:prstGeom prst="rect">
            <a:avLst/>
          </a:prstGeom>
        </p:spPr>
        <p:txBody>
          <a:bodyPr lIns="0" tIns="0" rIns="0" bIns="0" rtlCol="0" anchor="t">
            <a:spAutoFit/>
          </a:bodyPr>
          <a:lstStyle/>
          <a:p>
            <a:pPr algn="ctr">
              <a:lnSpc>
                <a:spcPts val="8080"/>
              </a:lnSpc>
              <a:spcBef>
                <a:spcPct val="0"/>
              </a:spcBef>
            </a:pPr>
            <a:r>
              <a:rPr lang="en-US" sz="6735" u="sng">
                <a:solidFill>
                  <a:srgbClr val="FFFFFF"/>
                </a:solidFill>
                <a:latin typeface="Hertical Rough"/>
                <a:ea typeface="Hertical Rough"/>
                <a:cs typeface="Hertical Rough"/>
                <a:sym typeface="Hertical Rough"/>
              </a:rPr>
              <a:t>DO</a:t>
            </a:r>
            <a:endParaRPr lang="en-US" sz="6735" u="sng">
              <a:solidFill>
                <a:srgbClr val="FFFFFF"/>
              </a:solidFill>
              <a:latin typeface="Hertical Rough"/>
              <a:ea typeface="Hertical Rough"/>
              <a:cs typeface="Hertical Rough"/>
              <a:sym typeface="Hertical Rough"/>
            </a:endParaRPr>
          </a:p>
        </p:txBody>
      </p:sp>
      <p:sp>
        <p:nvSpPr>
          <p:cNvPr id="10" name="TextBox 10"/>
          <p:cNvSpPr txBox="1"/>
          <p:nvPr/>
        </p:nvSpPr>
        <p:spPr>
          <a:xfrm>
            <a:off x="8989823" y="4717732"/>
            <a:ext cx="6585159" cy="1035685"/>
          </a:xfrm>
          <a:prstGeom prst="rect">
            <a:avLst/>
          </a:prstGeom>
        </p:spPr>
        <p:txBody>
          <a:bodyPr lIns="0" tIns="0" rIns="0" bIns="0" rtlCol="0" anchor="t">
            <a:spAutoFit/>
          </a:bodyPr>
          <a:lstStyle/>
          <a:p>
            <a:pPr algn="ctr">
              <a:lnSpc>
                <a:spcPts val="8080"/>
              </a:lnSpc>
              <a:spcBef>
                <a:spcPct val="0"/>
              </a:spcBef>
            </a:pPr>
            <a:r>
              <a:rPr lang="en-US" sz="6735" u="sng">
                <a:solidFill>
                  <a:srgbClr val="FFFFFF"/>
                </a:solidFill>
                <a:latin typeface="Hertical Rough"/>
                <a:ea typeface="Hertical Rough"/>
                <a:cs typeface="Hertical Rough"/>
                <a:sym typeface="Hertical Rough"/>
              </a:rPr>
              <a:t>FEELS</a:t>
            </a:r>
            <a:endParaRPr lang="en-US" sz="6735" u="sng">
              <a:solidFill>
                <a:srgbClr val="FFFFFF"/>
              </a:solidFill>
              <a:latin typeface="Hertical Rough"/>
              <a:ea typeface="Hertical Rough"/>
              <a:cs typeface="Hertical Rough"/>
              <a:sym typeface="Hertical Rough"/>
            </a:endParaRPr>
          </a:p>
        </p:txBody>
      </p:sp>
      <p:sp>
        <p:nvSpPr>
          <p:cNvPr id="11" name="TextBox 11"/>
          <p:cNvSpPr txBox="1"/>
          <p:nvPr/>
        </p:nvSpPr>
        <p:spPr>
          <a:xfrm>
            <a:off x="9144000" y="5752783"/>
            <a:ext cx="7633774" cy="3990975"/>
          </a:xfrm>
          <a:prstGeom prst="rect">
            <a:avLst/>
          </a:prstGeom>
        </p:spPr>
        <p:txBody>
          <a:bodyPr lIns="0" tIns="0" rIns="0" bIns="0" rtlCol="0" anchor="t">
            <a:spAutoFit/>
          </a:bodyPr>
          <a:lstStyle/>
          <a:p>
            <a:pPr marL="951865" lvl="1" indent="-475615" algn="just">
              <a:lnSpc>
                <a:spcPts val="5290"/>
              </a:lnSpc>
              <a:buFont typeface="Arial" panose="020B0604020202020204"/>
              <a:buChar char="•"/>
            </a:pPr>
            <a:r>
              <a:rPr lang="en-US" sz="4410">
                <a:solidFill>
                  <a:srgbClr val="FFFFFF"/>
                </a:solidFill>
                <a:latin typeface="Roca One" panose="00000500000000000000"/>
                <a:ea typeface="Roca One" panose="00000500000000000000"/>
                <a:cs typeface="Roca One" panose="00000500000000000000"/>
                <a:sym typeface="Roca One" panose="00000500000000000000"/>
              </a:rPr>
              <a:t>Comfortable using the system</a:t>
            </a:r>
            <a:endParaRPr lang="en-US" sz="4410">
              <a:solidFill>
                <a:srgbClr val="FFFFFF"/>
              </a:solidFill>
              <a:latin typeface="Roca One" panose="00000500000000000000"/>
              <a:ea typeface="Roca One" panose="00000500000000000000"/>
              <a:cs typeface="Roca One" panose="00000500000000000000"/>
              <a:sym typeface="Roca One" panose="00000500000000000000"/>
            </a:endParaRPr>
          </a:p>
          <a:p>
            <a:pPr marL="951865" lvl="1" indent="-475615" algn="just">
              <a:lnSpc>
                <a:spcPts val="5290"/>
              </a:lnSpc>
              <a:buFont typeface="Arial" panose="020B0604020202020204"/>
              <a:buChar char="•"/>
            </a:pPr>
            <a:r>
              <a:rPr lang="en-US" sz="4410">
                <a:solidFill>
                  <a:srgbClr val="FFFFFF"/>
                </a:solidFill>
                <a:latin typeface="Roca One" panose="00000500000000000000"/>
                <a:ea typeface="Roca One" panose="00000500000000000000"/>
                <a:cs typeface="Roca One" panose="00000500000000000000"/>
                <a:sym typeface="Roca One" panose="00000500000000000000"/>
              </a:rPr>
              <a:t>Trusts the process</a:t>
            </a:r>
            <a:endParaRPr lang="en-US" sz="4410">
              <a:solidFill>
                <a:srgbClr val="FFFFFF"/>
              </a:solidFill>
              <a:latin typeface="Roca One" panose="00000500000000000000"/>
              <a:ea typeface="Roca One" panose="00000500000000000000"/>
              <a:cs typeface="Roca One" panose="00000500000000000000"/>
              <a:sym typeface="Roca One" panose="00000500000000000000"/>
            </a:endParaRPr>
          </a:p>
          <a:p>
            <a:pPr marL="951865" lvl="1" indent="-475615" algn="just">
              <a:lnSpc>
                <a:spcPts val="5290"/>
              </a:lnSpc>
              <a:buFont typeface="Arial" panose="020B0604020202020204"/>
              <a:buChar char="•"/>
            </a:pPr>
            <a:r>
              <a:rPr lang="en-US" sz="4410">
                <a:solidFill>
                  <a:srgbClr val="FFFFFF"/>
                </a:solidFill>
                <a:latin typeface="Roca One" panose="00000500000000000000"/>
                <a:ea typeface="Roca One" panose="00000500000000000000"/>
                <a:cs typeface="Roca One" panose="00000500000000000000"/>
                <a:sym typeface="Roca One" panose="00000500000000000000"/>
              </a:rPr>
              <a:t>Conf</a:t>
            </a:r>
            <a:r>
              <a:rPr lang="en-US" sz="4410">
                <a:solidFill>
                  <a:srgbClr val="FFFFFF"/>
                </a:solidFill>
                <a:latin typeface="Roca One" panose="00000500000000000000"/>
                <a:ea typeface="Roca One" panose="00000500000000000000"/>
                <a:cs typeface="Roca One" panose="00000500000000000000"/>
                <a:sym typeface="Roca One" panose="00000500000000000000"/>
              </a:rPr>
              <a:t>ident in the platform</a:t>
            </a:r>
            <a:endParaRPr lang="en-US" sz="4410">
              <a:solidFill>
                <a:srgbClr val="FFFFFF"/>
              </a:solidFill>
              <a:latin typeface="Roca One" panose="00000500000000000000"/>
              <a:ea typeface="Roca One" panose="00000500000000000000"/>
              <a:cs typeface="Roca One" panose="00000500000000000000"/>
              <a:sym typeface="Roca One" panose="00000500000000000000"/>
            </a:endParaRPr>
          </a:p>
          <a:p>
            <a:pPr marL="951865" lvl="1" indent="-475615" algn="just">
              <a:lnSpc>
                <a:spcPts val="5290"/>
              </a:lnSpc>
              <a:buFont typeface="Arial" panose="020B0604020202020204"/>
              <a:buChar char="•"/>
            </a:pPr>
            <a:r>
              <a:rPr lang="en-US" sz="4410">
                <a:solidFill>
                  <a:srgbClr val="FFFFFF"/>
                </a:solidFill>
                <a:latin typeface="Roca One" panose="00000500000000000000"/>
                <a:ea typeface="Roca One" panose="00000500000000000000"/>
                <a:cs typeface="Roca One" panose="00000500000000000000"/>
                <a:sym typeface="Roca One" panose="00000500000000000000"/>
              </a:rPr>
              <a:t>Value</a:t>
            </a:r>
            <a:r>
              <a:rPr lang="en-US" sz="4410">
                <a:solidFill>
                  <a:srgbClr val="FFFFFF"/>
                </a:solidFill>
                <a:latin typeface="Roca One" panose="00000500000000000000"/>
                <a:ea typeface="Roca One" panose="00000500000000000000"/>
                <a:cs typeface="Roca One" panose="00000500000000000000"/>
                <a:sym typeface="Roca One" panose="00000500000000000000"/>
              </a:rPr>
              <a:t>d as a user</a:t>
            </a:r>
            <a:endParaRPr lang="en-US" sz="4410">
              <a:solidFill>
                <a:srgbClr val="FFFFFF"/>
              </a:solidFill>
              <a:latin typeface="Roca One" panose="00000500000000000000"/>
              <a:ea typeface="Roca One" panose="00000500000000000000"/>
              <a:cs typeface="Roca One" panose="00000500000000000000"/>
              <a:sym typeface="Roca One" panose="00000500000000000000"/>
            </a:endParaRPr>
          </a:p>
          <a:p>
            <a:pPr algn="just">
              <a:lnSpc>
                <a:spcPts val="5290"/>
              </a:lnSpc>
              <a:spcBef>
                <a:spcPct val="0"/>
              </a:spcBef>
            </a:pPr>
          </a:p>
        </p:txBody>
      </p:sp>
      <p:sp>
        <p:nvSpPr>
          <p:cNvPr id="12" name="TextBox 8"/>
          <p:cNvSpPr txBox="1"/>
          <p:nvPr/>
        </p:nvSpPr>
        <p:spPr>
          <a:xfrm>
            <a:off x="11125200" y="-114300"/>
            <a:ext cx="7981950" cy="1200785"/>
          </a:xfrm>
          <a:prstGeom prst="rect">
            <a:avLst/>
          </a:prstGeom>
        </p:spPr>
        <p:txBody>
          <a:bodyPr wrap="square" lIns="0" tIns="0" rIns="0" bIns="0" rtlCol="0" anchor="t">
            <a:spAutoFit/>
          </a:bodyPr>
          <a:lstStyle/>
          <a:p>
            <a:pPr algn="ctr">
              <a:lnSpc>
                <a:spcPts val="9365"/>
              </a:lnSpc>
            </a:pPr>
            <a:r>
              <a:rPr lang="en-US" sz="3200" b="1">
                <a:solidFill>
                  <a:srgbClr val="FFFFFF"/>
                </a:solidFill>
                <a:latin typeface="Arial Bold" panose="020B0704020202020204"/>
                <a:ea typeface="Arial Bold" panose="020B0704020202020204"/>
                <a:cs typeface="Arial Bold" panose="020B0704020202020204"/>
                <a:sym typeface="Arial Bold" panose="020B0704020202020204"/>
              </a:rPr>
              <a:t>Leah</a:t>
            </a:r>
            <a:endParaRPr lang="en-US" sz="320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2"/>
          <p:cNvSpPr txBox="1"/>
          <p:nvPr/>
        </p:nvSpPr>
        <p:spPr>
          <a:xfrm>
            <a:off x="1188720" y="2705100"/>
            <a:ext cx="15910560" cy="5426710"/>
          </a:xfrm>
          <a:prstGeom prst="rect">
            <a:avLst/>
          </a:prstGeom>
        </p:spPr>
        <p:txBody>
          <a:bodyPr wrap="square" lIns="0" tIns="0" rIns="0" bIns="0" rtlCol="0" anchor="t">
            <a:spAutoFit/>
          </a:bodyPr>
          <a:lstStyle/>
          <a:p>
            <a:pPr algn="ctr">
              <a:lnSpc>
                <a:spcPts val="5290"/>
              </a:lnSpc>
              <a:spcBef>
                <a:spcPct val="0"/>
              </a:spcBef>
            </a:pPr>
            <a:r>
              <a:rPr lang="en-US" altLang="en-US" sz="4410">
                <a:solidFill>
                  <a:srgbClr val="FFFFFF"/>
                </a:solidFill>
                <a:latin typeface="Roca One" panose="00000500000000000000"/>
                <a:ea typeface="Roca One" panose="00000500000000000000"/>
                <a:cs typeface="Roca One" panose="00000500000000000000"/>
                <a:sym typeface="Roca One" panose="00000500000000000000"/>
              </a:rPr>
              <a:t>The responses consistently indicate that the proposed system addresses existing inefficiencies by improving accessibility, simplifying tasks, and providing a more organized workflow. they also emphasized the importance of user-friendly design, security, and system reliability, suggesting that the application has the potential to improve operational efficiency while remaining easy to maintain.  </a:t>
            </a:r>
            <a:endParaRPr lang="en-US" altLang="en-US" sz="4410">
              <a:solidFill>
                <a:srgbClr val="FFFFFF"/>
              </a:solidFill>
              <a:latin typeface="Roca One" panose="00000500000000000000"/>
              <a:ea typeface="Roca One" panose="00000500000000000000"/>
              <a:cs typeface="Roca One" panose="00000500000000000000"/>
              <a:sym typeface="Roca One" panose="00000500000000000000"/>
            </a:endParaRPr>
          </a:p>
        </p:txBody>
      </p:sp>
      <p:sp>
        <p:nvSpPr>
          <p:cNvPr id="3" name="Text Box 2"/>
          <p:cNvSpPr txBox="1"/>
          <p:nvPr/>
        </p:nvSpPr>
        <p:spPr>
          <a:xfrm>
            <a:off x="5631815" y="571500"/>
            <a:ext cx="7024370" cy="1315720"/>
          </a:xfrm>
          <a:prstGeom prst="rect">
            <a:avLst/>
          </a:prstGeom>
        </p:spPr>
        <p:txBody>
          <a:bodyPr wrap="square">
            <a:noAutofit/>
            <a:extLst>
              <a:ext uri="{4A0BC546-FE56-4ADE-93B0-CB8AF2F6F144}">
                <wpsdc:textFrameExt xmlns:wpsdc="http://www.wps.cn/officeDocument/2022/drawingmlCustomData" type="text"/>
              </a:ext>
            </a:extLst>
          </a:bodyPr>
          <a:p>
            <a:pPr algn="l"/>
            <a:r>
              <a:rPr lang="en-US" sz="9600">
                <a:solidFill>
                  <a:srgbClr val="FFFFFF"/>
                </a:solidFill>
                <a:latin typeface="Roca One" panose="00000500000000000000"/>
                <a:ea typeface="Roca One" panose="00000500000000000000"/>
                <a:cs typeface="Roca One" panose="00000500000000000000"/>
                <a:sym typeface="Roca One" panose="00000500000000000000"/>
              </a:rPr>
              <a:t>Analysis</a:t>
            </a:r>
            <a:endParaRPr lang="en-US" sz="9600">
              <a:solidFill>
                <a:srgbClr val="FFFFFF"/>
              </a:solidFill>
              <a:latin typeface="Roca One" panose="00000500000000000000"/>
              <a:ea typeface="Roca One" panose="00000500000000000000"/>
              <a:cs typeface="Roca One" panose="00000500000000000000"/>
              <a:sym typeface="Roca One" panose="00000500000000000000"/>
            </a:endParaRPr>
          </a:p>
        </p:txBody>
      </p:sp>
      <p:sp>
        <p:nvSpPr>
          <p:cNvPr id="8" name="TextBox 8"/>
          <p:cNvSpPr txBox="1"/>
          <p:nvPr/>
        </p:nvSpPr>
        <p:spPr>
          <a:xfrm>
            <a:off x="10210800" y="876300"/>
            <a:ext cx="7981950" cy="1200785"/>
          </a:xfrm>
          <a:prstGeom prst="rect">
            <a:avLst/>
          </a:prstGeom>
        </p:spPr>
        <p:txBody>
          <a:bodyPr wrap="square" lIns="0" tIns="0" rIns="0" bIns="0" rtlCol="0" anchor="t">
            <a:spAutoFit/>
          </a:bodyPr>
          <a:lstStyle/>
          <a:p>
            <a:pPr algn="ctr">
              <a:lnSpc>
                <a:spcPts val="9365"/>
              </a:lnSpc>
            </a:pPr>
            <a:r>
              <a:rPr lang="en-US" sz="3200" b="1">
                <a:solidFill>
                  <a:srgbClr val="FFFFFF"/>
                </a:solidFill>
                <a:latin typeface="Arial Bold" panose="020B0704020202020204"/>
                <a:ea typeface="Arial Bold" panose="020B0704020202020204"/>
                <a:cs typeface="Arial Bold" panose="020B0704020202020204"/>
                <a:sym typeface="Arial Bold" panose="020B0704020202020204"/>
              </a:rPr>
              <a:t>Christoper</a:t>
            </a:r>
            <a:endParaRPr lang="en-US" sz="320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2"/>
          <p:cNvSpPr txBox="1"/>
          <p:nvPr/>
        </p:nvSpPr>
        <p:spPr>
          <a:xfrm>
            <a:off x="1188720" y="1409700"/>
            <a:ext cx="15910560" cy="8140700"/>
          </a:xfrm>
          <a:prstGeom prst="rect">
            <a:avLst/>
          </a:prstGeom>
        </p:spPr>
        <p:txBody>
          <a:bodyPr wrap="square" lIns="0" tIns="0" rIns="0" bIns="0" rtlCol="0" anchor="t">
            <a:spAutoFit/>
          </a:bodyPr>
          <a:lstStyle/>
          <a:p>
            <a:pPr algn="ctr">
              <a:lnSpc>
                <a:spcPts val="5290"/>
              </a:lnSpc>
              <a:spcBef>
                <a:spcPct val="0"/>
              </a:spcBef>
            </a:pPr>
          </a:p>
          <a:p>
            <a:pPr algn="ctr">
              <a:lnSpc>
                <a:spcPts val="5290"/>
              </a:lnSpc>
              <a:spcBef>
                <a:spcPct val="0"/>
              </a:spcBef>
            </a:pPr>
            <a:r>
              <a:rPr lang="en-US" sz="4410">
                <a:solidFill>
                  <a:srgbClr val="FFFFFF"/>
                </a:solidFill>
                <a:latin typeface="Roca One" panose="00000500000000000000"/>
                <a:ea typeface="Roca One" panose="00000500000000000000"/>
                <a:cs typeface="Roca One" panose="00000500000000000000"/>
                <a:sym typeface="Roca One" panose="00000500000000000000"/>
              </a:rPr>
              <a:t>The interview results shows that the proposed system is effective in meeting the needs of its intended users. Feedback from the IT Specialist, Main Client, and End User indicates that the system is practical, easy to use, and capable of improving the efficiency of existing processes. Although there improvements may still be made based on user feedback, the overall evaluation shows that the system is feasible for implementation. Therefore the proposed system successfully addresses the identified problems and has the potential to provide a reliable, efficient, and user-friendly solution.</a:t>
            </a:r>
            <a:endParaRPr lang="en-US" sz="4410">
              <a:solidFill>
                <a:srgbClr val="FFFFFF"/>
              </a:solidFill>
              <a:latin typeface="Roca One" panose="00000500000000000000"/>
              <a:ea typeface="Roca One" panose="00000500000000000000"/>
              <a:cs typeface="Roca One" panose="00000500000000000000"/>
              <a:sym typeface="Roca One" panose="00000500000000000000"/>
            </a:endParaRPr>
          </a:p>
        </p:txBody>
      </p:sp>
      <p:sp>
        <p:nvSpPr>
          <p:cNvPr id="3" name="Text Box 2"/>
          <p:cNvSpPr txBox="1"/>
          <p:nvPr/>
        </p:nvSpPr>
        <p:spPr>
          <a:xfrm>
            <a:off x="5631815" y="571500"/>
            <a:ext cx="7024370" cy="1315720"/>
          </a:xfrm>
          <a:prstGeom prst="rect">
            <a:avLst/>
          </a:prstGeom>
        </p:spPr>
        <p:txBody>
          <a:bodyPr wrap="square">
            <a:noAutofit/>
            <a:extLst>
              <a:ext uri="{4A0BC546-FE56-4ADE-93B0-CB8AF2F6F144}">
                <wpsdc:textFrameExt xmlns:wpsdc="http://www.wps.cn/officeDocument/2022/drawingmlCustomData" type="text"/>
              </a:ext>
            </a:extLst>
          </a:bodyPr>
          <a:p>
            <a:pPr algn="l"/>
            <a:r>
              <a:rPr lang="en-US" sz="9600">
                <a:solidFill>
                  <a:srgbClr val="FFFFFF"/>
                </a:solidFill>
                <a:latin typeface="Roca One" panose="00000500000000000000"/>
                <a:ea typeface="Roca One" panose="00000500000000000000"/>
                <a:cs typeface="Roca One" panose="00000500000000000000"/>
                <a:sym typeface="Roca One" panose="00000500000000000000"/>
              </a:rPr>
              <a:t>Conclusion</a:t>
            </a:r>
            <a:endParaRPr lang="en-US" sz="9600">
              <a:solidFill>
                <a:srgbClr val="FFFFFF"/>
              </a:solidFill>
              <a:latin typeface="Roca One" panose="00000500000000000000"/>
              <a:ea typeface="Roca One" panose="00000500000000000000"/>
              <a:cs typeface="Roca One" panose="00000500000000000000"/>
              <a:sym typeface="Roca One" panose="00000500000000000000"/>
            </a:endParaRPr>
          </a:p>
          <a:p>
            <a:pPr algn="l"/>
            <a:endParaRPr lang="en-US" sz="9600">
              <a:solidFill>
                <a:srgbClr val="FFFFFF"/>
              </a:solidFill>
              <a:latin typeface="Roca One" panose="00000500000000000000"/>
              <a:ea typeface="Roca One" panose="00000500000000000000"/>
              <a:cs typeface="Roca One" panose="00000500000000000000"/>
              <a:sym typeface="Roca One" panose="00000500000000000000"/>
            </a:endParaRPr>
          </a:p>
        </p:txBody>
      </p:sp>
      <p:sp>
        <p:nvSpPr>
          <p:cNvPr id="8" name="TextBox 8"/>
          <p:cNvSpPr txBox="1"/>
          <p:nvPr/>
        </p:nvSpPr>
        <p:spPr>
          <a:xfrm>
            <a:off x="10210800" y="876300"/>
            <a:ext cx="7981950" cy="1200785"/>
          </a:xfrm>
          <a:prstGeom prst="rect">
            <a:avLst/>
          </a:prstGeom>
        </p:spPr>
        <p:txBody>
          <a:bodyPr wrap="square" lIns="0" tIns="0" rIns="0" bIns="0" rtlCol="0" anchor="t">
            <a:spAutoFit/>
          </a:bodyPr>
          <a:lstStyle/>
          <a:p>
            <a:pPr algn="ctr">
              <a:lnSpc>
                <a:spcPts val="9365"/>
              </a:lnSpc>
            </a:pPr>
            <a:r>
              <a:rPr lang="en-US" sz="3200" b="1">
                <a:solidFill>
                  <a:srgbClr val="FFFFFF"/>
                </a:solidFill>
                <a:latin typeface="Arial Bold" panose="020B0704020202020204"/>
                <a:ea typeface="Arial Bold" panose="020B0704020202020204"/>
                <a:cs typeface="Arial Bold" panose="020B0704020202020204"/>
                <a:sym typeface="Arial Bold" panose="020B0704020202020204"/>
              </a:rPr>
              <a:t>Christoper</a:t>
            </a:r>
            <a:endParaRPr lang="en-US" sz="3200" b="1">
              <a:solidFill>
                <a:srgbClr val="FFFFFF"/>
              </a:solidFill>
              <a:latin typeface="Arial Bold" panose="020B0704020202020204"/>
              <a:ea typeface="Arial Bold" panose="020B0704020202020204"/>
              <a:cs typeface="Arial Bold" panose="020B0704020202020204"/>
              <a:sym typeface="Arial Bold" panose="020B0704020202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11595</Words>
  <Application>WPS Presentation</Application>
  <PresentationFormat>On-screen Show (4:3)</PresentationFormat>
  <Paragraphs>393</Paragraphs>
  <Slides>24</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24</vt:i4>
      </vt:variant>
    </vt:vector>
  </HeadingPairs>
  <TitlesOfParts>
    <vt:vector size="39" baseType="lpstr">
      <vt:lpstr>Arial</vt:lpstr>
      <vt:lpstr>SimSun</vt:lpstr>
      <vt:lpstr>Wingdings</vt:lpstr>
      <vt:lpstr>Calibri (MS) Bold</vt:lpstr>
      <vt:lpstr>Arial Bold</vt:lpstr>
      <vt:lpstr>Arial</vt:lpstr>
      <vt:lpstr>Public Sans Bold</vt:lpstr>
      <vt:lpstr>Public Sans</vt:lpstr>
      <vt:lpstr>Hertical Rough</vt:lpstr>
      <vt:lpstr>Segoe Print</vt:lpstr>
      <vt:lpstr>Microsoft YaHei</vt:lpstr>
      <vt:lpstr>Arial Unicode MS</vt:lpstr>
      <vt:lpstr>Calibri</vt:lpstr>
      <vt:lpstr>Roca One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paragraph text</dc:title>
  <dc:creator/>
  <cp:lastModifiedBy>Jehosue Biscarra</cp:lastModifiedBy>
  <cp:revision>17</cp:revision>
  <dcterms:created xsi:type="dcterms:W3CDTF">2006-08-16T00:00:00Z</dcterms:created>
  <dcterms:modified xsi:type="dcterms:W3CDTF">2026-07-25T09:45:43Z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4E91E2A116F04B94BAA7FEBD5D0A84DA_12</vt:lpwstr>
  </property>
</Properties>
</file>